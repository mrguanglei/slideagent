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32.png"/><Relationship Id="rId8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Relationship Id="rId8" Type="http://schemas.openxmlformats.org/officeDocument/2006/relationships/image" Target="../media/image39.png"/><Relationship Id="rId9" Type="http://schemas.openxmlformats.org/officeDocument/2006/relationships/image" Target="../media/image64.png"/><Relationship Id="rId10" Type="http://schemas.openxmlformats.org/officeDocument/2006/relationships/image" Target="../media/image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Relationship Id="rId9" Type="http://schemas.openxmlformats.org/officeDocument/2006/relationships/image" Target="../media/image30.png"/><Relationship Id="rId10" Type="http://schemas.openxmlformats.org/officeDocument/2006/relationships/image" Target="../media/image37.jpg"/><Relationship Id="rId11" Type="http://schemas.openxmlformats.org/officeDocument/2006/relationships/image" Target="../media/image41.png"/><Relationship Id="rId12" Type="http://schemas.openxmlformats.org/officeDocument/2006/relationships/image" Target="../media/image45.png"/><Relationship Id="rId13" Type="http://schemas.openxmlformats.org/officeDocument/2006/relationships/image" Target="../media/image48.png"/><Relationship Id="rId14" Type="http://schemas.openxmlformats.org/officeDocument/2006/relationships/image" Target="../media/image51.png"/><Relationship Id="rId15" Type="http://schemas.openxmlformats.org/officeDocument/2006/relationships/image" Target="../media/image57.png"/><Relationship Id="rId16" Type="http://schemas.openxmlformats.org/officeDocument/2006/relationships/image" Target="../media/image6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Relationship Id="rId9" Type="http://schemas.openxmlformats.org/officeDocument/2006/relationships/image" Target="../media/image67.png"/><Relationship Id="rId10" Type="http://schemas.openxmlformats.org/officeDocument/2006/relationships/image" Target="../media/image77.png"/><Relationship Id="rId11" Type="http://schemas.openxmlformats.org/officeDocument/2006/relationships/image" Target="../media/image7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47.png"/><Relationship Id="rId8" Type="http://schemas.openxmlformats.org/officeDocument/2006/relationships/image" Target="../media/image72.png"/><Relationship Id="rId9" Type="http://schemas.openxmlformats.org/officeDocument/2006/relationships/image" Target="../media/image7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4.png"/><Relationship Id="rId8" Type="http://schemas.openxmlformats.org/officeDocument/2006/relationships/image" Target="../media/image58.png"/><Relationship Id="rId9" Type="http://schemas.openxmlformats.org/officeDocument/2006/relationships/image" Target="../media/image47.png"/><Relationship Id="rId10" Type="http://schemas.openxmlformats.org/officeDocument/2006/relationships/image" Target="../media/image63.png"/><Relationship Id="rId11" Type="http://schemas.openxmlformats.org/officeDocument/2006/relationships/image" Target="../media/image69.png"/><Relationship Id="rId12" Type="http://schemas.openxmlformats.org/officeDocument/2006/relationships/image" Target="../media/image71.png"/><Relationship Id="rId13" Type="http://schemas.openxmlformats.org/officeDocument/2006/relationships/image" Target="../media/image73.png"/><Relationship Id="rId14" Type="http://schemas.openxmlformats.org/officeDocument/2006/relationships/image" Target="../media/image76.png"/><Relationship Id="rId15" Type="http://schemas.openxmlformats.org/officeDocument/2006/relationships/image" Target="../media/image26.png"/><Relationship Id="rId16" Type="http://schemas.openxmlformats.org/officeDocument/2006/relationships/image" Target="../media/image78.png"/><Relationship Id="rId17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6.png"/><Relationship Id="rId4" Type="http://schemas.openxmlformats.org/officeDocument/2006/relationships/image" Target="../media/image55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5.png"/><Relationship Id="rId8" Type="http://schemas.openxmlformats.org/officeDocument/2006/relationships/image" Target="../media/image68.png"/><Relationship Id="rId9" Type="http://schemas.openxmlformats.org/officeDocument/2006/relationships/image" Target="../media/image70.png"/><Relationship Id="rId10" Type="http://schemas.openxmlformats.org/officeDocument/2006/relationships/image" Target="../media/image7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33E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0CD8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05552" y="3524250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133E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2360" y="1828800"/>
            <a:ext cx="704832" cy="342900"/>
          </a:xfrm>
          <a:prstGeom prst="roundRect">
            <a:avLst>
              <a:gd name="adj" fmla="val 555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360" y="1828800"/>
            <a:ext cx="7048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81490" y="2000250"/>
            <a:ext cx="457188" cy="9525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976" y="1904999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</a:rPr>
              <a:t>AUTOMOTIVE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1845" y="2476499"/>
            <a:ext cx="3848003" cy="809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525"/>
              </a:lnSpc>
              <a:spcBef>
                <a:spcPts val="0"/>
              </a:spcBef>
              <a:spcAft>
                <a:spcPts val="1560"/>
              </a:spcAft>
            </a:pPr>
            <a:r>
              <a:rPr sz="4066" b="1">
                <a:solidFill>
                  <a:srgbClr val="000000"/>
                </a:solidFill>
              </a:rPr>
              <a:t> </a:t>
            </a:r>
            <a:r>
              <a:rPr sz="4066" b="1">
                <a:solidFill>
                  <a:srgbClr val="000000"/>
                </a:solidFill>
              </a:rPr>
              <a:t>小米汽车</a:t>
            </a:r>
            <a:r>
              <a:rPr sz="4066" b="1">
                <a:solidFill>
                  <a:srgbClr val="000000"/>
                </a:solidFill>
              </a:rPr>
              <a:t> </a:t>
            </a:r>
            <a:r>
              <a:rPr sz="4066" b="1">
                <a:solidFill>
                  <a:srgbClr val="1F2937"/>
                </a:solidFill>
              </a:rPr>
              <a:t>VS</a:t>
            </a:r>
            <a:r>
              <a:rPr sz="4066" b="1">
                <a:solidFill>
                  <a:srgbClr val="000000"/>
                </a:solidFill>
              </a:rPr>
              <a:t> </a:t>
            </a:r>
            <a:r>
              <a:rPr sz="4066" b="1">
                <a:solidFill>
                  <a:srgbClr val="000000"/>
                </a:solidFill>
              </a:rPr>
              <a:t>问界M7</a:t>
            </a:r>
            <a:r>
              <a:rPr sz="4066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579" y="3514725"/>
            <a:ext cx="581010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2080"/>
              </a:spcAft>
            </a:pPr>
            <a:r>
              <a:rPr sz="2511" b="1">
                <a:solidFill>
                  <a:srgbClr val="374151"/>
                </a:solidFill>
              </a:rPr>
              <a:t>对比分析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8659" y="4419600"/>
            <a:ext cx="914377" cy="38100"/>
          </a:xfrm>
          <a:prstGeom prst="roundRect">
            <a:avLst>
              <a:gd name="adj" fmla="val 499950000"/>
            </a:avLst>
          </a:prstGeom>
          <a:solidFill>
            <a:srgbClr val="00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7213" y="476250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B7280"/>
                </a:solidFill>
              </a:rPr>
              <a:t>产品特点、市场定位及竞争优势全面解析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257568" y="6187255"/>
            <a:ext cx="171445" cy="1603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6162" y="617220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New Energy Vehicle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976" y="6191250"/>
            <a:ext cx="9524" cy="152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67293" y="6198316"/>
            <a:ext cx="171445" cy="138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5887" y="6172200"/>
            <a:ext cx="2952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深度对比分析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947" y="6191250"/>
            <a:ext cx="9524" cy="152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10264" y="6190020"/>
            <a:ext cx="171445" cy="1548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38859" y="6172200"/>
            <a:ext cx="2952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专业评测报告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CD82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33E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0CD8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114300"/>
            <a:ext cx="2762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694" y="2666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</a:rP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2669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030" y="2419349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763" y="2266950"/>
            <a:ext cx="88580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产品概述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763" y="2647949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小米SU7与问界M7基本信息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105149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30" y="3257550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763" y="3105149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动力与续航对比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763" y="348615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动力系统、电池续航、充电能力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9433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030" y="4095749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763" y="3943350"/>
            <a:ext cx="66673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智能科技配置对比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763" y="4324349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智能驾驶、智能座舱系统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781549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030" y="4933950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763" y="4781549"/>
            <a:ext cx="58101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价格与配置对比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763" y="5162550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价格区间与配置差异分析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22669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2085" y="2419349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819" y="2266950"/>
            <a:ext cx="58101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优势与劣势分析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8819" y="2647949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核心竞争力对比评估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639" y="3105149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2085" y="3257550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819" y="3105149"/>
            <a:ext cx="66673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目标用户群体对比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9" y="3486150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用户画像与定位差异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639" y="39433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2085" y="4095749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8819" y="3943350"/>
            <a:ext cx="4381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</a:rPr>
              <a:t>总结与建议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8819" y="4324349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对比总结与购买建议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5657850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168588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小米SU7 产品概述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8359" y="304800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XIAOMI ELECTRIC VEHICLE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657350"/>
            <a:ext cx="4086122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1980" y="5467349"/>
            <a:ext cx="3781330" cy="800100"/>
          </a:xfrm>
          <a:prstGeom prst="roundRect">
            <a:avLst>
              <a:gd name="adj" fmla="val 28571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77" y="5619750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价格区间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5810249"/>
            <a:ext cx="163825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21.59-29.99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7468" y="5676900"/>
            <a:ext cx="9524" cy="38099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1825" y="5619750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车型定位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1825" y="5810249"/>
            <a:ext cx="4190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中大型轿车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292" y="1190625"/>
            <a:ext cx="6276818" cy="1428750"/>
          </a:xfrm>
          <a:prstGeom prst="roundRect">
            <a:avLst>
              <a:gd name="adj" fmla="val 21333"/>
            </a:avLst>
          </a:prstGeom>
          <a:solidFill>
            <a:srgbClr val="FFFFFF">
              <a:alpha val="90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43411" y="14839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86302" y="1428750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基本信息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3411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动力类型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3411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纯电动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561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座位数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561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5座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5237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续航里程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5237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700-830</a:t>
            </a:r>
            <a:r>
              <a:rPr sz="956" b="1">
                <a:solidFill>
                  <a:srgbClr val="1F2937"/>
                </a:solidFill>
              </a:rPr>
              <a:t>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28479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95787" y="3082177"/>
            <a:ext cx="190495" cy="179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62480" y="30575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外观设计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787" y="34194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溜背造型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无框车门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流线型设计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15137" y="28479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05632" y="3096185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72325" y="30575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快充技术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632" y="34194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800V高压平台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15分钟补能50%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超级快充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5292" y="44100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95787" y="4658285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62480" y="46196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智能驾驶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5787" y="49815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双Orin芯片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高速NOA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夜间识别98%准确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15137" y="44100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05632" y="465268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72325" y="46196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配色选择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632" y="49815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9种配色可选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霞光紫、雅灰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璀璨洋红等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5292" y="6057900"/>
            <a:ext cx="6276818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95787" y="6398272"/>
            <a:ext cx="285742" cy="15745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95827" y="6248400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市场表现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5827" y="6438899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上市半年交付量突破20万台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0584" y="6248400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成为现象级产品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10584" y="6438899"/>
            <a:ext cx="7810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66%车主为小米用户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7238999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5657850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146681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问界M7 产品概述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9289" y="304800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AITO WENJIE M7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657350"/>
            <a:ext cx="4086122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1980" y="5467349"/>
            <a:ext cx="3781330" cy="800100"/>
          </a:xfrm>
          <a:prstGeom prst="roundRect">
            <a:avLst>
              <a:gd name="adj" fmla="val 28571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77" y="5619750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价格区间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5810249"/>
            <a:ext cx="163825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24.98-37.98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5072" y="5676900"/>
            <a:ext cx="9524" cy="38099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7033" y="5619750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车型定位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033" y="5810249"/>
            <a:ext cx="7238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中大型SUV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292" y="1190625"/>
            <a:ext cx="6276818" cy="1428750"/>
          </a:xfrm>
          <a:prstGeom prst="roundRect">
            <a:avLst>
              <a:gd name="adj" fmla="val 21333"/>
            </a:avLst>
          </a:prstGeom>
          <a:solidFill>
            <a:srgbClr val="FFFFFF">
              <a:alpha val="90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43411" y="14839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86302" y="1428750"/>
            <a:ext cx="3333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基本信息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3411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动力类型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3411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增程/纯电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561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座位数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561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6座/5座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5237" y="188595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</a:rPr>
              <a:t>综合续航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5237" y="21145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1690</a:t>
            </a:r>
            <a:r>
              <a:rPr sz="956" b="1">
                <a:solidFill>
                  <a:srgbClr val="1F2937"/>
                </a:solidFill>
              </a:rPr>
              <a:t>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28479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95787" y="3079376"/>
            <a:ext cx="190495" cy="1848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62480" y="30575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华为技术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787" y="34194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HUAWEI ADS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鸿蒙智能座舱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DriveONE电驱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15137" y="28479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05632" y="30905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72325" y="30575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增程续航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632" y="34194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纯电327km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综合1690km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馈电油耗6.3L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5292" y="44100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95787" y="465268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62480" y="46196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空间布局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5787" y="49815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2+2+2六座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第三排810mm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零重力座椅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15137" y="4410074"/>
            <a:ext cx="3066973" cy="1409699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133EFF">
                  <a:alpha val="8000"/>
                </a:srgbClr>
              </a:gs>
              <a:gs pos="100000">
                <a:srgbClr val="133EFF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05632" y="4661086"/>
            <a:ext cx="190495" cy="145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72325" y="46196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智能底盘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632" y="4981574"/>
            <a:ext cx="2685982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双叉臂+五连杆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双腔空气悬架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</a:rPr>
              <a:t>晕车舒缓2.0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5292" y="6057900"/>
            <a:ext cx="6276818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95787" y="6398272"/>
            <a:ext cx="285742" cy="15745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95827" y="6248400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目标用户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5827" y="6438899"/>
            <a:ext cx="3714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家庭出行首选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9654" y="624840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市场表现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9654" y="6438899"/>
            <a:ext cx="5619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总交付超40万辆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7238999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62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5343525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97152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动力与续航对比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001" y="304800"/>
            <a:ext cx="18763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POWER &amp; RANGE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114425"/>
            <a:ext cx="5257668" cy="4610099"/>
          </a:xfrm>
          <a:prstGeom prst="roundRect">
            <a:avLst>
              <a:gd name="adj" fmla="val 6611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03" y="1371600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62000" y="1491614"/>
            <a:ext cx="228594" cy="2171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7288" y="1352549"/>
            <a:ext cx="13429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288" y="165735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Xiaomi Electric Vehicle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8639" y="1371600"/>
            <a:ext cx="1904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动力类型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8639" y="1562100"/>
            <a:ext cx="1904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33EFF"/>
                </a:solidFill>
              </a:rPr>
              <a:t>纯电动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22764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2472577"/>
            <a:ext cx="190495" cy="1792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04892" y="2447924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平台技术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9469" y="2428875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400V / 800V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703" y="29622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316678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4892" y="3133724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CLTC续航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588" y="3114675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3EFF"/>
                </a:solidFill>
              </a:rPr>
              <a:t>700-830</a:t>
            </a:r>
            <a:r>
              <a:rPr sz="956" b="1">
                <a:solidFill>
                  <a:srgbClr val="4B5563"/>
                </a:solidFill>
              </a:rPr>
              <a:t>km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7703" y="36480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0099" y="3858185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04892" y="3819524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快充速度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232" y="3800475"/>
            <a:ext cx="7715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15分钟</a:t>
            </a:r>
            <a:r>
              <a:rPr sz="956" b="1">
                <a:solidFill>
                  <a:srgbClr val="4B5563"/>
                </a:solidFill>
              </a:rPr>
              <a:t>50%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703" y="4333875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0099" y="4550988"/>
            <a:ext cx="190495" cy="1372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04892" y="4505325"/>
            <a:ext cx="2762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百公里加速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9014" y="4486275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2.78-6.9</a:t>
            </a:r>
            <a:r>
              <a:rPr sz="956" b="1">
                <a:solidFill>
                  <a:srgbClr val="4B5563"/>
                </a:solidFill>
              </a:rPr>
              <a:t>秒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771705" y="5306785"/>
            <a:ext cx="152396" cy="130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00299" y="5276850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</a:rPr>
              <a:t>800V高压平台极速充电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1" y="1114425"/>
            <a:ext cx="5257668" cy="4610099"/>
          </a:xfrm>
          <a:prstGeom prst="roundRect">
            <a:avLst>
              <a:gd name="adj" fmla="val 6611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62560" y="1371600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76858" y="1520189"/>
            <a:ext cx="228594" cy="1600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72145" y="1352549"/>
            <a:ext cx="9429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2145" y="1657350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AITO Wenjie M7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8723" y="1371600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动力类型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8723" y="1562100"/>
            <a:ext cx="2952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CD82"/>
                </a:solidFill>
              </a:rPr>
              <a:t>增程/纯电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62560" y="22764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14957" y="2472577"/>
            <a:ext cx="190495" cy="17929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019749" y="2447924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平台技术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91515" y="2428875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800V 高压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62560" y="29622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14957" y="3166782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019749" y="3133724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续航里程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148" y="3114675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CD82"/>
                </a:solidFill>
              </a:rPr>
              <a:t>710/1690</a:t>
            </a:r>
            <a:r>
              <a:rPr sz="956" b="1">
                <a:solidFill>
                  <a:srgbClr val="4B5563"/>
                </a:solidFill>
              </a:rPr>
              <a:t>km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62560" y="3648074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14957" y="3858185"/>
            <a:ext cx="190495" cy="15127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19749" y="3819524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快充速度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3871" y="3800475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15分钟</a:t>
            </a:r>
            <a:r>
              <a:rPr sz="956" b="1">
                <a:solidFill>
                  <a:srgbClr val="4B5563"/>
                </a:solidFill>
              </a:rPr>
              <a:t>30-80%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62560" y="4333875"/>
            <a:ext cx="4781430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14957" y="4550988"/>
            <a:ext cx="190495" cy="1372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19749" y="4505325"/>
            <a:ext cx="2762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</a:rPr>
              <a:t>百公里加速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8168" y="4486275"/>
            <a:ext cx="9334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4.8-7.8</a:t>
            </a:r>
            <a:r>
              <a:rPr sz="956" b="1">
                <a:solidFill>
                  <a:srgbClr val="4B5563"/>
                </a:solidFill>
              </a:rPr>
              <a:t>秒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29414" y="5306785"/>
            <a:ext cx="152396" cy="1306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58008" y="527685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</a:rPr>
              <a:t>增程版综合续航1690km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9584" y="6029325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71505" y="6318885"/>
            <a:ext cx="228594" cy="12572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14397" y="6191250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小米SU7优势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4397" y="6381749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纯电动性能极致，加速表现突出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045" y="6029325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CFDF5"/>
              </a:gs>
              <a:gs pos="100000">
                <a:srgbClr val="D1FAE5"/>
              </a:gs>
            </a:gsLst>
            <a:lin scaled="0" ang="10800000"/>
          </a:gradFill>
          <a:ln w="825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33966" y="6318885"/>
            <a:ext cx="228594" cy="12572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76858" y="6191250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问界M7优势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6858" y="6381749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增程/纯电双选，续航无焦虑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924674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91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6772275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111439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智能科技配置对比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873" y="304800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SMART TECHNOLOGY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114425"/>
            <a:ext cx="5295767" cy="6038849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03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472452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2991" y="1352549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991" y="161925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Xiaomi Intelligent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9094" y="1390650"/>
            <a:ext cx="438139" cy="342900"/>
          </a:xfrm>
          <a:prstGeom prst="roundRect">
            <a:avLst>
              <a:gd name="adj" fmla="val 555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3391" y="1504950"/>
            <a:ext cx="209544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563EB"/>
                </a:solidFill>
              </a:rPr>
              <a:t>人车家互联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2124075"/>
            <a:ext cx="4819529" cy="1523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7703" y="3838574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2000" y="39719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38199" y="4064453"/>
            <a:ext cx="152396" cy="1197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1090" y="3952874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双Orin芯片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090" y="414337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508 TOPS算力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703" y="4505325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2000" y="463867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38199" y="472576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1090" y="4619625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高速NOA导航驾驶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090" y="4810124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变道果断精准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7703" y="5172075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2000" y="53054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38199" y="5400675"/>
            <a:ext cx="152396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81090" y="5286375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人车家全生态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1090" y="547687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米家设备互联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703" y="5838824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2000" y="59721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8199" y="6064703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81090" y="5953124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澎湃OS系统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1090" y="614362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流畅操作体验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028874" y="6758558"/>
            <a:ext cx="133346" cy="12268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238419" y="6743700"/>
            <a:ext cx="2476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小米智驾系统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6342" y="1114425"/>
            <a:ext cx="5295767" cy="6038849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24461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19709" y="1469651"/>
            <a:ext cx="190495" cy="18489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9749" y="1352549"/>
            <a:ext cx="9524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9749" y="1619250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HUAWEI Intelligent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43951" y="1390650"/>
            <a:ext cx="400039" cy="342900"/>
          </a:xfrm>
          <a:prstGeom prst="roundRect">
            <a:avLst>
              <a:gd name="adj" fmla="val 555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58248" y="1504950"/>
            <a:ext cx="171445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59669"/>
                </a:solidFill>
              </a:rPr>
              <a:t>鸿蒙座舱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2124075"/>
            <a:ext cx="4819529" cy="1523999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24461" y="3838574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38759" y="39719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714957" y="4072617"/>
            <a:ext cx="152396" cy="10341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57848" y="3952874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华为ADS 3.0/4.0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7848" y="414337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34个高精度传感器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4461" y="4505325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38759" y="463867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714957" y="4731203"/>
            <a:ext cx="152396" cy="1197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57848" y="4619625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鸿蒙智能座舱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7848" y="4810124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HarmonyOS系统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24461" y="5172075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38759" y="530542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714957" y="5397953"/>
            <a:ext cx="152396" cy="119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57848" y="5286375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多屏联动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7848" y="547687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16.1英寸中控+后排屏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24461" y="5838824"/>
            <a:ext cx="4819529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8759" y="59721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714957" y="6064703"/>
            <a:ext cx="152396" cy="119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057848" y="5953124"/>
            <a:ext cx="41718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跨楼层泊车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7848" y="6143625"/>
            <a:ext cx="41718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无感通行50万停车场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58008" y="6758558"/>
            <a:ext cx="133346" cy="12268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867553" y="674370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华为智能驾驶生态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9584" y="7458075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71505" y="7701914"/>
            <a:ext cx="228594" cy="21717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114397" y="761999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小米SU7优势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4397" y="7810499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小米生态深度整合，米粉用户友好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045" y="7458075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CFDF5"/>
              </a:gs>
              <a:gs pos="100000">
                <a:srgbClr val="D1FAE5"/>
              </a:gs>
            </a:gsLst>
            <a:lin scaled="0" ang="10800000"/>
          </a:gradFill>
          <a:ln w="825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333966" y="7707630"/>
            <a:ext cx="228594" cy="20573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76858" y="7619999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问界M7优势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6858" y="7810499"/>
            <a:ext cx="6286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华为技术背书，座舱体验优秀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353424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523874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97152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价格与配置对比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001" y="304800"/>
            <a:ext cx="23716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PRICE &amp; CONFIGURATION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076325"/>
            <a:ext cx="5295767" cy="4581524"/>
          </a:xfrm>
          <a:prstGeom prst="roundRect">
            <a:avLst>
              <a:gd name="adj" fmla="val 6652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04" y="131445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415302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4892" y="1295399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892" y="1562100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Xiaomi Price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063" y="1276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价格区间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063" y="146684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33EFF"/>
                </a:solidFill>
              </a:rPr>
              <a:t>21.59-29.99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604" y="2009774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3426" y="2171700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723" y="2228850"/>
            <a:ext cx="38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133599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后驱长续航标准版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324100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700km CLTC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678" y="2171700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3EFF"/>
                </a:solidFill>
              </a:rPr>
              <a:t>21.59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26" y="2552700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5座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590609"/>
            <a:ext cx="133346" cy="11468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62040" y="2552700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84TOPS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62040" y="2594609"/>
            <a:ext cx="133346" cy="106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24021" y="255270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400V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124021" y="2589275"/>
            <a:ext cx="133346" cy="11734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09604" y="2962274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426" y="3124200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525" y="3181350"/>
            <a:ext cx="1904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18" y="3086100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后驱超长续航Pro版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6318" y="3276599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800km CLTC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678" y="3124200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3EFF"/>
                </a:solidFill>
              </a:rPr>
              <a:t>24.59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26" y="3505199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5座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3543109"/>
            <a:ext cx="133346" cy="11468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62040" y="3505199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508TOPS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62040" y="3547110"/>
            <a:ext cx="133346" cy="1066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190695" y="3505199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800V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190695" y="3541775"/>
            <a:ext cx="133346" cy="1173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9604" y="3914775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3426" y="4076699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476" y="4133849"/>
            <a:ext cx="2190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Max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6318" y="4038599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四驱超长续航Max版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6318" y="4229100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830km CLTC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678" y="4076699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33EFF"/>
                </a:solidFill>
              </a:rPr>
              <a:t>29.99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426" y="4457700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5座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4495609"/>
            <a:ext cx="133346" cy="11468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62040" y="4457700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508TOPS×2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362040" y="4499609"/>
            <a:ext cx="133346" cy="1066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314517" y="445770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2.78秒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314517" y="4503610"/>
            <a:ext cx="133346" cy="9867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5303901"/>
            <a:ext cx="133346" cy="117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19149" y="5286375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全系标配400V/800V高压平台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86342" y="1076325"/>
            <a:ext cx="5295767" cy="4581524"/>
          </a:xfrm>
          <a:prstGeom prst="roundRect">
            <a:avLst>
              <a:gd name="adj" fmla="val 6652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86362" y="131445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81610" y="1436313"/>
            <a:ext cx="190495" cy="13727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81650" y="1295399"/>
            <a:ext cx="7334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1650" y="1562100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AITO Price List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24821" y="127635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价格区间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24821" y="146684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CD82"/>
                </a:solidFill>
              </a:rPr>
              <a:t>24.98-33.98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86362" y="2009774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10184" y="2171700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05432" y="2228850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3076" y="2133599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后驱Plus版 5座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53076" y="2324100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208km纯电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3436" y="2171700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CD82"/>
                </a:solidFill>
              </a:rPr>
              <a:t>24.98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0184" y="2552700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5座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0184" y="2590609"/>
            <a:ext cx="133346" cy="11468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038799" y="2552700"/>
            <a:ext cx="2571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增程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38799" y="2589275"/>
            <a:ext cx="133346" cy="11734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448363" y="255270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ADS 3.0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48363" y="2594609"/>
            <a:ext cx="133346" cy="10668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6486362" y="2962274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610184" y="3124200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95907" y="3181350"/>
            <a:ext cx="952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53076" y="3086100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智驾后驱Max版 6座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53076" y="3276599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240km纯电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53436" y="3124200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CD82"/>
                </a:solidFill>
              </a:rPr>
              <a:t>28.98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0184" y="3505199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6座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0184" y="3543109"/>
            <a:ext cx="133346" cy="11468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038799" y="3505199"/>
            <a:ext cx="3428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激光雷达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38799" y="3555111"/>
            <a:ext cx="133346" cy="9067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534086" y="3505199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ADS 4.0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34086" y="3547110"/>
            <a:ext cx="133346" cy="10668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6486362" y="3914775"/>
            <a:ext cx="4895727" cy="857250"/>
          </a:xfrm>
          <a:prstGeom prst="roundRect">
            <a:avLst>
              <a:gd name="adj" fmla="val 26666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610184" y="4076699"/>
            <a:ext cx="266693" cy="266699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05432" y="4133849"/>
            <a:ext cx="857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3076" y="4038599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</a:rPr>
              <a:t>智驾四驱Max版 6座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3076" y="4229100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327km纯电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53436" y="4076699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CD82"/>
                </a:solidFill>
              </a:rPr>
              <a:t>33.98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10184" y="4457700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6座</a:t>
            </a: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0184" y="4495609"/>
            <a:ext cx="133346" cy="11468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38799" y="4457700"/>
            <a:ext cx="3428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激光雷达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38799" y="4507611"/>
            <a:ext cx="133346" cy="9067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7534086" y="445770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</a:rPr>
              <a:t>800V</a:t>
            </a:r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34086" y="4494275"/>
            <a:ext cx="133346" cy="117348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86362" y="5303901"/>
            <a:ext cx="133346" cy="11734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695907" y="5286375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全系标配鸿蒙智能座舱系统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9584" y="5924549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71505" y="6184106"/>
            <a:ext cx="228594" cy="185737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114397" y="6086475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小米SU7优势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4397" y="627697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起售价低3.39万，性价比突出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72045" y="5924549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CFDF5"/>
              </a:gs>
              <a:gs pos="100000">
                <a:srgbClr val="D1FAE5"/>
              </a:gs>
            </a:gsLst>
            <a:lin scaled="0" ang="10800000"/>
          </a:gradFill>
          <a:ln w="825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33966" y="6182677"/>
            <a:ext cx="228594" cy="188595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676858" y="6086475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问界M7优势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6858" y="6276975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6座布局，家庭出行更实用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15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68960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97152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优势与劣势分析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001" y="304800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PROS &amp; CONS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114425"/>
            <a:ext cx="5295767" cy="6162675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03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472452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2991" y="1352549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991" y="1619250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Xiaomi SU7 Analysis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18276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47" y="21431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核心优势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25050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1525" y="26479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2718244"/>
            <a:ext cx="133346" cy="880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14417" y="26289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科技感强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17" y="283845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流线造型、无框车门设计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703" y="31908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1525" y="33337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3404044"/>
            <a:ext cx="133346" cy="880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14417" y="3314700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生态互联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4417" y="3524250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人车家全生态无缝衔接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703" y="38766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1525" y="40195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4089844"/>
            <a:ext cx="133346" cy="8801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14417" y="4000500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性价比高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4417" y="4210049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起售价21.59万，同价位领先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7703" y="45624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1525" y="47053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4775644"/>
            <a:ext cx="133346" cy="8801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4417" y="4686300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性能出色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4417" y="489584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Max版百公里加速2.78秒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42126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5347" y="5381624"/>
            <a:ext cx="2762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需关注问题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703" y="57435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25" y="58864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19149" y="5947410"/>
            <a:ext cx="133346" cy="1066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14417" y="5867399"/>
            <a:ext cx="5048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续航焦虑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417" y="6076950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纯电动长途出行需规划充电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7703" y="64293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1525" y="65722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19149" y="6633210"/>
            <a:ext cx="133346" cy="1066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14417" y="6553199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充电设施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14417" y="676275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依赖充电网络覆盖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342" y="1114425"/>
            <a:ext cx="5295767" cy="6162675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24461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19709" y="1493463"/>
            <a:ext cx="190495" cy="1372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19749" y="1352549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9749" y="1619250"/>
            <a:ext cx="8858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AITO M7 Analysis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24461" y="2182761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72105" y="21431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核心优势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24461" y="25050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648283" y="26479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95907" y="2718244"/>
            <a:ext cx="133346" cy="8801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991175" y="2628900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空间宽敞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1175" y="2838450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六座布局，第三排可用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24461" y="31908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48283" y="33337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95907" y="3404044"/>
            <a:ext cx="133346" cy="8801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91175" y="3314700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家庭友好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1175" y="3524250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零重力座椅，长途舒适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24461" y="3876674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48283" y="4019549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95907" y="4089844"/>
            <a:ext cx="133346" cy="8801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991175" y="4000500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续航无忧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1175" y="4210049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增程版综合续航1690km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24461" y="45624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648283" y="47053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95907" y="4775644"/>
            <a:ext cx="133346" cy="8801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991175" y="4686300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华为品牌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91175" y="4895849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鸿蒙座舱，技术背书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24461" y="5421261"/>
            <a:ext cx="171445" cy="14932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772105" y="5381624"/>
            <a:ext cx="2762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需关注问题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24461" y="57435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648283" y="58864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95907" y="5947410"/>
            <a:ext cx="133346" cy="10668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991175" y="5867399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价格略高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1175" y="6076950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起售价24.98万，高于SU7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24461" y="6429375"/>
            <a:ext cx="4819529" cy="6096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48283" y="6572250"/>
            <a:ext cx="228594" cy="2286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95907" y="6633210"/>
            <a:ext cx="133346" cy="10668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991175" y="6553199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F2937"/>
                </a:solidFill>
              </a:rPr>
              <a:t>学习成本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91175" y="6762750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智能化功能需适应使用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9584" y="7581899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71505" y="7837170"/>
            <a:ext cx="228594" cy="19430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114397" y="7743825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小米SU7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4397" y="7934324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科技导向，适合年轻用户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72045" y="7581899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CFDF5"/>
              </a:gs>
              <a:gs pos="100000">
                <a:srgbClr val="D1FAE5"/>
              </a:gs>
            </a:gsLst>
            <a:lin scaled="0" ang="10800000"/>
          </a:gradFill>
          <a:ln w="825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33966" y="7837170"/>
            <a:ext cx="228594" cy="194309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676858" y="7743825"/>
            <a:ext cx="5810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问界M7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6858" y="7934324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家庭导向，适合多成员家庭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8477249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6638924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111439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目标用户群体对比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873" y="304800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TARGET USER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1114425"/>
            <a:ext cx="5295767" cy="5905500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03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472452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2991" y="1352549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991" y="1619250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Xiaomi SU7 Users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193822"/>
            <a:ext cx="171445" cy="1272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47" y="2143125"/>
            <a:ext cx="3333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核心用户画像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2543175"/>
            <a:ext cx="2352616" cy="742950"/>
          </a:xfrm>
          <a:prstGeom prst="roundRect">
            <a:avLst>
              <a:gd name="adj" fmla="val 20512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25" y="2667000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主力年龄段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25" y="2857500"/>
            <a:ext cx="2104972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26-35</a:t>
            </a:r>
            <a:r>
              <a:rPr sz="956" b="1">
                <a:solidFill>
                  <a:srgbClr val="4B5563"/>
                </a:solidFill>
              </a:rPr>
              <a:t>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4617" y="2543175"/>
            <a:ext cx="2352616" cy="742950"/>
          </a:xfrm>
          <a:prstGeom prst="roundRect">
            <a:avLst>
              <a:gd name="adj" fmla="val 20512"/>
            </a:avLst>
          </a:prstGeom>
          <a:solidFill>
            <a:srgbClr val="EFF6FF"/>
          </a:soli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439" y="2667000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439" y="2857500"/>
            <a:ext cx="2104972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42</a:t>
            </a:r>
            <a:r>
              <a:rPr sz="956" b="1">
                <a:solidFill>
                  <a:srgbClr val="4B5563"/>
                </a:solidFill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703" y="36671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2000" y="38004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38199" y="3893003"/>
            <a:ext cx="152396" cy="1197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1090" y="3781424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科技发烧友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1090" y="3990974"/>
            <a:ext cx="4952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为智能生态买单的"米粉"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7703" y="43529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2000" y="44862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38199" y="4595132"/>
            <a:ext cx="152396" cy="870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81090" y="4467224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都市新贵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1090" y="467677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30万级轿跑"颜值与性能"刚需者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703" y="50387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2000" y="51720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38199" y="5259160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81090" y="5153024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首购年轻族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1090" y="5362575"/>
            <a:ext cx="4952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预算有限但拒绝"低端感"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703" y="57245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2000" y="58578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8199" y="5949042"/>
            <a:ext cx="152396" cy="1224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81090" y="5838824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苹果生态用户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1090" y="60483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跨平台无缝衔接的务实派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6625208"/>
            <a:ext cx="133346" cy="12268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7248" y="6610349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注重性能、颜值和科技体验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6342" y="1114425"/>
            <a:ext cx="5295767" cy="5905500"/>
          </a:xfrm>
          <a:prstGeom prst="roundRect">
            <a:avLst>
              <a:gd name="adj" fmla="val 5755"/>
            </a:avLst>
          </a:prstGeom>
          <a:solidFill>
            <a:srgbClr val="FFFFFF">
              <a:alpha val="95000"/>
            </a:srgbClr>
          </a:solidFill>
          <a:ln w="8255">
            <a:solidFill>
              <a:srgbClr val="133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4461" y="1371600"/>
            <a:ext cx="380990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D82"/>
              </a:gs>
              <a:gs pos="100000">
                <a:srgbClr val="00B87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19709" y="1493463"/>
            <a:ext cx="190495" cy="13727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019749" y="1352549"/>
            <a:ext cx="7524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9749" y="1619250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</a:rPr>
              <a:t>AITO M7 Users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24461" y="2193822"/>
            <a:ext cx="171445" cy="1272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72105" y="2143125"/>
            <a:ext cx="3333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</a:rPr>
              <a:t>核心用户画像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24461" y="2543175"/>
            <a:ext cx="2352616" cy="742950"/>
          </a:xfrm>
          <a:prstGeom prst="roundRect">
            <a:avLst>
              <a:gd name="adj" fmla="val 20512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8283" y="2667000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主力年龄段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283" y="2857500"/>
            <a:ext cx="2104972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</a:rPr>
              <a:t>30-45</a:t>
            </a:r>
            <a:r>
              <a:rPr sz="956" b="1">
                <a:solidFill>
                  <a:srgbClr val="4B5563"/>
                </a:solidFill>
              </a:rPr>
              <a:t>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91375" y="2543175"/>
            <a:ext cx="2352616" cy="742950"/>
          </a:xfrm>
          <a:prstGeom prst="roundRect">
            <a:avLst>
              <a:gd name="adj" fmla="val 20512"/>
            </a:avLst>
          </a:prstGeom>
          <a:solidFill>
            <a:srgbClr val="ECFDF5"/>
          </a:soli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5197" y="2667000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家庭结构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5197" y="2857500"/>
            <a:ext cx="2104972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</a:rPr>
              <a:t>3+</a:t>
            </a:r>
            <a:r>
              <a:rPr sz="956" b="1">
                <a:solidFill>
                  <a:srgbClr val="4B5563"/>
                </a:solidFill>
              </a:rPr>
              <a:t>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24461" y="36671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38759" y="38004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714957" y="388756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57848" y="3781424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家庭用户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7848" y="3990974"/>
            <a:ext cx="5429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多成员家庭，注重空间实用性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24461" y="43529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38759" y="44862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714957" y="4578803"/>
            <a:ext cx="152396" cy="119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057848" y="4467224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商务人士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7848" y="46767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看重品牌形象和商务场合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24461" y="50387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38759" y="51720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714957" y="5260521"/>
            <a:ext cx="152396" cy="1279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057848" y="5153024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注重舒适性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7848" y="53625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长途出行，追求乘坐体验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24461" y="5724524"/>
            <a:ext cx="4819529" cy="590549"/>
          </a:xfrm>
          <a:prstGeom prst="roundRect">
            <a:avLst>
              <a:gd name="adj" fmla="val 2580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638759" y="58578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714957" y="5940878"/>
            <a:ext cx="152396" cy="13879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057848" y="5838824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30"/>
              </a:spcAft>
            </a:pPr>
            <a:r>
              <a:rPr sz="837" b="0">
                <a:solidFill>
                  <a:srgbClr val="1F2937"/>
                </a:solidFill>
              </a:rPr>
              <a:t>品牌追求者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7848" y="60483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信赖华为品质和技术实力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24461" y="6625208"/>
            <a:ext cx="133346" cy="12268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734006" y="6610349"/>
            <a:ext cx="5429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</a:rPr>
              <a:t>注重空间、舒适性和品牌品质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9584" y="7324724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71505" y="7581423"/>
            <a:ext cx="228594" cy="19145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14397" y="7486650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563EB"/>
                </a:solidFill>
              </a:rPr>
              <a:t>小米SU7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4397" y="7677149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科技引领，年轻潮流之选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72045" y="7324724"/>
            <a:ext cx="5410064" cy="704849"/>
          </a:xfrm>
          <a:prstGeom prst="roundRect">
            <a:avLst>
              <a:gd name="adj" fmla="val 32432"/>
            </a:avLst>
          </a:prstGeom>
          <a:gradFill rotWithShape="1">
            <a:gsLst>
              <a:gs pos="0">
                <a:srgbClr val="ECFDF5"/>
              </a:gs>
              <a:gs pos="100000">
                <a:srgbClr val="D1FAE5"/>
              </a:gs>
            </a:gsLst>
            <a:lin scaled="0" ang="10800000"/>
          </a:gradFill>
          <a:ln w="825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333966" y="7591424"/>
            <a:ext cx="228594" cy="17145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676858" y="7486650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59669"/>
                </a:solidFill>
              </a:rPr>
              <a:t>问界M7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6858" y="7677149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</a:rPr>
              <a:t>家庭导向，品质生活之选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8220074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266" y="-1428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133E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571485" y="523874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0CD8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209550"/>
            <a:ext cx="38099" cy="380999"/>
          </a:xfrm>
          <a:prstGeom prst="roundRect">
            <a:avLst>
              <a:gd name="adj" fmla="val 499950000"/>
            </a:avLst>
          </a:prstGeom>
          <a:solidFill>
            <a:srgbClr val="133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79" y="209550"/>
            <a:ext cx="69530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7783" y="304800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</a:rPr>
              <a:t>SUMMARY &amp; RECOMMENDATIONS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143000"/>
            <a:ext cx="228594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377" y="1095374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核心总结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1533525"/>
            <a:ext cx="5410064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079" y="169544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767655"/>
            <a:ext cx="171445" cy="1603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1070" y="1714500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</a:rPr>
              <a:t>小米 SU7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2114550"/>
            <a:ext cx="50576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</a:t>
            </a:r>
            <a:r>
              <a:rPr sz="956" b="1">
                <a:solidFill>
                  <a:srgbClr val="133EFF"/>
                </a:solidFill>
              </a:rPr>
              <a:t>科技引领</a:t>
            </a:r>
            <a:r>
              <a:rPr sz="837" b="0">
                <a:solidFill>
                  <a:srgbClr val="4B5563"/>
                </a:solidFill>
              </a:rPr>
              <a:t> · 追求</a:t>
            </a:r>
            <a:r>
              <a:rPr sz="837" b="1">
                <a:solidFill>
                  <a:srgbClr val="4B5563"/>
                </a:solidFill>
              </a:rPr>
              <a:t>性能与颜值</a:t>
            </a:r>
            <a:r>
              <a:rPr sz="837" b="0">
                <a:solidFill>
                  <a:srgbClr val="4B5563"/>
                </a:solidFill>
              </a:rPr>
              <a:t>的年轻用户首选，适合</a:t>
            </a:r>
            <a:r>
              <a:rPr sz="837" b="1">
                <a:solidFill>
                  <a:srgbClr val="4B5563"/>
                </a:solidFill>
              </a:rPr>
              <a:t>米粉生态</a:t>
            </a:r>
            <a:r>
              <a:rPr sz="837" b="0">
                <a:solidFill>
                  <a:srgbClr val="4B5563"/>
                </a:solidFill>
              </a:rPr>
              <a:t>和</a:t>
            </a:r>
            <a:r>
              <a:rPr sz="837" b="1">
                <a:solidFill>
                  <a:srgbClr val="4B5563"/>
                </a:solidFill>
              </a:rPr>
              <a:t>苹果用户</a:t>
            </a:r>
            <a:r>
              <a:rPr sz="837" b="0">
                <a:solidFill>
                  <a:srgbClr val="4B5563"/>
                </a:solidFill>
              </a:rPr>
              <a:t>，</a:t>
            </a:r>
            <a:r>
              <a:rPr sz="837" b="1">
                <a:solidFill>
                  <a:srgbClr val="4B5563"/>
                </a:solidFill>
              </a:rPr>
              <a:t>性价比</a:t>
            </a:r>
            <a:r>
              <a:rPr sz="837" b="0">
                <a:solidFill>
                  <a:srgbClr val="4B5563"/>
                </a:solidFill>
              </a:rPr>
              <a:t>突出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045" y="1533525"/>
            <a:ext cx="5410064" cy="971550"/>
          </a:xfrm>
          <a:prstGeom prst="roundRect">
            <a:avLst>
              <a:gd name="adj" fmla="val 23529"/>
            </a:avLst>
          </a:prstGeom>
          <a:solidFill>
            <a:srgbClr val="FFFFFF">
              <a:alpha val="95000"/>
            </a:srgbClr>
          </a:solidFill>
          <a:ln w="330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2540" y="169544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29214" y="1785630"/>
            <a:ext cx="171445" cy="1244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43531" y="1714500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</a:rPr>
              <a:t>问界 M7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540" y="2114550"/>
            <a:ext cx="50576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</a:rPr>
              <a:t> </a:t>
            </a:r>
            <a:r>
              <a:rPr sz="956" b="1">
                <a:solidFill>
                  <a:srgbClr val="00CD82"/>
                </a:solidFill>
              </a:rPr>
              <a:t>家庭导向</a:t>
            </a:r>
            <a:r>
              <a:rPr sz="837" b="0">
                <a:solidFill>
                  <a:srgbClr val="4B5563"/>
                </a:solidFill>
              </a:rPr>
              <a:t> · 注重</a:t>
            </a:r>
            <a:r>
              <a:rPr sz="837" b="1">
                <a:solidFill>
                  <a:srgbClr val="4B5563"/>
                </a:solidFill>
              </a:rPr>
              <a:t>空间与舒适性</a:t>
            </a:r>
            <a:r>
              <a:rPr sz="837" b="0">
                <a:solidFill>
                  <a:srgbClr val="4B5563"/>
                </a:solidFill>
              </a:rPr>
              <a:t>的用户首选，适合</a:t>
            </a:r>
            <a:r>
              <a:rPr sz="837" b="1">
                <a:solidFill>
                  <a:srgbClr val="4B5563"/>
                </a:solidFill>
              </a:rPr>
              <a:t>多成员家庭</a:t>
            </a:r>
            <a:r>
              <a:rPr sz="837" b="0">
                <a:solidFill>
                  <a:srgbClr val="4B5563"/>
                </a:solidFill>
              </a:rPr>
              <a:t>和</a:t>
            </a:r>
            <a:r>
              <a:rPr sz="837" b="1">
                <a:solidFill>
                  <a:srgbClr val="4B5563"/>
                </a:solidFill>
              </a:rPr>
              <a:t>商务场景</a:t>
            </a:r>
            <a:r>
              <a:rPr sz="837" b="0">
                <a:solidFill>
                  <a:srgbClr val="4B5563"/>
                </a:solidFill>
              </a:rPr>
              <a:t>，</a:t>
            </a:r>
            <a:r>
              <a:rPr sz="837" b="1">
                <a:solidFill>
                  <a:srgbClr val="4B5563"/>
                </a:solidFill>
              </a:rPr>
              <a:t>品质可靠</a:t>
            </a:r>
            <a:r>
              <a:rPr sz="837" b="0">
                <a:solidFill>
                  <a:srgbClr val="4B5563"/>
                </a:solidFill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2788920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377" y="2752725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</a:rPr>
              <a:t>购买建议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3190874"/>
            <a:ext cx="5429114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scaled="0" ang="108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3406" y="33337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3411093"/>
            <a:ext cx="133346" cy="1120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4397" y="3314700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1F2937"/>
                </a:solidFill>
              </a:rPr>
              <a:t>预算 22-25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397" y="3543300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</a:rPr>
              <a:t>选择 </a:t>
            </a:r>
            <a:r>
              <a:rPr sz="717" b="1">
                <a:solidFill>
                  <a:srgbClr val="133EFF"/>
                </a:solidFill>
              </a:rPr>
              <a:t>小米SU7标准版</a:t>
            </a:r>
            <a:r>
              <a:rPr sz="717" b="0">
                <a:solidFill>
                  <a:srgbClr val="4B5563"/>
                </a:solidFill>
              </a:rPr>
              <a:t>，性价比最高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2996" y="3190874"/>
            <a:ext cx="5429114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CFDF5"/>
              </a:gs>
              <a:gs pos="100000">
                <a:srgbClr val="FFFFFF"/>
              </a:gs>
            </a:gsLst>
            <a:lin scaled="0" ang="10800000"/>
          </a:gra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6818" y="33337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43491" y="3408425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57808" y="3314700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1F2937"/>
                </a:solidFill>
              </a:rPr>
              <a:t>注重家庭出行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7808" y="354330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</a:rPr>
              <a:t>选择 </a:t>
            </a:r>
            <a:r>
              <a:rPr sz="717" b="1">
                <a:solidFill>
                  <a:srgbClr val="00CD82"/>
                </a:solidFill>
              </a:rPr>
              <a:t>问界M7增程版</a:t>
            </a:r>
            <a:r>
              <a:rPr sz="717" b="0">
                <a:solidFill>
                  <a:srgbClr val="4B5563"/>
                </a:solidFill>
              </a:rPr>
              <a:t>，续航无忧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3933824"/>
            <a:ext cx="5429114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scaled="0" ang="108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406" y="40766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4160710"/>
            <a:ext cx="133346" cy="986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4397" y="4057650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1F2937"/>
                </a:solidFill>
              </a:rPr>
              <a:t>看重性能表现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397" y="4286250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</a:rPr>
              <a:t>选择 </a:t>
            </a:r>
            <a:r>
              <a:rPr sz="717" b="1">
                <a:solidFill>
                  <a:srgbClr val="133EFF"/>
                </a:solidFill>
              </a:rPr>
              <a:t>小米SU7 Max版</a:t>
            </a:r>
            <a:r>
              <a:rPr sz="717" b="0">
                <a:solidFill>
                  <a:srgbClr val="4B5563"/>
                </a:solidFill>
              </a:rPr>
              <a:t>，2.78秒破百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2996" y="3933824"/>
            <a:ext cx="5429114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ECFDF5"/>
              </a:gs>
              <a:gs pos="100000">
                <a:srgbClr val="FFFFFF"/>
              </a:gs>
            </a:gsLst>
            <a:lin scaled="0" ang="10800000"/>
          </a:gradFill>
          <a:ln w="8255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76818" y="40766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43491" y="4148709"/>
            <a:ext cx="133346" cy="12268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57808" y="4057650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1F2937"/>
                </a:solidFill>
              </a:rPr>
              <a:t>追求全能体验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7808" y="4286250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</a:rPr>
              <a:t>选择 </a:t>
            </a:r>
            <a:r>
              <a:rPr sz="717" b="1">
                <a:solidFill>
                  <a:srgbClr val="00CD82"/>
                </a:solidFill>
              </a:rPr>
              <a:t>问界M7四驱版</a:t>
            </a:r>
            <a:r>
              <a:rPr sz="717" b="0">
                <a:solidFill>
                  <a:srgbClr val="4B5563"/>
                </a:solidFill>
              </a:rPr>
              <a:t>，配置全面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" y="5734050"/>
            <a:ext cx="10972525" cy="895350"/>
          </a:xfrm>
          <a:prstGeom prst="roundRect">
            <a:avLst>
              <a:gd name="adj" fmla="val 25531"/>
            </a:avLst>
          </a:prstGeom>
          <a:gradFill rotWithShape="1">
            <a:gsLst>
              <a:gs pos="0">
                <a:srgbClr val="F9FAFB"/>
              </a:gs>
              <a:gs pos="100000">
                <a:srgbClr val="FFFFFF"/>
              </a:gs>
            </a:gsLst>
            <a:lin scaled="0" ang="10800000"/>
          </a:gra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9604" y="6059260"/>
            <a:ext cx="285742" cy="2449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09644" y="5953124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6B7280"/>
                </a:solidFill>
              </a:rPr>
              <a:t>最终建议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9644" y="6181724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</a:rPr>
              <a:t>根据用车场景和预算需求，选择最适合的车型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7453" y="59340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小米SU7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7453" y="6124574"/>
            <a:ext cx="163825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33EFF"/>
                </a:solidFill>
              </a:rPr>
              <a:t>21.59-29.99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0009" y="5934075"/>
            <a:ext cx="9524" cy="38099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3831" y="593407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9CA3AF"/>
                </a:solidFill>
              </a:rPr>
              <a:t>问界M7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3831" y="6124574"/>
            <a:ext cx="163825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CD82"/>
                </a:solidFill>
              </a:rPr>
              <a:t>24.98-33.98</a:t>
            </a:r>
            <a:r>
              <a:rPr sz="956" b="1">
                <a:solidFill>
                  <a:srgbClr val="4B5563"/>
                </a:solidFill>
              </a:rPr>
              <a:t>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33E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857228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0CD8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476" y="1428750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133E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028" y="3047999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00CD8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8659" y="1600200"/>
            <a:ext cx="914377" cy="914400"/>
          </a:xfrm>
          <a:prstGeom prst="roundRect">
            <a:avLst>
              <a:gd name="adj" fmla="val 20831250"/>
            </a:avLst>
          </a:prstGeom>
          <a:gradFill rotWithShape="1">
            <a:gsLst>
              <a:gs pos="0">
                <a:srgbClr val="133EFF"/>
              </a:gs>
              <a:gs pos="100000">
                <a:srgbClr val="006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867253" y="1864894"/>
            <a:ext cx="457188" cy="3850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05192" y="2819399"/>
            <a:ext cx="359083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1F2937"/>
                </a:solidFill>
              </a:rPr>
              <a:t>感谢观看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262" y="3962399"/>
            <a:ext cx="121916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5192" y="4229100"/>
            <a:ext cx="35908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6B7280"/>
                </a:solidFill>
              </a:rPr>
              <a:t>THANK YOU FOR YOUR ATTENTION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48063" y="5060847"/>
            <a:ext cx="171445" cy="1272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5707" y="50292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</a:rPr>
              <a:t>contact@example.com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3016" y="5048250"/>
            <a:ext cx="9524" cy="152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5055316"/>
            <a:ext cx="171445" cy="13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14977" y="5029200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</a:rPr>
              <a:t>400-888-8888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33E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