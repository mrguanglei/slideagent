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2.png"/><Relationship Id="rId10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5.png"/><Relationship Id="rId7" Type="http://schemas.openxmlformats.org/officeDocument/2006/relationships/image" Target="../media/image4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21.png"/><Relationship Id="rId4" Type="http://schemas.openxmlformats.org/officeDocument/2006/relationships/image" Target="../media/image46.png"/><Relationship Id="rId5" Type="http://schemas.openxmlformats.org/officeDocument/2006/relationships/image" Target="../media/image52.png"/><Relationship Id="rId6" Type="http://schemas.openxmlformats.org/officeDocument/2006/relationships/image" Target="../media/image61.png"/><Relationship Id="rId7" Type="http://schemas.openxmlformats.org/officeDocument/2006/relationships/image" Target="../media/image65.png"/><Relationship Id="rId8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1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58.png"/><Relationship Id="rId8" Type="http://schemas.openxmlformats.org/officeDocument/2006/relationships/image" Target="../media/image62.png"/><Relationship Id="rId9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57.png"/><Relationship Id="rId4" Type="http://schemas.openxmlformats.org/officeDocument/2006/relationships/image" Target="../media/image69.png"/><Relationship Id="rId5" Type="http://schemas.openxmlformats.org/officeDocument/2006/relationships/image" Target="../media/image80.png"/><Relationship Id="rId6" Type="http://schemas.openxmlformats.org/officeDocument/2006/relationships/image" Target="../media/image8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Relationship Id="rId4" Type="http://schemas.openxmlformats.org/officeDocument/2006/relationships/image" Target="../media/image72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81.png"/><Relationship Id="rId8" Type="http://schemas.openxmlformats.org/officeDocument/2006/relationships/image" Target="../media/image83.png"/><Relationship Id="rId9" Type="http://schemas.openxmlformats.org/officeDocument/2006/relationships/image" Target="../media/image85.png"/><Relationship Id="rId10" Type="http://schemas.openxmlformats.org/officeDocument/2006/relationships/image" Target="../media/image8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7.png"/><Relationship Id="rId8" Type="http://schemas.openxmlformats.org/officeDocument/2006/relationships/image" Target="../media/image70.png"/><Relationship Id="rId9" Type="http://schemas.openxmlformats.org/officeDocument/2006/relationships/image" Target="../media/image75.jpg"/><Relationship Id="rId10" Type="http://schemas.openxmlformats.org/officeDocument/2006/relationships/image" Target="../media/image54.png"/><Relationship Id="rId11" Type="http://schemas.openxmlformats.org/officeDocument/2006/relationships/image" Target="../media/image79.png"/><Relationship Id="rId12" Type="http://schemas.openxmlformats.org/officeDocument/2006/relationships/image" Target="../media/image82.png"/><Relationship Id="rId13" Type="http://schemas.openxmlformats.org/officeDocument/2006/relationships/image" Target="../media/image84.png"/><Relationship Id="rId14" Type="http://schemas.openxmlformats.org/officeDocument/2006/relationships/image" Target="../media/image86.png"/><Relationship Id="rId15" Type="http://schemas.openxmlformats.org/officeDocument/2006/relationships/image" Target="../media/image89.png"/><Relationship Id="rId1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4.png"/><Relationship Id="rId5" Type="http://schemas.openxmlformats.org/officeDocument/2006/relationships/image" Target="../media/image71.png"/><Relationship Id="rId6" Type="http://schemas.openxmlformats.org/officeDocument/2006/relationships/image" Target="../media/image7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66.png"/><Relationship Id="rId6" Type="http://schemas.openxmlformats.org/officeDocument/2006/relationships/image" Target="../media/image73.jpg"/><Relationship Id="rId7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>
                  <a:alpha val="85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312E81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91535" y="596969"/>
            <a:ext cx="1142971" cy="86346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7188" y="5330894"/>
            <a:ext cx="1142971" cy="86346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629634" y="2928566"/>
            <a:ext cx="952476" cy="92466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62480" y="1694532"/>
            <a:ext cx="666733" cy="5352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1390" y="2667000"/>
            <a:ext cx="3428914" cy="733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FFFFFF"/>
                </a:solidFill>
              </a:rPr>
              <a:t>人工智能历史发展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2836" y="3790949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000599" y="3710827"/>
            <a:ext cx="190495" cy="17929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19689" y="3790949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390" y="4200525"/>
            <a:ext cx="342891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E5E7EB"/>
                </a:solidFill>
              </a:rPr>
              <a:t>从起源到现代的演进之路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81390" y="5033010"/>
            <a:ext cx="228594" cy="1257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6182" y="4962525"/>
            <a:ext cx="6476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70余年发展历程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8659" y="4981574"/>
            <a:ext cx="9524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952976" y="5013007"/>
            <a:ext cx="228594" cy="1657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57768" y="4962525"/>
            <a:ext cx="3714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多次技术突破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3551" y="4981574"/>
            <a:ext cx="9524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257868" y="5000148"/>
            <a:ext cx="228594" cy="1914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62660" y="4962525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未来可期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10424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5718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367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62060" y="266699"/>
            <a:ext cx="8667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266824"/>
            <a:ext cx="5333866" cy="160020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01" y="15811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57248" y="1858816"/>
            <a:ext cx="342891" cy="54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2080" y="1581149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080" y="1924049"/>
            <a:ext cx="38670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发展概述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080" y="2305049"/>
            <a:ext cx="386705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</a:rPr>
              <a:t>AI定义与70余年发展历程概览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243" y="1266824"/>
            <a:ext cx="5333866" cy="160020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62560" y="15811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95907" y="1764752"/>
            <a:ext cx="342891" cy="2423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0739" y="1581149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0739" y="1924049"/>
            <a:ext cx="38670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历史阶段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0739" y="2305049"/>
            <a:ext cx="386705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</a:rPr>
              <a:t>从起源到现代的六大发展阶段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3171825"/>
            <a:ext cx="5333866" cy="1676400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901" y="34861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57248" y="3699312"/>
            <a:ext cx="342891" cy="1832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62080" y="3486150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2080" y="3829050"/>
            <a:ext cx="38670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关键人物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2080" y="4210049"/>
            <a:ext cx="386705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</a:rPr>
              <a:t>AI领域先驱与领军者的贡献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243" y="3171825"/>
            <a:ext cx="5333866" cy="1676400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62560" y="34861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3647582"/>
            <a:ext cx="342891" cy="2867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00739" y="3486150"/>
            <a:ext cx="3867053" cy="1047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 </a:t>
            </a:r>
            <a:r>
              <a:rPr sz="1196" b="1">
                <a:solidFill>
                  <a:srgbClr val="22D3EE"/>
                </a:solidFill>
              </a:rPr>
              <a:t>04</a:t>
            </a:r>
            <a:r>
              <a:rPr sz="956" b="0">
                <a:solidFill>
                  <a:srgbClr val="000000"/>
                </a:solidFill>
              </a:rPr>
              <a:t> h3 class="body-font text-white font-semibold text-2xl mb-2"&gt;技术突破 </a:t>
            </a:r>
            <a:r>
              <a:rPr sz="956" b="0">
                <a:solidFill>
                  <a:srgbClr val="9CA3AF"/>
                </a:solidFill>
              </a:rPr>
              <a:t>里程碑事件与技术演进路径</a:t>
            </a:r>
            <a:r>
              <a:rPr sz="95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5153024"/>
            <a:ext cx="5333866" cy="160020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901" y="54673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57248" y="5650952"/>
            <a:ext cx="342891" cy="2423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62080" y="5467349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2D3EE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2080" y="5810249"/>
            <a:ext cx="38670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应用领域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080" y="6191250"/>
            <a:ext cx="386705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</a:rPr>
              <a:t>AI在各行业的创新应用实践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8243" y="5153024"/>
            <a:ext cx="5333866" cy="160020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62560" y="54673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5680512"/>
            <a:ext cx="342891" cy="18327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00739" y="5467349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2D3EE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0739" y="5810249"/>
            <a:ext cx="38670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未来展望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0739" y="6191250"/>
            <a:ext cx="386705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</a:rPr>
              <a:t>AI发展趋势与通用人工智能展望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3715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AI发展概述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744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76438" y="266699"/>
            <a:ext cx="28955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ARTIFICIAL INTELLIGENCE OVERVIEW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302119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266950"/>
            <a:ext cx="3809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AI定义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724150"/>
            <a:ext cx="365750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</a:rPr>
              <a:t> 使机器</a:t>
            </a:r>
            <a:r>
              <a:rPr sz="1196" b="0">
                <a:solidFill>
                  <a:srgbClr val="22D3EE"/>
                </a:solidFill>
              </a:rPr>
              <a:t>模拟人类智能</a:t>
            </a:r>
            <a:r>
              <a:rPr sz="1196" b="0">
                <a:solidFill>
                  <a:srgbClr val="D1D5DB"/>
                </a:solidFill>
              </a:rPr>
              <a:t>的技术，包括学习、推理、问题解决与决策能力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3562349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840040"/>
            <a:ext cx="304792" cy="2256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674" y="3800475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发展特点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257675"/>
            <a:ext cx="3238419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</a:t>
            </a:r>
            <a:r>
              <a:rPr sz="1076" b="0">
                <a:solidFill>
                  <a:srgbClr val="22D3EE"/>
                </a:solidFill>
              </a:rPr>
              <a:t>•</a:t>
            </a:r>
            <a:r>
              <a:rPr sz="1076" b="0">
                <a:solidFill>
                  <a:srgbClr val="D1D5DB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70余年</a:t>
            </a:r>
            <a:r>
              <a:rPr sz="1076" b="0">
                <a:solidFill>
                  <a:srgbClr val="D1D5DB"/>
                </a:solidFill>
              </a:rPr>
              <a:t>发展历程</a:t>
            </a:r>
            <a:r>
              <a:rPr sz="107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676775"/>
            <a:ext cx="3238419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</a:t>
            </a:r>
            <a:r>
              <a:rPr sz="1076" b="0">
                <a:solidFill>
                  <a:srgbClr val="22D3EE"/>
                </a:solidFill>
              </a:rPr>
              <a:t>•</a:t>
            </a:r>
            <a:r>
              <a:rPr sz="1076" b="0">
                <a:solidFill>
                  <a:srgbClr val="D1D5DB"/>
                </a:solidFill>
              </a:rPr>
              <a:t> </a:t>
            </a:r>
            <a:r>
              <a:rPr sz="1076" b="0">
                <a:solidFill>
                  <a:srgbClr val="D1D5DB"/>
                </a:solidFill>
              </a:rPr>
              <a:t>多次技术</a:t>
            </a:r>
            <a:r>
              <a:rPr sz="1076" b="0">
                <a:solidFill>
                  <a:srgbClr val="FFFFFF"/>
                </a:solidFill>
              </a:rPr>
              <a:t>突破与低谷</a:t>
            </a:r>
            <a:r>
              <a:rPr sz="107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5095874"/>
            <a:ext cx="3238419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</a:t>
            </a:r>
            <a:r>
              <a:rPr sz="1076" b="0">
                <a:solidFill>
                  <a:srgbClr val="22D3EE"/>
                </a:solidFill>
              </a:rPr>
              <a:t>•</a:t>
            </a:r>
            <a:r>
              <a:rPr sz="1076" b="0">
                <a:solidFill>
                  <a:srgbClr val="D1D5DB"/>
                </a:solidFill>
              </a:rPr>
              <a:t> </a:t>
            </a:r>
            <a:r>
              <a:rPr sz="1076" b="0">
                <a:solidFill>
                  <a:srgbClr val="D1D5DB"/>
                </a:solidFill>
              </a:rPr>
              <a:t>从</a:t>
            </a:r>
            <a:r>
              <a:rPr sz="1076" b="0">
                <a:solidFill>
                  <a:srgbClr val="FFFFFF"/>
                </a:solidFill>
              </a:rPr>
              <a:t>符号主义</a:t>
            </a:r>
            <a:r>
              <a:rPr sz="1076" b="0">
                <a:solidFill>
                  <a:srgbClr val="D1D5DB"/>
                </a:solidFill>
              </a:rPr>
              <a:t>到</a:t>
            </a:r>
            <a:r>
              <a:rPr sz="1076" b="0">
                <a:solidFill>
                  <a:srgbClr val="FFFFFF"/>
                </a:solidFill>
              </a:rPr>
              <a:t>深度学习</a:t>
            </a:r>
            <a:r>
              <a:rPr sz="107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6" y="1114425"/>
            <a:ext cx="64006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22D3EE"/>
                </a:solidFill>
              </a:rPr>
              <a:t>发展历程时间轴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3866" y="1647825"/>
            <a:ext cx="6400639" cy="4905375"/>
          </a:xfrm>
          <a:prstGeom prst="roundRect">
            <a:avLst>
              <a:gd name="adj" fmla="val 4660"/>
            </a:avLst>
          </a:prstGeom>
          <a:gradFill rotWithShape="1">
            <a:gsLst>
              <a:gs pos="0">
                <a:srgbClr val="1E293B">
                  <a:alpha val="30000"/>
                </a:srgbClr>
              </a:gs>
              <a:gs pos="100000">
                <a:srgbClr val="0F172A">
                  <a:alpha val="3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1985" y="1885950"/>
            <a:ext cx="5924401" cy="4000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20668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早期探索与理论基础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5052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71745" y="266699"/>
            <a:ext cx="51719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EARLY EXPLORATION &amp; THEORETICAL FOUNDATION (1940s-1950s)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91886"/>
            <a:ext cx="304792" cy="216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447924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理论基础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905124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奠定人工智能发展的</a:t>
            </a:r>
            <a:r>
              <a:rPr sz="1076" b="0">
                <a:solidFill>
                  <a:srgbClr val="22D3EE"/>
                </a:solidFill>
              </a:rPr>
              <a:t>核心理论框架</a:t>
            </a:r>
            <a:r>
              <a:rPr sz="1076" b="0">
                <a:solidFill>
                  <a:srgbClr val="D1D5DB"/>
                </a:solidFill>
              </a:rPr>
              <a:t>，为后续研究指明方向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3609975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837539"/>
            <a:ext cx="266693" cy="211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3809999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理论框架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229100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符号主义</a:t>
            </a:r>
            <a:r>
              <a:rPr sz="956" b="0">
                <a:solidFill>
                  <a:srgbClr val="D1D5DB"/>
                </a:solidFill>
              </a:rPr>
              <a:t>：用符号表示知识和推理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591050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连接主义</a:t>
            </a:r>
            <a:r>
              <a:rPr sz="956" b="0">
                <a:solidFill>
                  <a:srgbClr val="D1D5DB"/>
                </a:solidFill>
              </a:rPr>
              <a:t>：模拟生物神经网络结构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4952999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图灵测试</a:t>
            </a:r>
            <a:r>
              <a:rPr sz="956" b="0">
                <a:solidFill>
                  <a:srgbClr val="D1D5DB"/>
                </a:solidFill>
              </a:rPr>
              <a:t>：智能评判标准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6" y="1790700"/>
            <a:ext cx="6400639" cy="1238249"/>
          </a:xfrm>
          <a:prstGeom prst="roundRect">
            <a:avLst>
              <a:gd name="adj" fmla="val 1846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1985" y="2019299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6758" y="2247899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</a:rPr>
              <a:t>1950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461" y="2019299"/>
            <a:ext cx="44385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图灵测试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461" y="2362199"/>
            <a:ext cx="44385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阿兰·图灵提出机器智能评判标准，为AI研究奠定基础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53496" y="2172028"/>
            <a:ext cx="342891" cy="26604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333866" y="3219449"/>
            <a:ext cx="6400639" cy="1238249"/>
          </a:xfrm>
          <a:prstGeom prst="roundRect">
            <a:avLst>
              <a:gd name="adj" fmla="val 1846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71985" y="3448049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76758" y="3676649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</a:rPr>
              <a:t>1949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461" y="3448049"/>
            <a:ext cx="44385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人工神经网络概念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461" y="3790949"/>
            <a:ext cx="44385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Donald Hebb首次提出基于神经心理学的神经网络学习规则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53496" y="3600778"/>
            <a:ext cx="342891" cy="266043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333866" y="4648200"/>
            <a:ext cx="6400639" cy="1238249"/>
          </a:xfrm>
          <a:prstGeom prst="roundRect">
            <a:avLst>
              <a:gd name="adj" fmla="val 1846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1985" y="4876800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76758" y="51054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</a:rPr>
              <a:t>1957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461" y="4876800"/>
            <a:ext cx="44385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感知机模型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461" y="5219700"/>
            <a:ext cx="44385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Frank Rosenblatt开发感知机，首个人工神经网络雏形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153496" y="5029528"/>
            <a:ext cx="342891" cy="2660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22954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形成阶段与第一次浪潮</a:t>
            </a:r>
          </a:p>
        </p:txBody>
      </p:sp>
      <p:sp>
        <p:nvSpPr>
          <p:cNvPr id="4" name="Rectangle 3"/>
          <p:cNvSpPr/>
          <p:nvPr/>
        </p:nvSpPr>
        <p:spPr>
          <a:xfrm>
            <a:off x="3133646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00339" y="266699"/>
            <a:ext cx="31622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FORMATION &amp; FIRST WAVE (1956-1970s)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085242"/>
            <a:ext cx="304792" cy="287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076449"/>
            <a:ext cx="4667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AI的诞生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2571750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19" y="2533649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1956年</a:t>
            </a:r>
            <a:r>
              <a:rPr sz="1076" b="0">
                <a:solidFill>
                  <a:srgbClr val="22D3EE"/>
                </a:solidFill>
              </a:rPr>
              <a:t>达特茅斯会议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2952750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19" y="2914650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"人工智能"概念</a:t>
            </a:r>
            <a:r>
              <a:rPr sz="1076" b="0">
                <a:solidFill>
                  <a:srgbClr val="22D3EE"/>
                </a:solidFill>
              </a:rPr>
              <a:t>首次正式提出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3333749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19" y="3295650"/>
            <a:ext cx="7810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确立AI作为</a:t>
            </a:r>
            <a:r>
              <a:rPr sz="1076" b="0">
                <a:solidFill>
                  <a:srgbClr val="22D3EE"/>
                </a:solidFill>
              </a:rPr>
              <a:t>独立学科</a:t>
            </a:r>
            <a:r>
              <a:rPr sz="1076" b="0">
                <a:solidFill>
                  <a:srgbClr val="D1D5DB"/>
                </a:solidFill>
              </a:rPr>
              <a:t>地位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" y="3981449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4242352"/>
            <a:ext cx="266693" cy="1449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575" y="4181474"/>
            <a:ext cx="4857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第一次黄金时代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674" y="46005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符号主义</a:t>
            </a:r>
            <a:r>
              <a:rPr sz="956" b="0">
                <a:solidFill>
                  <a:srgbClr val="D1D5DB"/>
                </a:solidFill>
              </a:rPr>
              <a:t>成为主导范式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674" y="496252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机器定理证明、跳棋程序等突破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674" y="5324474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AI进入</a:t>
            </a:r>
            <a:r>
              <a:rPr sz="956" b="0">
                <a:solidFill>
                  <a:srgbClr val="FFFFFF"/>
                </a:solidFill>
              </a:rPr>
              <a:t>实验室应用</a:t>
            </a:r>
            <a:r>
              <a:rPr sz="956" b="0">
                <a:solidFill>
                  <a:srgbClr val="D1D5DB"/>
                </a:solidFill>
              </a:rPr>
              <a:t>阶段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3866" y="1962149"/>
            <a:ext cx="6400639" cy="1333500"/>
          </a:xfrm>
          <a:prstGeom prst="roundRect">
            <a:avLst>
              <a:gd name="adj" fmla="val 17142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43411" y="2171700"/>
            <a:ext cx="914377" cy="914400"/>
          </a:xfrm>
          <a:prstGeom prst="roundRect">
            <a:avLst>
              <a:gd name="adj" fmla="val 16666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7708" y="245745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</a:rPr>
              <a:t>1956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184" y="2305049"/>
            <a:ext cx="43813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达特茅斯会议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184" y="2686050"/>
            <a:ext cx="438139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人工智能学科正式诞生，麦卡锡、明斯基等先驱奠定基础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43971" y="2489001"/>
            <a:ext cx="380990" cy="27979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333866" y="3448049"/>
            <a:ext cx="3124121" cy="1123949"/>
          </a:xfrm>
          <a:prstGeom prst="roundRect">
            <a:avLst>
              <a:gd name="adj" fmla="val 2033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33886" y="36385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0084" y="38099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</a:rPr>
              <a:t>1966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7768" y="3695699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ELIZA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7768" y="4000500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首台聊天机器人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0384" y="3448049"/>
            <a:ext cx="3124121" cy="1123949"/>
          </a:xfrm>
          <a:prstGeom prst="roundRect">
            <a:avLst>
              <a:gd name="adj" fmla="val 2033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10404" y="36385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62800" y="3807069"/>
            <a:ext cx="304792" cy="27256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34286" y="3695699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早期成就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4286" y="4000500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定理证明、跳棋程序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33866" y="4724399"/>
            <a:ext cx="6400639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533886" y="4976446"/>
            <a:ext cx="304792" cy="2579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91075" y="4914900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研究特点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91075" y="5257800"/>
            <a:ext cx="139061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聚焦</a:t>
            </a:r>
            <a:r>
              <a:rPr sz="956" b="0">
                <a:solidFill>
                  <a:srgbClr val="22D3EE"/>
                </a:solidFill>
              </a:rPr>
              <a:t>符号逻辑</a:t>
            </a:r>
            <a:r>
              <a:rPr sz="956" b="0">
                <a:solidFill>
                  <a:srgbClr val="D1D5DB"/>
                </a:solidFill>
              </a:rPr>
              <a:t>与基础理论，通过规则和逻辑实现智能模拟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3810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反思与低谷期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744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76438" y="266699"/>
            <a:ext cx="31050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REFLECTION &amp; FIRST AI WINTER (1970s)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71371"/>
            <a:ext cx="304792" cy="2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447924"/>
            <a:ext cx="6381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第一次AI寒冬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905124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早期</a:t>
            </a:r>
            <a:r>
              <a:rPr sz="1076" b="0">
                <a:solidFill>
                  <a:srgbClr val="22D3EE"/>
                </a:solidFill>
              </a:rPr>
              <a:t>过度乐观</a:t>
            </a:r>
            <a:r>
              <a:rPr sz="1076" b="0">
                <a:solidFill>
                  <a:srgbClr val="D1D5DB"/>
                </a:solidFill>
              </a:rPr>
              <a:t>的期望遭遇现实，AI发展进入</a:t>
            </a:r>
            <a:r>
              <a:rPr sz="1076" b="0">
                <a:solidFill>
                  <a:srgbClr val="22D3EE"/>
                </a:solidFill>
              </a:rPr>
              <a:t>低谷</a:t>
            </a:r>
            <a:r>
              <a:rPr sz="107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3609975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820146"/>
            <a:ext cx="266693" cy="2464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3809999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根本原因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229100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目标设定</a:t>
            </a:r>
            <a:r>
              <a:rPr sz="956" b="0">
                <a:solidFill>
                  <a:srgbClr val="FFFFFF"/>
                </a:solidFill>
              </a:rPr>
              <a:t>过于理想化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591050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计算能力</a:t>
            </a:r>
            <a:r>
              <a:rPr sz="956" b="0">
                <a:solidFill>
                  <a:srgbClr val="D1D5DB"/>
                </a:solidFill>
              </a:rPr>
              <a:t>严重不足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4952999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训练数据</a:t>
            </a:r>
            <a:r>
              <a:rPr sz="956" b="0">
                <a:solidFill>
                  <a:srgbClr val="D1D5DB"/>
                </a:solidFill>
              </a:rPr>
              <a:t>极度稀缺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6" y="1904999"/>
            <a:ext cx="3124121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533886" y="2165838"/>
            <a:ext cx="304792" cy="1641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52976" y="2114550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资金削减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3886" y="251460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政府和机构大幅减少AI研究资助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0384" y="1904999"/>
            <a:ext cx="3124121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810404" y="2118946"/>
            <a:ext cx="304792" cy="2579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29494" y="2114550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项目停滞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0404" y="251460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多数AI项目被迫中止或取消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3866" y="3143250"/>
            <a:ext cx="6400639" cy="148590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F97316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581510" y="3420665"/>
            <a:ext cx="380990" cy="321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14897" y="3429000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技术瓶颈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4897" y="3962399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B923C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3924299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</a:rPr>
              <a:t>计算能力不足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4190999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硬件性能远未达到需求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7078" y="3962399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B923C"/>
                </a:solidFill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0424" y="3924299"/>
            <a:ext cx="438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</a:rPr>
              <a:t>数据稀缺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0424" y="4190999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缺乏大规模训练数据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3866" y="4781549"/>
            <a:ext cx="6400639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33886" y="5054111"/>
            <a:ext cx="304792" cy="2168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91075" y="4972050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反思与转向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1075" y="5314950"/>
            <a:ext cx="14763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学界重新审视</a:t>
            </a:r>
            <a:r>
              <a:rPr sz="956" b="0">
                <a:solidFill>
                  <a:srgbClr val="22D3EE"/>
                </a:solidFill>
              </a:rPr>
              <a:t>AI可行性</a:t>
            </a:r>
            <a:r>
              <a:rPr sz="956" b="0">
                <a:solidFill>
                  <a:srgbClr val="D1D5DB"/>
                </a:solidFill>
              </a:rPr>
              <a:t>，转向更务实、更具体的应用方向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20668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应用发展与专家系统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5052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71745" y="266699"/>
            <a:ext cx="50100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APPLICATION DEVELOPMENT &amp; EXPERT SYSTEMS (1970s-1980s)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83094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447924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AI走向应用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905124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人工智能从</a:t>
            </a:r>
            <a:r>
              <a:rPr sz="1076" b="0">
                <a:solidFill>
                  <a:srgbClr val="22D3EE"/>
                </a:solidFill>
              </a:rPr>
              <a:t>理论研究</a:t>
            </a:r>
            <a:r>
              <a:rPr sz="1076" b="0">
                <a:solidFill>
                  <a:srgbClr val="D1D5DB"/>
                </a:solidFill>
              </a:rPr>
              <a:t>转向</a:t>
            </a:r>
            <a:r>
              <a:rPr sz="1076" b="0">
                <a:solidFill>
                  <a:srgbClr val="22D3EE"/>
                </a:solidFill>
              </a:rPr>
              <a:t>实际应用</a:t>
            </a:r>
            <a:r>
              <a:rPr sz="1076" b="0">
                <a:solidFill>
                  <a:srgbClr val="D1D5DB"/>
                </a:solidFill>
              </a:rPr>
              <a:t>，开始解决真实世界的复杂问题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3609975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824494"/>
            <a:ext cx="266693" cy="237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3809999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专家系统特点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229100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基于</a:t>
            </a:r>
            <a:r>
              <a:rPr sz="956" b="0">
                <a:solidFill>
                  <a:srgbClr val="FFFFFF"/>
                </a:solidFill>
              </a:rPr>
              <a:t>知识库</a:t>
            </a:r>
            <a:r>
              <a:rPr sz="956" b="0">
                <a:solidFill>
                  <a:srgbClr val="D1D5DB"/>
                </a:solidFill>
              </a:rPr>
              <a:t>和推理引擎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591050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模拟</a:t>
            </a:r>
            <a:r>
              <a:rPr sz="956" b="0">
                <a:solidFill>
                  <a:srgbClr val="FFFFFF"/>
                </a:solidFill>
              </a:rPr>
              <a:t>人类专家</a:t>
            </a:r>
            <a:r>
              <a:rPr sz="956" b="0">
                <a:solidFill>
                  <a:srgbClr val="D1D5DB"/>
                </a:solidFill>
              </a:rPr>
              <a:t>决策过程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4952999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在</a:t>
            </a:r>
            <a:r>
              <a:rPr sz="956" b="0">
                <a:solidFill>
                  <a:srgbClr val="FFFFFF"/>
                </a:solidFill>
              </a:rPr>
              <a:t>专业领域</a:t>
            </a:r>
            <a:r>
              <a:rPr sz="956" b="0">
                <a:solidFill>
                  <a:srgbClr val="D1D5DB"/>
                </a:solidFill>
              </a:rPr>
              <a:t>取得成功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6" y="2019299"/>
            <a:ext cx="6400639" cy="1333500"/>
          </a:xfrm>
          <a:prstGeom prst="roundRect">
            <a:avLst>
              <a:gd name="adj" fmla="val 17142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3411" y="2228850"/>
            <a:ext cx="914377" cy="914400"/>
          </a:xfrm>
          <a:prstGeom prst="roundRect">
            <a:avLst>
              <a:gd name="adj" fmla="val 16666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7708" y="251460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</a:rPr>
              <a:t>1980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184" y="2362199"/>
            <a:ext cx="43813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XCON专家系统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184" y="2743200"/>
            <a:ext cx="438139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卡内基梅隆大学开发，用于计算机配置，AI商业化里程碑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43971" y="2532757"/>
            <a:ext cx="380990" cy="30658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333866" y="3505199"/>
            <a:ext cx="3124121" cy="1009649"/>
          </a:xfrm>
          <a:prstGeom prst="roundRect">
            <a:avLst>
              <a:gd name="adj" fmla="val 2264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533886" y="3826119"/>
            <a:ext cx="304792" cy="2344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52976" y="3695699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MYCIN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976" y="4000500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医疗诊断专家系统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0384" y="3505199"/>
            <a:ext cx="3124121" cy="1009649"/>
          </a:xfrm>
          <a:prstGeom prst="roundRect">
            <a:avLst>
              <a:gd name="adj" fmla="val 2264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810404" y="3814396"/>
            <a:ext cx="304792" cy="2579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29494" y="3695699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DENDRAL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9494" y="4000500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化学结构分析系统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3866" y="4667249"/>
            <a:ext cx="6400639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33886" y="4919296"/>
            <a:ext cx="304792" cy="2579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91075" y="485775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应用领域扩展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1075" y="5200650"/>
            <a:ext cx="144776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工业生产、医疗诊断、金融分析、地质勘探</a:t>
            </a:r>
            <a:r>
              <a:rPr sz="956" b="0">
                <a:solidFill>
                  <a:srgbClr val="D1D5DB"/>
                </a:solidFill>
              </a:rPr>
              <a:t>等领域成功部署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8382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第二次低谷与反思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676458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3151" y="266699"/>
            <a:ext cx="40099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SECOND AI WINTER &amp; REFLECTION (1980s末-1990s初)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296257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266950"/>
            <a:ext cx="5048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专家系统局限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724150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专家系统在</a:t>
            </a:r>
            <a:r>
              <a:rPr sz="1076" b="0">
                <a:solidFill>
                  <a:srgbClr val="22D3EE"/>
                </a:solidFill>
              </a:rPr>
              <a:t>特定领域</a:t>
            </a:r>
            <a:r>
              <a:rPr sz="1076" b="0">
                <a:solidFill>
                  <a:srgbClr val="D1D5DB"/>
                </a:solidFill>
              </a:rPr>
              <a:t>取得成功，但</a:t>
            </a:r>
            <a:r>
              <a:rPr sz="1076" b="0">
                <a:solidFill>
                  <a:srgbClr val="22D3EE"/>
                </a:solidFill>
              </a:rPr>
              <a:t>应用范围狭窄</a:t>
            </a:r>
            <a:r>
              <a:rPr sz="1076" b="0">
                <a:solidFill>
                  <a:srgbClr val="D1D5DB"/>
                </a:solidFill>
              </a:rPr>
              <a:t>且缺乏通用能力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3429000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653665"/>
            <a:ext cx="266693" cy="2174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3629025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核心问题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048124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应用领域狭窄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410074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缺乏</a:t>
            </a:r>
            <a:r>
              <a:rPr sz="956" b="0">
                <a:solidFill>
                  <a:srgbClr val="FFFFFF"/>
                </a:solidFill>
              </a:rPr>
              <a:t>常识性知识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477202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知识获取</a:t>
            </a:r>
            <a:r>
              <a:rPr sz="956" b="0">
                <a:solidFill>
                  <a:srgbClr val="D1D5DB"/>
                </a:solidFill>
              </a:rPr>
              <a:t>困难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674" y="51339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D1D5DB"/>
                </a:solidFill>
              </a:rPr>
              <a:t>推理方法单一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3866" y="1600200"/>
            <a:ext cx="3124121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F97316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533886" y="1880088"/>
            <a:ext cx="304792" cy="1641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52976" y="1828800"/>
            <a:ext cx="3143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第二次寒冬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3886" y="222885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1980年代末至1990年代初AI再次遭遇低谷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0384" y="1600200"/>
            <a:ext cx="3124121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810404" y="1833196"/>
            <a:ext cx="304792" cy="2579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29494" y="1828800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发展放缓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0404" y="222885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研究投入减少，项目停滞不前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3866" y="2838450"/>
            <a:ext cx="6400639" cy="2076449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571985" y="3130748"/>
            <a:ext cx="380990" cy="2917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05372" y="3124200"/>
            <a:ext cx="4190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反思与转向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5372" y="3657600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719" y="3619499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</a:rPr>
              <a:t>方法论转变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719" y="3886200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从符号主义向连接主义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7078" y="3657600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0424" y="3619499"/>
            <a:ext cx="5810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</a:rPr>
              <a:t>务实发展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0424" y="3886200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关注实际应用而非通用智能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5372" y="4267199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8719" y="4229100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</a:rPr>
              <a:t>重视数据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719" y="4495799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数据驱动方法开始兴起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7078" y="4267199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0424" y="4229100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</a:rPr>
              <a:t>等待时机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0424" y="4495799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等待算力和数据的突破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33866" y="5067299"/>
            <a:ext cx="6400639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33886" y="5338396"/>
            <a:ext cx="304792" cy="2579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91075" y="5276850"/>
            <a:ext cx="21430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为第三次浪潮做准备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1075" y="5619750"/>
            <a:ext cx="214307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尽管遭遇挫折，但AI研究并未停滞，为</a:t>
            </a:r>
            <a:r>
              <a:rPr sz="956" b="0">
                <a:solidFill>
                  <a:srgbClr val="22D3EE"/>
                </a:solidFill>
              </a:rPr>
              <a:t>神经网络复兴</a:t>
            </a:r>
            <a:r>
              <a:rPr sz="956" b="0">
                <a:solidFill>
                  <a:srgbClr val="D1D5DB"/>
                </a:solidFill>
              </a:rPr>
              <a:t>和</a:t>
            </a:r>
            <a:r>
              <a:rPr sz="956" b="0">
                <a:solidFill>
                  <a:srgbClr val="22D3EE"/>
                </a:solidFill>
              </a:rPr>
              <a:t>深度学习时代</a:t>
            </a:r>
            <a:r>
              <a:rPr sz="956" b="0">
                <a:solidFill>
                  <a:srgbClr val="D1D5DB"/>
                </a:solidFill>
              </a:rPr>
              <a:t>的到来奠定基础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6096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深度学习的崛起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2447863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4557" y="266699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RISE OF DEEP LEARNING (1990s-2010s)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139336"/>
            <a:ext cx="304792" cy="254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1114425"/>
            <a:ext cx="4190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第三次浪潮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533525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深度学习引发</a:t>
            </a:r>
            <a:r>
              <a:rPr sz="1076" b="0">
                <a:solidFill>
                  <a:srgbClr val="22D3EE"/>
                </a:solidFill>
              </a:rPr>
              <a:t>AI革命</a:t>
            </a:r>
            <a:r>
              <a:rPr sz="1076" b="0">
                <a:solidFill>
                  <a:srgbClr val="D1D5DB"/>
                </a:solidFill>
              </a:rPr>
              <a:t>，神经网络研究迎来</a:t>
            </a:r>
            <a:r>
              <a:rPr sz="1076" b="0">
                <a:solidFill>
                  <a:srgbClr val="22D3EE"/>
                </a:solidFill>
              </a:rPr>
              <a:t>黄金时代</a:t>
            </a:r>
            <a:r>
              <a:rPr sz="107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2152650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2375452"/>
            <a:ext cx="266693" cy="144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2314575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关键突破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26955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算力提升</a:t>
            </a:r>
            <a:r>
              <a:rPr sz="956" b="0">
                <a:solidFill>
                  <a:srgbClr val="D1D5DB"/>
                </a:solidFill>
              </a:rPr>
              <a:t>：GPU加速计算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30384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大数据</a:t>
            </a:r>
            <a:r>
              <a:rPr sz="956" b="0">
                <a:solidFill>
                  <a:srgbClr val="D1D5DB"/>
                </a:solidFill>
              </a:rPr>
              <a:t>：大规模数据集出现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33813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算法创新</a:t>
            </a:r>
            <a:r>
              <a:rPr sz="956" b="0">
                <a:solidFill>
                  <a:srgbClr val="D1D5DB"/>
                </a:solidFill>
              </a:rPr>
              <a:t>：深度网络训练方法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838699"/>
            <a:ext cx="3657508" cy="1714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33866" y="1333500"/>
            <a:ext cx="6400639" cy="1333500"/>
          </a:xfrm>
          <a:prstGeom prst="roundRect">
            <a:avLst>
              <a:gd name="adj" fmla="val 17142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43411" y="1543050"/>
            <a:ext cx="914377" cy="914400"/>
          </a:xfrm>
          <a:prstGeom prst="roundRect">
            <a:avLst>
              <a:gd name="adj" fmla="val 16666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7708" y="182880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</a:rPr>
              <a:t>1997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184" y="1695449"/>
            <a:ext cx="43813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IBM深蓝击败国际象棋冠军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184" y="2076449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战胜世界冠军卡斯帕罗夫，AI在复杂策略游戏中取得重大突破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43971" y="1854398"/>
            <a:ext cx="380990" cy="291703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333866" y="2819399"/>
            <a:ext cx="3124121" cy="1123949"/>
          </a:xfrm>
          <a:prstGeom prst="roundRect">
            <a:avLst>
              <a:gd name="adj" fmla="val 2033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33886" y="30289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2460" y="318135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</a:rPr>
              <a:t>2006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7768" y="3086100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深度学习概念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7768" y="3390899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Geoffrey Hinton提出深度学习理论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10384" y="2819399"/>
            <a:ext cx="3124121" cy="1123949"/>
          </a:xfrm>
          <a:prstGeom prst="roundRect">
            <a:avLst>
              <a:gd name="adj" fmla="val 20338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10404" y="30289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8979" y="318135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</a:rPr>
              <a:t>2012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4286" y="3086100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AlexNet突破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4286" y="3390899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ImageNet竞赛获胜，深度学习时代到来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3866" y="4095749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95787" y="4287492"/>
            <a:ext cx="266693" cy="2261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76778" y="4267199"/>
            <a:ext cx="3619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CNN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5787" y="461009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卷积神经网络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787" y="483869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图像识别突破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10384" y="4095749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72305" y="4275896"/>
            <a:ext cx="266693" cy="24930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53296" y="4267199"/>
            <a:ext cx="3524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RNN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2305" y="461009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循环神经网络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2305" y="483869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序列处理创新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3866" y="5334000"/>
            <a:ext cx="6400639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533886" y="5621215"/>
            <a:ext cx="304792" cy="22566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991075" y="5543550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技术影响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1075" y="5886450"/>
            <a:ext cx="26383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深度学习在</a:t>
            </a:r>
            <a:r>
              <a:rPr sz="956" b="0">
                <a:solidFill>
                  <a:srgbClr val="22D3EE"/>
                </a:solidFill>
              </a:rPr>
              <a:t>计算机视觉、自然语言处理、语音识别</a:t>
            </a:r>
            <a:r>
              <a:rPr sz="956" b="0">
                <a:solidFill>
                  <a:srgbClr val="D1D5DB"/>
                </a:solidFill>
              </a:rPr>
              <a:t>等领域取得巨大成功，推动AI技术</a:t>
            </a:r>
            <a:r>
              <a:rPr sz="956" b="0">
                <a:solidFill>
                  <a:srgbClr val="22D3EE"/>
                </a:solidFill>
              </a:rPr>
              <a:t>实用化、商业化</a:t>
            </a:r>
            <a:r>
              <a:rPr sz="956" b="0">
                <a:solidFill>
                  <a:srgbClr val="D1D5DB"/>
                </a:solidFill>
              </a:rPr>
              <a:t>进程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2671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现代AI突破：从AlphaGo到ChatGPT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05372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65" y="266699"/>
            <a:ext cx="32574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MODERN AI BREAKTHROUGH (2016-2022)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123217"/>
            <a:ext cx="304792" cy="287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1114425"/>
            <a:ext cx="6381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生成式AI时代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533525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AI从</a:t>
            </a:r>
            <a:r>
              <a:rPr sz="1076" b="0">
                <a:solidFill>
                  <a:srgbClr val="22D3EE"/>
                </a:solidFill>
              </a:rPr>
              <a:t>专用工具</a:t>
            </a:r>
            <a:r>
              <a:rPr sz="1076" b="0">
                <a:solidFill>
                  <a:srgbClr val="D1D5DB"/>
                </a:solidFill>
              </a:rPr>
              <a:t>转向</a:t>
            </a:r>
            <a:r>
              <a:rPr sz="1076" b="0">
                <a:solidFill>
                  <a:srgbClr val="22D3EE"/>
                </a:solidFill>
              </a:rPr>
              <a:t>通用智能伙伴</a:t>
            </a:r>
            <a:r>
              <a:rPr sz="1076" b="0">
                <a:solidFill>
                  <a:srgbClr val="D1D5DB"/>
                </a:solidFill>
              </a:rPr>
              <a:t>，引发全球AI热潮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2152650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2375452"/>
            <a:ext cx="266693" cy="144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2314575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核心突破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26955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强化学习</a:t>
            </a:r>
            <a:r>
              <a:rPr sz="956" b="0">
                <a:solidFill>
                  <a:srgbClr val="D1D5DB"/>
                </a:solidFill>
              </a:rPr>
              <a:t>：AlphaGo展现策略游戏超人类能力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30384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大模型</a:t>
            </a:r>
            <a:r>
              <a:rPr sz="956" b="0">
                <a:solidFill>
                  <a:srgbClr val="D1D5DB"/>
                </a:solidFill>
              </a:rPr>
              <a:t>：GPT系列推动自然语言处理革命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3381375"/>
            <a:ext cx="323841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22D3EE"/>
                </a:solidFill>
              </a:rPr>
              <a:t>•</a:t>
            </a:r>
            <a:r>
              <a:rPr sz="956" b="0">
                <a:solidFill>
                  <a:srgbClr val="D1D5DB"/>
                </a:solidFill>
              </a:rPr>
              <a:t> </a:t>
            </a:r>
            <a:r>
              <a:rPr sz="956" b="0">
                <a:solidFill>
                  <a:srgbClr val="FFFFFF"/>
                </a:solidFill>
              </a:rPr>
              <a:t>多模态</a:t>
            </a:r>
            <a:r>
              <a:rPr sz="956" b="0">
                <a:solidFill>
                  <a:srgbClr val="D1D5DB"/>
                </a:solidFill>
              </a:rPr>
              <a:t>：文本、图像、音频融合理解</a:t>
            </a:r>
            <a:r>
              <a:rPr sz="956" b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5124449"/>
            <a:ext cx="3657508" cy="142875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33866" y="1352549"/>
            <a:ext cx="6400639" cy="1333500"/>
          </a:xfrm>
          <a:prstGeom prst="roundRect">
            <a:avLst>
              <a:gd name="adj" fmla="val 17142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43411" y="1562100"/>
            <a:ext cx="914377" cy="914400"/>
          </a:xfrm>
          <a:prstGeom prst="roundRect">
            <a:avLst>
              <a:gd name="adj" fmla="val 16666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7708" y="1847849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</a:rPr>
              <a:t>2016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184" y="1714500"/>
            <a:ext cx="43813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AlphaGo击败围棋世界冠军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184" y="2095499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DeepMind的AlphaGo战胜李世石，AI在复杂策略游戏中取得历史性突破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43971" y="1873448"/>
            <a:ext cx="380990" cy="291703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333866" y="2838450"/>
            <a:ext cx="6400639" cy="1333500"/>
          </a:xfrm>
          <a:prstGeom prst="roundRect">
            <a:avLst>
              <a:gd name="adj" fmla="val 17142"/>
            </a:avLst>
          </a:prstGeom>
          <a:gradFill rotWithShape="1">
            <a:gsLst>
              <a:gs pos="0">
                <a:srgbClr val="A855F7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43411" y="3047999"/>
            <a:ext cx="914377" cy="914400"/>
          </a:xfrm>
          <a:prstGeom prst="roundRect">
            <a:avLst>
              <a:gd name="adj" fmla="val 16666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7708" y="3333749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C084FC"/>
                </a:solidFill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0184" y="3200400"/>
            <a:ext cx="43813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</a:rPr>
              <a:t>ChatGPT引发全球热潮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184" y="3581400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OpenAI发布ChatGPT，2个月月活用户破亿，生成式AI走进千家万户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143971" y="3344465"/>
            <a:ext cx="380990" cy="32146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333866" y="4324349"/>
            <a:ext cx="3124121" cy="85725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495787" y="4514435"/>
            <a:ext cx="266693" cy="1913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76778" y="4476750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技术演进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5787" y="481965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从</a:t>
            </a:r>
            <a:r>
              <a:rPr sz="837" b="0">
                <a:solidFill>
                  <a:srgbClr val="22D3EE"/>
                </a:solidFill>
              </a:rPr>
              <a:t>感知智能</a:t>
            </a:r>
            <a:r>
              <a:rPr sz="837" b="0">
                <a:solidFill>
                  <a:srgbClr val="D1D5DB"/>
                </a:solidFill>
              </a:rPr>
              <a:t>到</a:t>
            </a:r>
            <a:r>
              <a:rPr sz="837" b="0">
                <a:solidFill>
                  <a:srgbClr val="22D3EE"/>
                </a:solidFill>
              </a:rPr>
              <a:t>认知智能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10384" y="4324349"/>
            <a:ext cx="3124121" cy="85725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72305" y="4497042"/>
            <a:ext cx="266693" cy="2261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53296" y="4476750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应用普及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2305" y="481965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AI成为</a:t>
            </a:r>
            <a:r>
              <a:rPr sz="837" b="0">
                <a:solidFill>
                  <a:srgbClr val="22D3EE"/>
                </a:solidFill>
              </a:rPr>
              <a:t>日常工具</a:t>
            </a:r>
            <a:r>
              <a:rPr sz="837" b="0">
                <a:solidFill>
                  <a:srgbClr val="D1D5DB"/>
                </a:solidFill>
              </a:rPr>
              <a:t>，人人可用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33866" y="5334000"/>
            <a:ext cx="6400639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533886" y="5602165"/>
            <a:ext cx="304792" cy="22566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91075" y="5524499"/>
            <a:ext cx="20573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影响与意义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91075" y="5867399"/>
            <a:ext cx="205734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AI从</a:t>
            </a:r>
            <a:r>
              <a:rPr sz="956" b="0">
                <a:solidFill>
                  <a:srgbClr val="22D3EE"/>
                </a:solidFill>
              </a:rPr>
              <a:t>实验室走向大众</a:t>
            </a:r>
            <a:r>
              <a:rPr sz="956" b="0">
                <a:solidFill>
                  <a:srgbClr val="D1D5DB"/>
                </a:solidFill>
              </a:rPr>
              <a:t>，从</a:t>
            </a:r>
            <a:r>
              <a:rPr sz="956" b="0">
                <a:solidFill>
                  <a:srgbClr val="22D3EE"/>
                </a:solidFill>
              </a:rPr>
              <a:t>专用工具转向通用智能</a:t>
            </a:r>
            <a:r>
              <a:rPr sz="956" b="0">
                <a:solidFill>
                  <a:srgbClr val="D1D5DB"/>
                </a:solidFill>
              </a:rPr>
              <a:t>，人类社会进入</a:t>
            </a:r>
            <a:r>
              <a:rPr sz="956" b="0">
                <a:solidFill>
                  <a:srgbClr val="22D3EE"/>
                </a:solidFill>
              </a:rPr>
              <a:t>AI赋能新时代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8382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关键人物及其贡献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2676458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3151" y="2666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KEY FIGURES &amp;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038224"/>
            <a:ext cx="5391015" cy="2266950"/>
          </a:xfrm>
          <a:prstGeom prst="roundRect">
            <a:avLst>
              <a:gd name="adj" fmla="val 10084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1220442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4397" y="1200150"/>
            <a:ext cx="3524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早期奠基人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505" y="16573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000" y="158114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阿兰·图灵 Alan Turing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00" y="1847849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提出图灵测试（1950）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505" y="2209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000" y="213359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约翰·麦卡锡 John McCarthy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00" y="2400300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提出"人工智能"术语（1956）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505" y="2762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00" y="2686050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马文·明斯基 Marvin Minsky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00" y="2952750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达特茅斯会议创始人之一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1095" y="1038224"/>
            <a:ext cx="5391015" cy="2266950"/>
          </a:xfrm>
          <a:prstGeom prst="roundRect">
            <a:avLst>
              <a:gd name="adj" fmla="val 10084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53016" y="1229139"/>
            <a:ext cx="266693" cy="208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95907" y="120015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深度学习先驱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3016" y="16573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3511" y="1581149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杰弗里·辛顿 Geoffrey Hinton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511" y="1847849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深度学习之父，反向传播算法（1986）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3016" y="2209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3511" y="213359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杨立昆 Yann LeCun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3511" y="2400300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卷积神经网络CNN专家，Facebook首席AI科学家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3016" y="2762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3511" y="2686050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吴恩达 Andrew 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3511" y="2952750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谷歌大脑创始人，AI教育普及者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584" y="3457575"/>
            <a:ext cx="5391015" cy="2266950"/>
          </a:xfrm>
          <a:prstGeom prst="roundRect">
            <a:avLst>
              <a:gd name="adj" fmla="val 10084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3641241"/>
            <a:ext cx="266693" cy="22321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4397" y="3619499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现代领袖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1505" y="40766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000" y="4000500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萨姆·奥尔特曼 Sam Altman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000" y="4267199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OpenAI CEO，ChatGPT发布者（2022）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1505" y="46291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000" y="455294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戴密斯·哈萨比斯 Demis Hassabis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00" y="4819650"/>
            <a:ext cx="18763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DeepMind创始人，AlphaGo缔造者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1505" y="5181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2000" y="5105400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埃隆·马斯克 Elon Musk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000" y="537210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xAI创始人，推动AI负责任发展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1095" y="3457575"/>
            <a:ext cx="5391015" cy="2266950"/>
          </a:xfrm>
          <a:prstGeom prst="roundRect">
            <a:avLst>
              <a:gd name="adj" fmla="val 10084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53016" y="3652837"/>
            <a:ext cx="266693" cy="20002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95907" y="36194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中国AI领军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3016" y="40766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43511" y="4000500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李飞飞 Fei-Fei Li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3511" y="4267199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ImageNet创始人，斯坦福教授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3016" y="46291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3511" y="4552949"/>
            <a:ext cx="8953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李彦宏 Robin 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3511" y="4819650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百度CEO，中国AI产业推动者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3016" y="5181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3511" y="510540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李开复 Kai-Fu Lee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3511" y="5372100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创新工场CEO，AI投资与教育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584" y="6057900"/>
            <a:ext cx="10972525" cy="5715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389874" y="62776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6230592"/>
            <a:ext cx="266693" cy="22611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81070" y="6229350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 AI发展是</a:t>
            </a:r>
            <a:r>
              <a:rPr sz="956" b="0">
                <a:solidFill>
                  <a:srgbClr val="22D3EE"/>
                </a:solidFill>
              </a:rPr>
              <a:t>集体智慧的结晶</a:t>
            </a:r>
            <a:r>
              <a:rPr sz="956" b="0">
                <a:solidFill>
                  <a:srgbClr val="D1D5DB"/>
                </a:solidFill>
              </a:rPr>
              <a:t>，一代代科学家和研究者共同推动了从理论到实践、从实验室到产业的伟大变革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6096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技术里程碑回顾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2447863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4557" y="266699"/>
            <a:ext cx="28479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TECHNICAL MILESTONES OVERVIEW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175238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1104900"/>
            <a:ext cx="5048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技术演进路径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523999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从</a:t>
            </a:r>
            <a:r>
              <a:rPr sz="1076" b="0">
                <a:solidFill>
                  <a:srgbClr val="22D3EE"/>
                </a:solidFill>
              </a:rPr>
              <a:t>符号主义</a:t>
            </a:r>
            <a:r>
              <a:rPr sz="1076" b="0">
                <a:solidFill>
                  <a:srgbClr val="D1D5DB"/>
                </a:solidFill>
              </a:rPr>
              <a:t>到</a:t>
            </a:r>
            <a:r>
              <a:rPr sz="1076" b="0">
                <a:solidFill>
                  <a:srgbClr val="22D3EE"/>
                </a:solidFill>
              </a:rPr>
              <a:t>连接主义</a:t>
            </a:r>
            <a:r>
              <a:rPr sz="1076" b="0">
                <a:solidFill>
                  <a:srgbClr val="D1D5DB"/>
                </a:solidFill>
              </a:rPr>
              <a:t>再到</a:t>
            </a:r>
            <a:r>
              <a:rPr sz="1076" b="0">
                <a:solidFill>
                  <a:srgbClr val="22D3EE"/>
                </a:solidFill>
              </a:rPr>
              <a:t>深度学习</a:t>
            </a:r>
            <a:r>
              <a:rPr sz="1076" b="0">
                <a:solidFill>
                  <a:srgbClr val="D1D5DB"/>
                </a:solidFill>
              </a:rPr>
              <a:t>，推动AI技术不断突破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2143125"/>
            <a:ext cx="3657508" cy="0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" y="24669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278" y="2295525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符号主义时期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78" y="2562224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1956-1970s · 规则与逻辑推理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0384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278" y="2867025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连接主义时期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78" y="3133724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1980s-2000s · 神经网络复兴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6099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278" y="3438525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深度学习时代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78" y="3705224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2006-至今 · 多层神经网络突破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1814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278" y="4010024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生成式AI时代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278" y="4276725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2020s-至今 · 大模型与多模态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657725"/>
            <a:ext cx="3657508" cy="1904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3866" y="1295399"/>
            <a:ext cx="64006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</a:rPr>
              <a:t>关键技术节点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3866" y="1828800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95787" y="2025967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00579" y="1981199"/>
            <a:ext cx="1904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感知机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787" y="23241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1957 · Rosenblatt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5787" y="25527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人工神经网络雏形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10384" y="1828800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72305" y="2025967"/>
            <a:ext cx="228594" cy="1771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77098" y="1981199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专家系统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2305" y="23241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1970s-80s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2305" y="25527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知识库与推理引擎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3866" y="3067050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95787" y="3269932"/>
            <a:ext cx="228594" cy="1657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00579" y="3219449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反向传播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5787" y="356234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1986 · Hinton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5787" y="379094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多层网络训练突破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10384" y="3067050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72305" y="325564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77098" y="3219449"/>
            <a:ext cx="3619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2305" y="356234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1998 · LeCun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2305" y="379094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卷积神经网络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3866" y="4305300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95787" y="4482465"/>
            <a:ext cx="228594" cy="21717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00579" y="4457700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RNN/LSTM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95787" y="48006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1990s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5787" y="50292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循环神经网络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10384" y="4305300"/>
            <a:ext cx="3124121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772305" y="4482465"/>
            <a:ext cx="228594" cy="21717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077098" y="4457700"/>
            <a:ext cx="9334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2305" y="48006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2305" y="502920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注意力机制革命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33866" y="5543550"/>
            <a:ext cx="6400639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A855F7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05312" y="5833696"/>
            <a:ext cx="304792" cy="2579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62500" y="57150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大模型时代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2500" y="6019800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GPT、BERT等预训练模型推动自然语言处理与多模态理解跨越式发展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8382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AI应用领域拓展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6933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33626" y="266699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AI APPLICATION AREAS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082186"/>
            <a:ext cx="304792" cy="216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1038224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应用全景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419225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AI技术已渗透到</a:t>
            </a:r>
            <a:r>
              <a:rPr sz="1076" b="0">
                <a:solidFill>
                  <a:srgbClr val="22D3EE"/>
                </a:solidFill>
              </a:rPr>
              <a:t>各行各业</a:t>
            </a:r>
            <a:r>
              <a:rPr sz="1076" b="0">
                <a:solidFill>
                  <a:srgbClr val="D1D5DB"/>
                </a:solidFill>
              </a:rPr>
              <a:t>，从日常生活到专业领域，无处不在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2000250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" y="2162174"/>
            <a:ext cx="177160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" y="2303145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199" y="2286000"/>
            <a:ext cx="3333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自然语言处理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06" y="25527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机器翻译 · 文本生成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5487" y="2162174"/>
            <a:ext cx="177160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19309" y="2323147"/>
            <a:ext cx="228594" cy="154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24101" y="2286000"/>
            <a:ext cx="2762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计算机视觉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9309" y="25527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图像识别 · 目标检测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2981325"/>
            <a:ext cx="177160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3406" y="312658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8199" y="3105149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语音技术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06" y="33718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语音识别 · 语音合成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5487" y="2981325"/>
            <a:ext cx="177160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619309" y="3139440"/>
            <a:ext cx="228594" cy="1600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924101" y="3105149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自动驾驶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9309" y="33718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智能导航 · 安全驾驶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3838574"/>
            <a:ext cx="177160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3406" y="3979544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8199" y="3962399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医疗健康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06" y="42291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疾病诊断 · 药物研发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95487" y="3838574"/>
            <a:ext cx="177160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619309" y="3979544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924101" y="3962399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推荐系统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9309" y="42291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个性化推荐 · 智能匹配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584" y="5295899"/>
            <a:ext cx="3657508" cy="13335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3866" y="1609724"/>
            <a:ext cx="64006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</a:rPr>
              <a:t>核心应用场景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33866" y="2143125"/>
            <a:ext cx="2028774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181570" y="2337566"/>
            <a:ext cx="342891" cy="27786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38719" y="272415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</a:rPr>
              <a:t>智能客服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4421" y="3028950"/>
            <a:ext cx="45718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7×24小时在线</a:t>
            </a:r>
            <a:r>
              <a:rPr sz="1104"/>
              <a:t>
</a:t>
            </a:r>
            <a:r>
              <a:rPr sz="717" b="0">
                <a:solidFill>
                  <a:srgbClr val="9CA3AF"/>
                </a:solidFill>
              </a:rPr>
              <a:t>自然语言交互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15037" y="2143125"/>
            <a:ext cx="2028774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62740" y="2331654"/>
            <a:ext cx="342891" cy="28969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19889" y="272415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</a:rPr>
              <a:t>图像识别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1315" y="3028950"/>
            <a:ext cx="295267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人脸识别</a:t>
            </a:r>
            <a:r>
              <a:rPr sz="1104"/>
              <a:t>
</a:t>
            </a:r>
            <a:r>
              <a:rPr sz="717" b="0">
                <a:solidFill>
                  <a:srgbClr val="9CA3AF"/>
                </a:solidFill>
              </a:rPr>
              <a:t>物体检测与分类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05732" y="2143125"/>
            <a:ext cx="2028774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543911" y="2339044"/>
            <a:ext cx="342891" cy="2749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610584" y="272415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</a:rPr>
              <a:t>智能制造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10584" y="3028950"/>
            <a:ext cx="209544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质量检测</a:t>
            </a:r>
            <a:r>
              <a:rPr sz="1104"/>
              <a:t>
</a:t>
            </a:r>
            <a:r>
              <a:rPr sz="717" b="0">
                <a:solidFill>
                  <a:srgbClr val="9CA3AF"/>
                </a:solidFill>
              </a:rPr>
              <a:t>预测性维护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33866" y="3648074"/>
            <a:ext cx="2028774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181570" y="3842516"/>
            <a:ext cx="342891" cy="2778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38719" y="422910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</a:rPr>
              <a:t>生命科学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9194" y="4533900"/>
            <a:ext cx="247643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蛋白质折叠</a:t>
            </a:r>
            <a:r>
              <a:rPr sz="1104"/>
              <a:t>
</a:t>
            </a:r>
            <a:r>
              <a:rPr sz="717" b="0">
                <a:solidFill>
                  <a:srgbClr val="9CA3AF"/>
                </a:solidFill>
              </a:rPr>
              <a:t>基因组学分析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15037" y="3648074"/>
            <a:ext cx="2028774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62740" y="3836604"/>
            <a:ext cx="342891" cy="28969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419889" y="422910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</a:rPr>
              <a:t>电商零售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9414" y="4533900"/>
            <a:ext cx="209544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商品推荐</a:t>
            </a:r>
            <a:r>
              <a:rPr sz="1104"/>
              <a:t>
</a:t>
            </a:r>
            <a:r>
              <a:rPr sz="717" b="0">
                <a:solidFill>
                  <a:srgbClr val="9CA3AF"/>
                </a:solidFill>
              </a:rPr>
              <a:t>供应链优化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05732" y="3648074"/>
            <a:ext cx="2028774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543911" y="3848428"/>
            <a:ext cx="342891" cy="26604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610584" y="422910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</a:rPr>
              <a:t>教育科技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10584" y="4533900"/>
            <a:ext cx="209544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个性化学习</a:t>
            </a:r>
            <a:r>
              <a:rPr sz="1104"/>
              <a:t>
</a:t>
            </a:r>
            <a:r>
              <a:rPr sz="717" b="0">
                <a:solidFill>
                  <a:srgbClr val="9CA3AF"/>
                </a:solidFill>
              </a:rPr>
              <a:t>智能辅导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33866" y="5153024"/>
            <a:ext cx="6400639" cy="904874"/>
          </a:xfrm>
          <a:prstGeom prst="roundRect">
            <a:avLst>
              <a:gd name="adj" fmla="val 25263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505312" y="5402140"/>
            <a:ext cx="304792" cy="22566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962500" y="5324474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AI赋能千行百业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2500" y="5667374"/>
            <a:ext cx="21144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从</a:t>
            </a:r>
            <a:r>
              <a:rPr sz="837" b="0">
                <a:solidFill>
                  <a:srgbClr val="22D3EE"/>
                </a:solidFill>
              </a:rPr>
              <a:t>金融分析</a:t>
            </a:r>
            <a:r>
              <a:rPr sz="837" b="0">
                <a:solidFill>
                  <a:srgbClr val="D1D5DB"/>
                </a:solidFill>
              </a:rPr>
              <a:t>到</a:t>
            </a:r>
            <a:r>
              <a:rPr sz="837" b="0">
                <a:solidFill>
                  <a:srgbClr val="22D3EE"/>
                </a:solidFill>
              </a:rPr>
              <a:t>智能制造</a:t>
            </a:r>
            <a:r>
              <a:rPr sz="837" b="0">
                <a:solidFill>
                  <a:srgbClr val="D1D5DB"/>
                </a:solidFill>
              </a:rPr>
              <a:t>，从</a:t>
            </a:r>
            <a:r>
              <a:rPr sz="837" b="0">
                <a:solidFill>
                  <a:srgbClr val="22D3EE"/>
                </a:solidFill>
              </a:rPr>
              <a:t>医疗诊断</a:t>
            </a:r>
            <a:r>
              <a:rPr sz="837" b="0">
                <a:solidFill>
                  <a:srgbClr val="D1D5DB"/>
                </a:solidFill>
              </a:rPr>
              <a:t>到</a:t>
            </a:r>
            <a:r>
              <a:rPr sz="837" b="0">
                <a:solidFill>
                  <a:srgbClr val="22D3EE"/>
                </a:solidFill>
              </a:rPr>
              <a:t>智慧城市</a:t>
            </a:r>
            <a:r>
              <a:rPr sz="837" b="0">
                <a:solidFill>
                  <a:srgbClr val="D1D5DB"/>
                </a:solidFill>
              </a:rPr>
              <a:t>，AI正在重塑产业生态，提升社会生产力与效率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3810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当前发展趋势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744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76438" y="266699"/>
            <a:ext cx="26574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CURRENT DEVELOPMENT TRENDS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038224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1303282"/>
            <a:ext cx="342891" cy="212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6793" y="1238249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多模态大模型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793" y="1581149"/>
            <a:ext cx="160968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文本、图像、音频、视频的</a:t>
            </a:r>
            <a:r>
              <a:rPr sz="956" b="0">
                <a:solidFill>
                  <a:srgbClr val="22D3EE"/>
                </a:solidFill>
              </a:rPr>
              <a:t>融合理解与生成</a:t>
            </a:r>
            <a:r>
              <a:rPr sz="956" b="0">
                <a:solidFill>
                  <a:srgbClr val="D1D5DB"/>
                </a:solidFill>
              </a:rPr>
              <a:t>，实现跨模态智能交互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604" y="1943100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604" y="194310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视觉理解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04892" y="1943100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4892" y="194310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语言生成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9704" y="1943100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9704" y="194310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音频处理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38224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91115" y="1270766"/>
            <a:ext cx="342891" cy="2778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48303" y="123824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具身智能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303" y="1581149"/>
            <a:ext cx="172398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机器人从实验室走向</a:t>
            </a:r>
            <a:r>
              <a:rPr sz="956" b="0">
                <a:solidFill>
                  <a:srgbClr val="22D3EE"/>
                </a:solidFill>
              </a:rPr>
              <a:t>实际产业</a:t>
            </a:r>
            <a:r>
              <a:rPr sz="956" b="0">
                <a:solidFill>
                  <a:srgbClr val="D1D5DB"/>
                </a:solidFill>
              </a:rPr>
              <a:t>，在制造、物流、医疗等领域规模化应用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115" y="1943100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115" y="194310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工业制造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6402" y="1943100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6402" y="194310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仓储物流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1215" y="1943100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215" y="1943100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医疗护理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2600325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2850602"/>
            <a:ext cx="342891" cy="2423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66793" y="2800350"/>
            <a:ext cx="20287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量子-AI混合架构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6793" y="3143250"/>
            <a:ext cx="202877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量子计算为AI注入</a:t>
            </a:r>
            <a:r>
              <a:rPr sz="956" b="0">
                <a:solidFill>
                  <a:srgbClr val="22D3EE"/>
                </a:solidFill>
              </a:rPr>
              <a:t>超强算力</a:t>
            </a:r>
            <a:r>
              <a:rPr sz="956" b="0">
                <a:solidFill>
                  <a:srgbClr val="D1D5DB"/>
                </a:solidFill>
              </a:rPr>
              <a:t>，推动药物研发、材料科学、气候建模等领域的突破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604" y="3505199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604" y="3505199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新药研发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4892" y="3505199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04892" y="3505199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材料发现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09704" y="3505199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9704" y="3505199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气候预测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095" y="2600325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91115" y="2850602"/>
            <a:ext cx="342891" cy="24239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48303" y="280035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</a:rPr>
              <a:t>边缘智能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8303" y="3143250"/>
            <a:ext cx="158111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小模型在</a:t>
            </a:r>
            <a:r>
              <a:rPr sz="956" b="0">
                <a:solidFill>
                  <a:srgbClr val="22D3EE"/>
                </a:solidFill>
              </a:rPr>
              <a:t>移动设备</a:t>
            </a:r>
            <a:r>
              <a:rPr sz="956" b="0">
                <a:solidFill>
                  <a:srgbClr val="D1D5DB"/>
                </a:solidFill>
              </a:rPr>
              <a:t>上高效运行，降低算力需求，实现AI普惠化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91115" y="3505199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115" y="3505199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模型压缩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6402" y="3505199"/>
            <a:ext cx="419089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86402" y="3505199"/>
            <a:ext cx="4190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端侧部署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91215" y="3505199"/>
            <a:ext cx="476238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91215" y="3505199"/>
            <a:ext cx="4762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低功耗运行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584" y="4162424"/>
            <a:ext cx="10972525" cy="1619250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4445793"/>
            <a:ext cx="380990" cy="30956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52516" y="4448175"/>
            <a:ext cx="8000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AI向三个层次发展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7228" y="50196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5822" y="4943475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信息智能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5822" y="5286375"/>
            <a:ext cx="199067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距离AGI仅3-4年，文本、图像、语音等数字信息的智能处理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29014" y="50196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57608" y="4943475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物理智能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57608" y="5286375"/>
            <a:ext cx="198115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5-10年突破，无人驾驶、人形机器人等现实环境中的AI行动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1275" y="50196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9869" y="4943475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生物智能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19869" y="5286375"/>
            <a:ext cx="201924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</a:rPr>
              <a:t>15-20年实现，脑机接口、新药研发、硅基与碳基结合的智能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72554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6096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未来展望与总结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2447863" y="247649"/>
            <a:ext cx="38099" cy="30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4557" y="266699"/>
            <a:ext cx="26955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</a:rPr>
              <a:t>FUTURE OUTLOOK &amp; CONCLUSION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885217"/>
            <a:ext cx="304792" cy="287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1876424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未来愿景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257425"/>
            <a:ext cx="365750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</a:rPr>
              <a:t> AI将实现从</a:t>
            </a:r>
            <a:r>
              <a:rPr sz="1076" b="0">
                <a:solidFill>
                  <a:srgbClr val="22D3EE"/>
                </a:solidFill>
              </a:rPr>
              <a:t>工具</a:t>
            </a:r>
            <a:r>
              <a:rPr sz="1076" b="0">
                <a:solidFill>
                  <a:srgbClr val="D1D5DB"/>
                </a:solidFill>
              </a:rPr>
              <a:t>到</a:t>
            </a:r>
            <a:r>
              <a:rPr sz="1076" b="0">
                <a:solidFill>
                  <a:srgbClr val="22D3EE"/>
                </a:solidFill>
              </a:rPr>
              <a:t>智能伙伴</a:t>
            </a:r>
            <a:r>
              <a:rPr sz="1076" b="0">
                <a:solidFill>
                  <a:srgbClr val="D1D5DB"/>
                </a:solidFill>
              </a:rPr>
              <a:t>的质变，深刻重塑人类社会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2847974"/>
            <a:ext cx="3657508" cy="9525"/>
          </a:xfrm>
          <a:prstGeom prst="rect">
            <a:avLst/>
          </a:prstGeom>
          <a:gradFill rotWithShape="1">
            <a:gsLst>
              <a:gs pos="0">
                <a:srgbClr val="22D3E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" y="3009900"/>
            <a:ext cx="3657508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185698"/>
            <a:ext cx="266693" cy="2580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318135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智能体互联网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20" y="3486150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Internet of Agents · 智能体之间自主协作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000500"/>
            <a:ext cx="3657508" cy="819149"/>
          </a:xfrm>
          <a:prstGeom prst="roundRect">
            <a:avLst>
              <a:gd name="adj" fmla="val 2790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4191414"/>
            <a:ext cx="266693" cy="2087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496" y="4162424"/>
            <a:ext cx="8953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通用人工智能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496" y="446722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AGI · 具备跨领域学习与推理能力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4972050"/>
            <a:ext cx="3657508" cy="819149"/>
          </a:xfrm>
          <a:prstGeom prst="roundRect">
            <a:avLst>
              <a:gd name="adj" fmla="val 27906"/>
            </a:avLst>
          </a:prstGeom>
          <a:gradFill rotWithShape="1">
            <a:gsLst>
              <a:gs pos="0">
                <a:srgbClr val="1E293B">
                  <a:alpha val="40000"/>
                </a:srgbClr>
              </a:gs>
              <a:gs pos="100000">
                <a:srgbClr val="0F172A">
                  <a:alpha val="40000"/>
                </a:srgbClr>
              </a:gs>
            </a:gsLst>
            <a:lin scaled="0" ang="8100000"/>
          </a:grad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71505" y="5162964"/>
            <a:ext cx="266693" cy="208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496" y="5133975"/>
            <a:ext cx="10000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</a:rPr>
              <a:t>人机协作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496" y="5438774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AI成为人类的智能伙伴，共同解决复杂问题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3866" y="1904999"/>
            <a:ext cx="6400639" cy="26670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8255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33866" y="4724399"/>
            <a:ext cx="6400639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06B6D4">
                  <a:alpha val="15000"/>
                </a:srgbClr>
              </a:gs>
              <a:gs pos="100000">
                <a:srgbClr val="1E293B">
                  <a:alpha val="40000"/>
                </a:srgbClr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43411" y="4960554"/>
            <a:ext cx="342891" cy="2896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8699" y="4933950"/>
            <a:ext cx="42575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</a:rPr>
              <a:t>发展启示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8699" y="5314950"/>
            <a:ext cx="425756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5E7EB"/>
                </a:solidFill>
              </a:rPr>
              <a:t> 人工智能的发展是</a:t>
            </a:r>
            <a:r>
              <a:rPr sz="956" b="0">
                <a:solidFill>
                  <a:srgbClr val="22D3EE"/>
                </a:solidFill>
              </a:rPr>
              <a:t>集体智慧的结晶</a:t>
            </a:r>
            <a:r>
              <a:rPr sz="956" b="0">
                <a:solidFill>
                  <a:srgbClr val="E5E7EB"/>
                </a:solidFill>
              </a:rPr>
              <a:t>，历经多次技术突破与低谷。未来需要</a:t>
            </a:r>
            <a:r>
              <a:rPr sz="956" b="0">
                <a:solidFill>
                  <a:srgbClr val="22D3EE"/>
                </a:solidFill>
              </a:rPr>
              <a:t>持续创新</a:t>
            </a:r>
            <a:r>
              <a:rPr sz="956" b="0">
                <a:solidFill>
                  <a:srgbClr val="E5E7EB"/>
                </a:solidFill>
              </a:rPr>
              <a:t>与</a:t>
            </a:r>
            <a:r>
              <a:rPr sz="956" b="0">
                <a:solidFill>
                  <a:srgbClr val="22D3EE"/>
                </a:solidFill>
              </a:rPr>
              <a:t>审慎治理</a:t>
            </a:r>
            <a:r>
              <a:rPr sz="956" b="0">
                <a:solidFill>
                  <a:srgbClr val="E5E7EB"/>
                </a:solidFill>
              </a:rPr>
              <a:t>并重，在推动技术进步的同时，确保AI的发展</a:t>
            </a:r>
            <a:r>
              <a:rPr sz="956" b="0">
                <a:solidFill>
                  <a:srgbClr val="22D3EE"/>
                </a:solidFill>
              </a:rPr>
              <a:t>造福人类</a:t>
            </a:r>
            <a:r>
              <a:rPr sz="956" b="0">
                <a:solidFill>
                  <a:srgbClr val="E5E7EB"/>
                </a:solidFill>
              </a:rPr>
              <a:t>，创造更加美好的未来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