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sv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21.png"/><Relationship Id="rId22" Type="http://schemas.openxmlformats.org/officeDocument/2006/relationships/image" Target="../media/image-3-22.svg"/><Relationship Id="rId23" Type="http://schemas.openxmlformats.org/officeDocument/2006/relationships/image" Target="../media/image-3-23.png"/><Relationship Id="rId24" Type="http://schemas.openxmlformats.org/officeDocument/2006/relationships/image" Target="../media/image-3-24.svg"/><Relationship Id="rId25" Type="http://schemas.openxmlformats.org/officeDocument/2006/relationships/image" Target="../media/image-3-25.png"/><Relationship Id="rId26" Type="http://schemas.openxmlformats.org/officeDocument/2006/relationships/image" Target="../media/image-3-26.svg"/><Relationship Id="rId27" Type="http://schemas.openxmlformats.org/officeDocument/2006/relationships/image" Target="../media/image-3-27.png"/><Relationship Id="rId28" Type="http://schemas.openxmlformats.org/officeDocument/2006/relationships/image" Target="../media/image-3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sv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svg"/><Relationship Id="rId26" Type="http://schemas.openxmlformats.org/officeDocument/2006/relationships/image" Target="../media/image-4-26.png"/><Relationship Id="rId27" Type="http://schemas.openxmlformats.org/officeDocument/2006/relationships/image" Target="../media/image-4-27.svg"/><Relationship Id="rId28" Type="http://schemas.openxmlformats.org/officeDocument/2006/relationships/image" Target="../media/image-4-28.png"/><Relationship Id="rId29" Type="http://schemas.openxmlformats.org/officeDocument/2006/relationships/image" Target="../media/image-4-29.svg"/><Relationship Id="rId30" Type="http://schemas.openxmlformats.org/officeDocument/2006/relationships/image" Target="../media/image-4-30.png"/><Relationship Id="rId31" Type="http://schemas.openxmlformats.org/officeDocument/2006/relationships/image" Target="../media/image-4-31.sv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sv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sv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sv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sv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sv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sv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svg"/><Relationship Id="rId12" Type="http://schemas.openxmlformats.org/officeDocument/2006/relationships/image" Target="../media/image-8-12.png"/><Relationship Id="rId13" Type="http://schemas.openxmlformats.org/officeDocument/2006/relationships/image" Target="../media/image-8-13.sv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sv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sv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image" Target="../media/image-8-30.png"/><Relationship Id="rId31" Type="http://schemas.openxmlformats.org/officeDocument/2006/relationships/image" Target="../media/image-8-31.png"/><Relationship Id="rId32" Type="http://schemas.openxmlformats.org/officeDocument/2006/relationships/image" Target="../media/image-8-32.svg"/><Relationship Id="rId33" Type="http://schemas.openxmlformats.org/officeDocument/2006/relationships/image" Target="../media/image-8-33.png"/><Relationship Id="rId34" Type="http://schemas.openxmlformats.org/officeDocument/2006/relationships/image" Target="../media/image-8-34.png"/><Relationship Id="rId35" Type="http://schemas.openxmlformats.org/officeDocument/2006/relationships/image" Target="../media/image-8-35.png"/><Relationship Id="rId36" Type="http://schemas.openxmlformats.org/officeDocument/2006/relationships/image" Target="../media/image-8-36.png"/><Relationship Id="rId37" Type="http://schemas.openxmlformats.org/officeDocument/2006/relationships/image" Target="../media/image-8-37.png"/><Relationship Id="rId38" Type="http://schemas.openxmlformats.org/officeDocument/2006/relationships/image" Target="../media/image-8-38.png"/><Relationship Id="rId39" Type="http://schemas.openxmlformats.org/officeDocument/2006/relationships/image" Target="../media/image-8-39.png"/><Relationship Id="rId40" Type="http://schemas.openxmlformats.org/officeDocument/2006/relationships/image" Target="../media/image-8-40.png"/><Relationship Id="rId41" Type="http://schemas.openxmlformats.org/officeDocument/2006/relationships/image" Target="../media/image-8-41.png"/><Relationship Id="rId42" Type="http://schemas.openxmlformats.org/officeDocument/2006/relationships/image" Target="../media/image-8-42.sv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sv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sv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sv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image" Target="../media/image-9-26.png"/><Relationship Id="rId27" Type="http://schemas.openxmlformats.org/officeDocument/2006/relationships/image" Target="../media/image-9-27.svg"/><Relationship Id="rId28" Type="http://schemas.openxmlformats.org/officeDocument/2006/relationships/image" Target="../media/image-9-28.png"/><Relationship Id="rId29" Type="http://schemas.openxmlformats.org/officeDocument/2006/relationships/image" Target="../media/image-9-29.png"/><Relationship Id="rId30" Type="http://schemas.openxmlformats.org/officeDocument/2006/relationships/image" Target="../media/image-9-30.png"/><Relationship Id="rId31" Type="http://schemas.openxmlformats.org/officeDocument/2006/relationships/image" Target="../media/image-9-31.png"/><Relationship Id="rId32" Type="http://schemas.openxmlformats.org/officeDocument/2006/relationships/image" Target="../media/image-9-32.svg"/><Relationship Id="rId33" Type="http://schemas.openxmlformats.org/officeDocument/2006/relationships/image" Target="../media/image-9-33.png"/><Relationship Id="rId34" Type="http://schemas.openxmlformats.org/officeDocument/2006/relationships/image" Target="../media/image-9-34.png"/><Relationship Id="rId35" Type="http://schemas.openxmlformats.org/officeDocument/2006/relationships/image" Target="../media/image-9-35.png"/><Relationship Id="rId36" Type="http://schemas.openxmlformats.org/officeDocument/2006/relationships/image" Target="../media/image-9-36.png"/><Relationship Id="rId37" Type="http://schemas.openxmlformats.org/officeDocument/2006/relationships/image" Target="../media/image-9-37.svg"/><Relationship Id="rId38" Type="http://schemas.openxmlformats.org/officeDocument/2006/relationships/image" Target="../media/image-9-38.png"/><Relationship Id="rId39" Type="http://schemas.openxmlformats.org/officeDocument/2006/relationships/image" Target="../media/image-9-39.png"/><Relationship Id="rId40" Type="http://schemas.openxmlformats.org/officeDocument/2006/relationships/image" Target="../media/image-9-40.svg"/><Relationship Id="rId41" Type="http://schemas.openxmlformats.org/officeDocument/2006/relationships/image" Target="../media/image-9-41.png"/><Relationship Id="rId42" Type="http://schemas.openxmlformats.org/officeDocument/2006/relationships/image" Target="../media/image-9-42.svg"/><Relationship Id="rId43" Type="http://schemas.openxmlformats.org/officeDocument/2006/relationships/image" Target="../media/image-9-43.png"/><Relationship Id="rId44" Type="http://schemas.openxmlformats.org/officeDocument/2006/relationships/image" Target="../media/image-9-44.svg"/><Relationship Id="rId45" Type="http://schemas.openxmlformats.org/officeDocument/2006/relationships/image" Target="../media/image-9-45.png"/><Relationship Id="rId46" Type="http://schemas.openxmlformats.org/officeDocument/2006/relationships/image" Target="../media/image-9-46.svg"/><Relationship Id="rId47" Type="http://schemas.openxmlformats.org/officeDocument/2006/relationships/image" Target="../media/image-9-47.png"/><Relationship Id="rId48" Type="http://schemas.openxmlformats.org/officeDocument/2006/relationships/image" Target="../media/image-9-48.svg"/><Relationship Id="rId49" Type="http://schemas.openxmlformats.org/officeDocument/2006/relationships/image" Target="../media/image-9-49.png"/><Relationship Id="rId50" Type="http://schemas.openxmlformats.org/officeDocument/2006/relationships/image" Target="../media/image-9-50.svg"/><Relationship Id="rId51" Type="http://schemas.openxmlformats.org/officeDocument/2006/relationships/image" Target="../media/image-9-51.png"/><Relationship Id="rId52" Type="http://schemas.openxmlformats.org/officeDocument/2006/relationships/image" Target="../media/image-9-52.svg"/><Relationship Id="rId53" Type="http://schemas.openxmlformats.org/officeDocument/2006/relationships/slideLayout" Target="../slideLayouts/slideLayout1.xml"/><Relationship Id="rId5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334266" y="-952390"/>
            <a:ext cx="3809905" cy="3809905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-761981" y="4762467"/>
            <a:ext cx="2857429" cy="2857429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219170" y="3429000"/>
            <a:ext cx="1904952" cy="1904952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4857" y="3814009"/>
            <a:ext cx="761981" cy="28574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6293" y="6162607"/>
            <a:ext cx="190495" cy="21907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7372" y="6162607"/>
            <a:ext cx="190495" cy="21907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700560" y="1899532"/>
            <a:ext cx="4790574" cy="647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2914"/>
              </a:spcBef>
              <a:spcAft>
                <a:spcPts val="1800"/>
              </a:spcAft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企业战略规划方案</a:t>
            </a:r>
            <a:endParaRPr lang="en-US" sz="4300" dirty="0"/>
          </a:p>
        </p:txBody>
      </p:sp>
      <p:sp>
        <p:nvSpPr>
          <p:cNvPr id="10" name="Text 4"/>
          <p:cNvSpPr/>
          <p:nvPr/>
        </p:nvSpPr>
        <p:spPr>
          <a:xfrm>
            <a:off x="3964015" y="2985354"/>
            <a:ext cx="4263664" cy="257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1650"/>
              </a:spcBef>
              <a:spcAft>
                <a:spcPts val="45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驱动增长 · 引领未来 · 创造价值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3409865" y="4318821"/>
            <a:ext cx="5390253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战略思维</a:t>
            </a:r>
            <a:pPr algn="l" indent="0" marL="0">
              <a:spcAft>
                <a:spcPts val="45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创新驱动</a:t>
            </a:r>
            <a:pPr algn="l" indent="0" marL="0">
              <a:spcAft>
                <a:spcPts val="45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FF862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可持续发展</a:t>
            </a:r>
            <a:pPr algn="l" indent="0" marL="0">
              <a:spcAft>
                <a:spcPts val="45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卓越运营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3691515" y="6176894"/>
            <a:ext cx="132318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汇报人：[您的姓名]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5852594" y="6176894"/>
            <a:ext cx="7135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[汇报日期]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7404460" y="6176894"/>
            <a:ext cx="139937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2024-2026 战略周期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76238" y="381076"/>
            <a:ext cx="476238" cy="476238"/>
          </a:xfrm>
          <a:prstGeom prst="roundRect">
            <a:avLst>
              <a:gd name="adj" fmla="val 46081"/>
            </a:avLst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10" y="466799"/>
            <a:ext cx="266693" cy="3047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67145" y="509661"/>
            <a:ext cx="1268698" cy="2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"/>
            <a:ext cx="12191695" cy="6857828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6"/>
            <a:ext cx="12191695" cy="76198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1981" y="2015168"/>
            <a:ext cx="2495488" cy="1181070"/>
          </a:xfrm>
          <a:prstGeom prst="roundRect">
            <a:avLst>
              <a:gd name="adj" fmla="val 9990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0100" y="2254775"/>
            <a:ext cx="457189" cy="45718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486063" y="2015168"/>
            <a:ext cx="2495488" cy="1181070"/>
          </a:xfrm>
          <a:prstGeom prst="roundRect">
            <a:avLst>
              <a:gd name="adj" fmla="val 9990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24182" y="2254775"/>
            <a:ext cx="457189" cy="457189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210145" y="2015168"/>
            <a:ext cx="2495488" cy="1181070"/>
          </a:xfrm>
          <a:prstGeom prst="roundRect">
            <a:avLst>
              <a:gd name="adj" fmla="val 9990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48264" y="2254775"/>
            <a:ext cx="457189" cy="457189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8934226" y="2015168"/>
            <a:ext cx="2495488" cy="1181070"/>
          </a:xfrm>
          <a:prstGeom prst="roundRect">
            <a:avLst>
              <a:gd name="adj" fmla="val 9990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72346" y="2254775"/>
            <a:ext cx="457189" cy="457189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61981" y="3422749"/>
            <a:ext cx="2495488" cy="1419189"/>
          </a:xfrm>
          <a:prstGeom prst="roundRect">
            <a:avLst>
              <a:gd name="adj" fmla="val 6919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0100" y="3661464"/>
            <a:ext cx="457189" cy="457189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3486063" y="3422749"/>
            <a:ext cx="2495488" cy="1419189"/>
          </a:xfrm>
          <a:prstGeom prst="roundRect">
            <a:avLst>
              <a:gd name="adj" fmla="val 6919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24182" y="3661464"/>
            <a:ext cx="457189" cy="457189"/>
          </a:xfrm>
          <a:prstGeom prst="rect">
            <a:avLst/>
          </a:prstGeom>
        </p:spPr>
      </p:pic>
      <p:sp>
        <p:nvSpPr>
          <p:cNvPr id="16" name="Shape 7"/>
          <p:cNvSpPr/>
          <p:nvPr/>
        </p:nvSpPr>
        <p:spPr>
          <a:xfrm>
            <a:off x="6210145" y="3422749"/>
            <a:ext cx="2495488" cy="1419189"/>
          </a:xfrm>
          <a:prstGeom prst="roundRect">
            <a:avLst>
              <a:gd name="adj" fmla="val 6919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48264" y="3661464"/>
            <a:ext cx="457189" cy="457189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8934226" y="3422749"/>
            <a:ext cx="2495488" cy="1419189"/>
          </a:xfrm>
          <a:prstGeom prst="roundRect">
            <a:avLst>
              <a:gd name="adj" fmla="val 6919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172346" y="3661464"/>
            <a:ext cx="457189" cy="457189"/>
          </a:xfrm>
          <a:prstGeom prst="rect">
            <a:avLst/>
          </a:prstGeom>
        </p:spPr>
      </p:pic>
      <p:sp>
        <p:nvSpPr>
          <p:cNvPr id="20" name="Shape 9"/>
          <p:cNvSpPr/>
          <p:nvPr/>
        </p:nvSpPr>
        <p:spPr>
          <a:xfrm>
            <a:off x="0" y="6095933"/>
            <a:ext cx="12191695" cy="38099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21" name="Shape 10"/>
          <p:cNvSpPr/>
          <p:nvPr/>
        </p:nvSpPr>
        <p:spPr>
          <a:xfrm>
            <a:off x="571486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22" name="Shape 11"/>
          <p:cNvSpPr/>
          <p:nvPr/>
        </p:nvSpPr>
        <p:spPr>
          <a:xfrm>
            <a:off x="723882" y="6253092"/>
            <a:ext cx="228594" cy="76198"/>
          </a:xfrm>
          <a:prstGeom prst="roundRect">
            <a:avLst>
              <a:gd name="adj" fmla="val 600016"/>
            </a:avLst>
          </a:prstGeom>
          <a:solidFill>
            <a:srgbClr val="FF862F"/>
          </a:solidFill>
          <a:ln/>
        </p:spPr>
      </p:sp>
      <p:sp>
        <p:nvSpPr>
          <p:cNvPr id="23" name="Shape 12"/>
          <p:cNvSpPr/>
          <p:nvPr/>
        </p:nvSpPr>
        <p:spPr>
          <a:xfrm>
            <a:off x="1028674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24" name="Shape 13"/>
          <p:cNvSpPr/>
          <p:nvPr/>
        </p:nvSpPr>
        <p:spPr>
          <a:xfrm>
            <a:off x="1181070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25" name="Shape 14"/>
          <p:cNvSpPr/>
          <p:nvPr/>
        </p:nvSpPr>
        <p:spPr>
          <a:xfrm>
            <a:off x="1333467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26" name="Shape 15"/>
          <p:cNvSpPr/>
          <p:nvPr/>
        </p:nvSpPr>
        <p:spPr>
          <a:xfrm>
            <a:off x="1485863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27" name="Shape 16"/>
          <p:cNvSpPr/>
          <p:nvPr/>
        </p:nvSpPr>
        <p:spPr>
          <a:xfrm>
            <a:off x="1638259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28" name="Shape 17"/>
          <p:cNvSpPr/>
          <p:nvPr/>
        </p:nvSpPr>
        <p:spPr>
          <a:xfrm>
            <a:off x="1790655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29" name="Shape 18"/>
          <p:cNvSpPr/>
          <p:nvPr/>
        </p:nvSpPr>
        <p:spPr>
          <a:xfrm>
            <a:off x="1943051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30" name="Text 19"/>
          <p:cNvSpPr/>
          <p:nvPr/>
        </p:nvSpPr>
        <p:spPr>
          <a:xfrm>
            <a:off x="571486" y="204868"/>
            <a:ext cx="1999438" cy="35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1608"/>
              </a:spcBef>
              <a:spcAft>
                <a:spcPts val="1608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300" dirty="0"/>
          </a:p>
        </p:txBody>
      </p:sp>
      <p:sp>
        <p:nvSpPr>
          <p:cNvPr id="31" name="Text 20"/>
          <p:cNvSpPr/>
          <p:nvPr/>
        </p:nvSpPr>
        <p:spPr>
          <a:xfrm>
            <a:off x="994385" y="2254775"/>
            <a:ext cx="468618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32" name="Text 21"/>
          <p:cNvSpPr/>
          <p:nvPr/>
        </p:nvSpPr>
        <p:spPr>
          <a:xfrm>
            <a:off x="1609685" y="2254775"/>
            <a:ext cx="1419189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</a:t>
            </a:r>
            <a:endParaRPr lang="en-US" sz="900" dirty="0"/>
          </a:p>
        </p:txBody>
      </p:sp>
      <p:sp>
        <p:nvSpPr>
          <p:cNvPr id="33" name="Text 22"/>
          <p:cNvSpPr/>
          <p:nvPr/>
        </p:nvSpPr>
        <p:spPr>
          <a:xfrm>
            <a:off x="1609685" y="2455688"/>
            <a:ext cx="1430238" cy="238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战略规划概述</a:t>
            </a:r>
            <a:endParaRPr lang="en-US" sz="1300" dirty="0"/>
          </a:p>
        </p:txBody>
      </p:sp>
      <p:sp>
        <p:nvSpPr>
          <p:cNvPr id="34" name="Text 23"/>
          <p:cNvSpPr/>
          <p:nvPr/>
        </p:nvSpPr>
        <p:spPr>
          <a:xfrm>
            <a:off x="1609685" y="2768517"/>
            <a:ext cx="142452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2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背景、目的与核心价值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3718467" y="2254775"/>
            <a:ext cx="468618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4333767" y="2254775"/>
            <a:ext cx="1419189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TWO</a:t>
            </a:r>
            <a:endParaRPr lang="en-US" sz="900" dirty="0"/>
          </a:p>
        </p:txBody>
      </p:sp>
      <p:sp>
        <p:nvSpPr>
          <p:cNvPr id="37" name="Text 26"/>
          <p:cNvSpPr/>
          <p:nvPr/>
        </p:nvSpPr>
        <p:spPr>
          <a:xfrm>
            <a:off x="4333767" y="2455688"/>
            <a:ext cx="1430238" cy="238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使命愿景与价值观</a:t>
            </a:r>
            <a:endParaRPr lang="en-US" sz="1300" dirty="0"/>
          </a:p>
        </p:txBody>
      </p:sp>
      <p:sp>
        <p:nvSpPr>
          <p:cNvPr id="38" name="Text 27"/>
          <p:cNvSpPr/>
          <p:nvPr/>
        </p:nvSpPr>
        <p:spPr>
          <a:xfrm>
            <a:off x="4333767" y="2768517"/>
            <a:ext cx="142452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2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企业发展的方向与准则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6442549" y="2254775"/>
            <a:ext cx="468618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0" name="Text 29"/>
          <p:cNvSpPr/>
          <p:nvPr/>
        </p:nvSpPr>
        <p:spPr>
          <a:xfrm>
            <a:off x="7057848" y="2254775"/>
            <a:ext cx="1419189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THREE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7057848" y="2455688"/>
            <a:ext cx="1430238" cy="238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内外部分析</a:t>
            </a:r>
            <a:endParaRPr lang="en-US" sz="1300" dirty="0"/>
          </a:p>
        </p:txBody>
      </p:sp>
      <p:sp>
        <p:nvSpPr>
          <p:cNvPr id="42" name="Text 31"/>
          <p:cNvSpPr/>
          <p:nvPr/>
        </p:nvSpPr>
        <p:spPr>
          <a:xfrm>
            <a:off x="7057848" y="2768517"/>
            <a:ext cx="142452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2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PEST与SWOT全面分析</a:t>
            </a:r>
            <a:endParaRPr lang="en-US" sz="900" dirty="0"/>
          </a:p>
        </p:txBody>
      </p:sp>
      <p:sp>
        <p:nvSpPr>
          <p:cNvPr id="43" name="Text 32"/>
          <p:cNvSpPr/>
          <p:nvPr/>
        </p:nvSpPr>
        <p:spPr>
          <a:xfrm>
            <a:off x="9166631" y="2254775"/>
            <a:ext cx="468618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4" name="Text 33"/>
          <p:cNvSpPr/>
          <p:nvPr/>
        </p:nvSpPr>
        <p:spPr>
          <a:xfrm>
            <a:off x="9781930" y="2254775"/>
            <a:ext cx="1419189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FOUR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9781930" y="2455688"/>
            <a:ext cx="1430238" cy="238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战略定位与目标</a:t>
            </a:r>
            <a:endParaRPr lang="en-US" sz="1300" dirty="0"/>
          </a:p>
        </p:txBody>
      </p:sp>
      <p:sp>
        <p:nvSpPr>
          <p:cNvPr id="46" name="Text 35"/>
          <p:cNvSpPr/>
          <p:nvPr/>
        </p:nvSpPr>
        <p:spPr>
          <a:xfrm>
            <a:off x="9781930" y="2768517"/>
            <a:ext cx="142452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2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SWOT匹配与目标体系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994385" y="3661464"/>
            <a:ext cx="468618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8" name="Text 37"/>
          <p:cNvSpPr/>
          <p:nvPr/>
        </p:nvSpPr>
        <p:spPr>
          <a:xfrm>
            <a:off x="1609685" y="3661464"/>
            <a:ext cx="1419189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FIVE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1609685" y="3862377"/>
            <a:ext cx="1430238" cy="238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核心战略举措</a:t>
            </a:r>
            <a:endParaRPr lang="en-US" sz="1300" dirty="0"/>
          </a:p>
        </p:txBody>
      </p:sp>
      <p:sp>
        <p:nvSpPr>
          <p:cNvPr id="50" name="Text 39"/>
          <p:cNvSpPr/>
          <p:nvPr/>
        </p:nvSpPr>
        <p:spPr>
          <a:xfrm>
            <a:off x="1609685" y="4175206"/>
            <a:ext cx="142452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2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业务与竞争战略规划</a:t>
            </a:r>
            <a:endParaRPr lang="en-US" sz="900" dirty="0"/>
          </a:p>
        </p:txBody>
      </p:sp>
      <p:sp>
        <p:nvSpPr>
          <p:cNvPr id="51" name="Text 40"/>
          <p:cNvSpPr/>
          <p:nvPr/>
        </p:nvSpPr>
        <p:spPr>
          <a:xfrm>
            <a:off x="3718467" y="3661464"/>
            <a:ext cx="468618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52" name="Text 41"/>
          <p:cNvSpPr/>
          <p:nvPr/>
        </p:nvSpPr>
        <p:spPr>
          <a:xfrm>
            <a:off x="4333767" y="3661464"/>
            <a:ext cx="1419189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SIX</a:t>
            </a:r>
            <a:endParaRPr lang="en-US" sz="900" dirty="0"/>
          </a:p>
        </p:txBody>
      </p:sp>
      <p:sp>
        <p:nvSpPr>
          <p:cNvPr id="53" name="Text 42"/>
          <p:cNvSpPr/>
          <p:nvPr/>
        </p:nvSpPr>
        <p:spPr>
          <a:xfrm>
            <a:off x="4333767" y="3863270"/>
            <a:ext cx="1430238" cy="4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资源配置与执行保障</a:t>
            </a:r>
            <a:endParaRPr lang="en-US" sz="1300" dirty="0"/>
          </a:p>
        </p:txBody>
      </p:sp>
      <p:sp>
        <p:nvSpPr>
          <p:cNvPr id="54" name="Text 43"/>
          <p:cNvSpPr/>
          <p:nvPr/>
        </p:nvSpPr>
        <p:spPr>
          <a:xfrm>
            <a:off x="4333767" y="4415110"/>
            <a:ext cx="142452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2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组织与绩效管理体系</a:t>
            </a:r>
            <a:endParaRPr lang="en-US" sz="900" dirty="0"/>
          </a:p>
        </p:txBody>
      </p:sp>
      <p:sp>
        <p:nvSpPr>
          <p:cNvPr id="55" name="Text 44"/>
          <p:cNvSpPr/>
          <p:nvPr/>
        </p:nvSpPr>
        <p:spPr>
          <a:xfrm>
            <a:off x="6442549" y="3661464"/>
            <a:ext cx="468618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56" name="Text 45"/>
          <p:cNvSpPr/>
          <p:nvPr/>
        </p:nvSpPr>
        <p:spPr>
          <a:xfrm>
            <a:off x="7057848" y="3661464"/>
            <a:ext cx="1419189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SEVEN</a:t>
            </a:r>
            <a:endParaRPr lang="en-US" sz="900" dirty="0"/>
          </a:p>
        </p:txBody>
      </p:sp>
      <p:sp>
        <p:nvSpPr>
          <p:cNvPr id="57" name="Text 46"/>
          <p:cNvSpPr/>
          <p:nvPr/>
        </p:nvSpPr>
        <p:spPr>
          <a:xfrm>
            <a:off x="7057848" y="3862377"/>
            <a:ext cx="1430238" cy="238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风险管理与应对</a:t>
            </a:r>
            <a:endParaRPr lang="en-US" sz="1300" dirty="0"/>
          </a:p>
        </p:txBody>
      </p:sp>
      <p:sp>
        <p:nvSpPr>
          <p:cNvPr id="58" name="Text 47"/>
          <p:cNvSpPr/>
          <p:nvPr/>
        </p:nvSpPr>
        <p:spPr>
          <a:xfrm>
            <a:off x="7057848" y="4175206"/>
            <a:ext cx="142452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2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风险识别与防控策略</a:t>
            </a:r>
            <a:endParaRPr lang="en-US" sz="900" dirty="0"/>
          </a:p>
        </p:txBody>
      </p:sp>
      <p:sp>
        <p:nvSpPr>
          <p:cNvPr id="59" name="Text 48"/>
          <p:cNvSpPr/>
          <p:nvPr/>
        </p:nvSpPr>
        <p:spPr>
          <a:xfrm>
            <a:off x="9166631" y="3661464"/>
            <a:ext cx="468618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60" name="Text 49"/>
          <p:cNvSpPr/>
          <p:nvPr/>
        </p:nvSpPr>
        <p:spPr>
          <a:xfrm>
            <a:off x="9781930" y="3661464"/>
            <a:ext cx="1419189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EIGHT</a:t>
            </a:r>
            <a:endParaRPr lang="en-US" sz="900" dirty="0"/>
          </a:p>
        </p:txBody>
      </p:sp>
      <p:sp>
        <p:nvSpPr>
          <p:cNvPr id="61" name="Text 50"/>
          <p:cNvSpPr/>
          <p:nvPr/>
        </p:nvSpPr>
        <p:spPr>
          <a:xfrm>
            <a:off x="9781930" y="3862377"/>
            <a:ext cx="1430238" cy="238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实施路线图</a:t>
            </a:r>
            <a:endParaRPr lang="en-US" sz="1300" dirty="0"/>
          </a:p>
        </p:txBody>
      </p:sp>
      <p:sp>
        <p:nvSpPr>
          <p:cNvPr id="62" name="Text 51"/>
          <p:cNvSpPr/>
          <p:nvPr/>
        </p:nvSpPr>
        <p:spPr>
          <a:xfrm>
            <a:off x="9781930" y="4175206"/>
            <a:ext cx="142452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2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三年行动计划与展望</a:t>
            </a:r>
            <a:endParaRPr lang="en-US" sz="900" dirty="0"/>
          </a:p>
        </p:txBody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0" y="6095933"/>
            <a:ext cx="12191695" cy="380990"/>
          </a:xfrm>
          <a:prstGeom prst="rect">
            <a:avLst/>
          </a:prstGeom>
        </p:spPr>
      </p:pic>
      <p:sp>
        <p:nvSpPr>
          <p:cNvPr id="64" name="Text 52"/>
          <p:cNvSpPr/>
          <p:nvPr/>
        </p:nvSpPr>
        <p:spPr>
          <a:xfrm>
            <a:off x="6081486" y="6214993"/>
            <a:ext cx="41909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09</a:t>
            </a:r>
            <a:endParaRPr lang="en-US" sz="1000" dirty="0"/>
          </a:p>
        </p:txBody>
      </p:sp>
      <p:sp>
        <p:nvSpPr>
          <p:cNvPr id="65" name="Text 53"/>
          <p:cNvSpPr/>
          <p:nvPr/>
        </p:nvSpPr>
        <p:spPr>
          <a:xfrm>
            <a:off x="10553287" y="6214993"/>
            <a:ext cx="1082775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企业战略规划方案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"/>
            <a:ext cx="12191695" cy="6857828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6"/>
            <a:ext cx="12191695" cy="76198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486" y="190581"/>
            <a:ext cx="380990" cy="380990"/>
          </a:xfrm>
          <a:prstGeom prst="roundRect">
            <a:avLst>
              <a:gd name="adj" fmla="val 60002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486" y="1143057"/>
            <a:ext cx="6400640" cy="190495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00080" y="1371651"/>
            <a:ext cx="380990" cy="380990"/>
          </a:xfrm>
          <a:prstGeom prst="roundRect">
            <a:avLst>
              <a:gd name="adj" fmla="val 60002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71486" y="3276604"/>
            <a:ext cx="3124122" cy="666733"/>
          </a:xfrm>
          <a:prstGeom prst="roundRect">
            <a:avLst>
              <a:gd name="adj" fmla="val 23511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407" y="3438525"/>
            <a:ext cx="342891" cy="342891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848004" y="3276604"/>
            <a:ext cx="3124122" cy="666733"/>
          </a:xfrm>
          <a:prstGeom prst="roundRect">
            <a:avLst>
              <a:gd name="adj" fmla="val 23511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09925" y="3438525"/>
            <a:ext cx="342891" cy="342891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5648" y="3509960"/>
            <a:ext cx="171446" cy="20002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571486" y="4095733"/>
            <a:ext cx="3124122" cy="666733"/>
          </a:xfrm>
          <a:prstGeom prst="roundRect">
            <a:avLst>
              <a:gd name="adj" fmla="val 23511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3407" y="4257654"/>
            <a:ext cx="342891" cy="342891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130" y="4329090"/>
            <a:ext cx="171446" cy="200020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3848004" y="4095733"/>
            <a:ext cx="3124122" cy="666733"/>
          </a:xfrm>
          <a:prstGeom prst="roundRect">
            <a:avLst>
              <a:gd name="adj" fmla="val 23511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09925" y="4257654"/>
            <a:ext cx="342891" cy="342891"/>
          </a:xfrm>
          <a:prstGeom prst="rect">
            <a:avLst/>
          </a:prstGeom>
        </p:spPr>
      </p:pic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95648" y="4329090"/>
            <a:ext cx="171446" cy="200020"/>
          </a:xfrm>
          <a:prstGeom prst="rect">
            <a:avLst/>
          </a:prstGeom>
        </p:spPr>
      </p:pic>
      <p:pic>
        <p:nvPicPr>
          <p:cNvPr id="18" name="Image 9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353116" y="1143057"/>
            <a:ext cx="4267093" cy="2505012"/>
          </a:xfrm>
          <a:prstGeom prst="rect">
            <a:avLst/>
          </a:prstGeom>
        </p:spPr>
      </p:pic>
      <p:pic>
        <p:nvPicPr>
          <p:cNvPr id="19" name="Image 10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19809" y="1409751"/>
            <a:ext cx="228594" cy="266693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7943651" y="1447850"/>
            <a:ext cx="139213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本次规划核心价值</a:t>
            </a:r>
            <a:endParaRPr lang="en-US" sz="1300" dirty="0"/>
          </a:p>
        </p:txBody>
      </p:sp>
      <p:sp>
        <p:nvSpPr>
          <p:cNvPr id="21" name="Shape 8"/>
          <p:cNvSpPr/>
          <p:nvPr/>
        </p:nvSpPr>
        <p:spPr>
          <a:xfrm>
            <a:off x="7353116" y="3839830"/>
            <a:ext cx="4267093" cy="1400140"/>
          </a:xfrm>
          <a:prstGeom prst="roundRect">
            <a:avLst>
              <a:gd name="adj" fmla="val 7108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22" name="Image 11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591235" y="4158835"/>
            <a:ext cx="761981" cy="761981"/>
          </a:xfrm>
          <a:prstGeom prst="rect">
            <a:avLst/>
          </a:prstGeom>
        </p:spPr>
      </p:pic>
      <p:sp>
        <p:nvSpPr>
          <p:cNvPr id="23" name="Shape 9"/>
          <p:cNvSpPr/>
          <p:nvPr/>
        </p:nvSpPr>
        <p:spPr>
          <a:xfrm>
            <a:off x="0" y="6095933"/>
            <a:ext cx="12191695" cy="38099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24" name="Shape 10"/>
          <p:cNvSpPr/>
          <p:nvPr/>
        </p:nvSpPr>
        <p:spPr>
          <a:xfrm>
            <a:off x="571486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25" name="Shape 11"/>
          <p:cNvSpPr/>
          <p:nvPr/>
        </p:nvSpPr>
        <p:spPr>
          <a:xfrm>
            <a:off x="723882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26" name="Shape 12"/>
          <p:cNvSpPr/>
          <p:nvPr/>
        </p:nvSpPr>
        <p:spPr>
          <a:xfrm>
            <a:off x="876278" y="6253092"/>
            <a:ext cx="228594" cy="76198"/>
          </a:xfrm>
          <a:prstGeom prst="roundRect">
            <a:avLst>
              <a:gd name="adj" fmla="val 600016"/>
            </a:avLst>
          </a:prstGeom>
          <a:solidFill>
            <a:srgbClr val="FF862F"/>
          </a:solidFill>
          <a:ln/>
        </p:spPr>
      </p:sp>
      <p:sp>
        <p:nvSpPr>
          <p:cNvPr id="27" name="Shape 13"/>
          <p:cNvSpPr/>
          <p:nvPr/>
        </p:nvSpPr>
        <p:spPr>
          <a:xfrm>
            <a:off x="1181070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28" name="Shape 14"/>
          <p:cNvSpPr/>
          <p:nvPr/>
        </p:nvSpPr>
        <p:spPr>
          <a:xfrm>
            <a:off x="1333467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29" name="Shape 15"/>
          <p:cNvSpPr/>
          <p:nvPr/>
        </p:nvSpPr>
        <p:spPr>
          <a:xfrm>
            <a:off x="1485863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30" name="Shape 16"/>
          <p:cNvSpPr/>
          <p:nvPr/>
        </p:nvSpPr>
        <p:spPr>
          <a:xfrm>
            <a:off x="1638259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31" name="Shape 17"/>
          <p:cNvSpPr/>
          <p:nvPr/>
        </p:nvSpPr>
        <p:spPr>
          <a:xfrm>
            <a:off x="1790655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32" name="Shape 18"/>
          <p:cNvSpPr/>
          <p:nvPr/>
        </p:nvSpPr>
        <p:spPr>
          <a:xfrm>
            <a:off x="1943051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33" name="Text 19"/>
          <p:cNvSpPr/>
          <p:nvPr/>
        </p:nvSpPr>
        <p:spPr>
          <a:xfrm>
            <a:off x="566342" y="190581"/>
            <a:ext cx="39127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34" name="Text 20"/>
          <p:cNvSpPr/>
          <p:nvPr/>
        </p:nvSpPr>
        <p:spPr>
          <a:xfrm>
            <a:off x="1104872" y="223918"/>
            <a:ext cx="1746460" cy="314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1407"/>
              </a:spcBef>
              <a:spcAft>
                <a:spcPts val="1407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战略规划概述</a:t>
            </a:r>
            <a:endParaRPr lang="en-US" sz="2000" dirty="0"/>
          </a:p>
        </p:txBody>
      </p:sp>
      <p:sp>
        <p:nvSpPr>
          <p:cNvPr id="35" name="Text 21"/>
          <p:cNvSpPr/>
          <p:nvPr/>
        </p:nvSpPr>
        <p:spPr>
          <a:xfrm>
            <a:off x="9135958" y="304878"/>
            <a:ext cx="2495488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PLANNING OVERVIEW</a:t>
            </a:r>
            <a:endParaRPr lang="en-US" sz="1000" dirty="0"/>
          </a:p>
        </p:txBody>
      </p:sp>
      <p:sp>
        <p:nvSpPr>
          <p:cNvPr id="36" name="Text 22"/>
          <p:cNvSpPr/>
          <p:nvPr/>
        </p:nvSpPr>
        <p:spPr>
          <a:xfrm>
            <a:off x="1295368" y="1457374"/>
            <a:ext cx="1220693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什么是战略规划</a:t>
            </a:r>
            <a:endParaRPr lang="en-US" sz="1300" dirty="0"/>
          </a:p>
        </p:txBody>
      </p:sp>
      <p:sp>
        <p:nvSpPr>
          <p:cNvPr id="37" name="Text 23"/>
          <p:cNvSpPr/>
          <p:nvPr/>
        </p:nvSpPr>
        <p:spPr>
          <a:xfrm>
            <a:off x="800080" y="1905038"/>
            <a:ext cx="5960596" cy="77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战略规划是在市场经济高度发展条件下，企业以超越对手、发展自身为目的， 以争夺顾客、占领市场为主要内容的全局性、长远性谋划，揭示企业目的和方向，定义发展模式、重大方针。</a:t>
            </a:r>
            <a:endParaRPr lang="en-US" sz="1100" dirty="0"/>
          </a:p>
        </p:txBody>
      </p:sp>
      <p:sp>
        <p:nvSpPr>
          <p:cNvPr id="38" name="Text 24"/>
          <p:cNvSpPr/>
          <p:nvPr/>
        </p:nvSpPr>
        <p:spPr>
          <a:xfrm>
            <a:off x="1190595" y="3438525"/>
            <a:ext cx="701784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明确方向</a:t>
            </a:r>
            <a:endParaRPr lang="en-US" sz="1000" dirty="0"/>
          </a:p>
        </p:txBody>
      </p:sp>
      <p:sp>
        <p:nvSpPr>
          <p:cNvPr id="39" name="Text 25"/>
          <p:cNvSpPr/>
          <p:nvPr/>
        </p:nvSpPr>
        <p:spPr>
          <a:xfrm>
            <a:off x="1190595" y="3629020"/>
            <a:ext cx="699499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统一全员思想</a:t>
            </a:r>
            <a:endParaRPr lang="en-US" sz="800" dirty="0"/>
          </a:p>
        </p:txBody>
      </p:sp>
      <p:sp>
        <p:nvSpPr>
          <p:cNvPr id="40" name="Text 26"/>
          <p:cNvSpPr/>
          <p:nvPr/>
        </p:nvSpPr>
        <p:spPr>
          <a:xfrm>
            <a:off x="4467113" y="3438525"/>
            <a:ext cx="701784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优化配置</a:t>
            </a:r>
            <a:endParaRPr lang="en-US" sz="1000" dirty="0"/>
          </a:p>
        </p:txBody>
      </p:sp>
      <p:sp>
        <p:nvSpPr>
          <p:cNvPr id="41" name="Text 27"/>
          <p:cNvSpPr/>
          <p:nvPr/>
        </p:nvSpPr>
        <p:spPr>
          <a:xfrm>
            <a:off x="4467113" y="3629020"/>
            <a:ext cx="699499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提升组织效能</a:t>
            </a:r>
            <a:endParaRPr lang="en-US" sz="800" dirty="0"/>
          </a:p>
        </p:txBody>
      </p:sp>
      <p:sp>
        <p:nvSpPr>
          <p:cNvPr id="42" name="Text 28"/>
          <p:cNvSpPr/>
          <p:nvPr/>
        </p:nvSpPr>
        <p:spPr>
          <a:xfrm>
            <a:off x="1190595" y="4257654"/>
            <a:ext cx="701784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竞争优势</a:t>
            </a:r>
            <a:endParaRPr lang="en-US" sz="1000" dirty="0"/>
          </a:p>
        </p:txBody>
      </p:sp>
      <p:sp>
        <p:nvSpPr>
          <p:cNvPr id="43" name="Text 29"/>
          <p:cNvSpPr/>
          <p:nvPr/>
        </p:nvSpPr>
        <p:spPr>
          <a:xfrm>
            <a:off x="1190595" y="4448150"/>
            <a:ext cx="699499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构建核心壁垒</a:t>
            </a:r>
            <a:endParaRPr lang="en-US" sz="800" dirty="0"/>
          </a:p>
        </p:txBody>
      </p:sp>
      <p:sp>
        <p:nvSpPr>
          <p:cNvPr id="44" name="Text 30"/>
          <p:cNvSpPr/>
          <p:nvPr/>
        </p:nvSpPr>
        <p:spPr>
          <a:xfrm>
            <a:off x="4467113" y="4257654"/>
            <a:ext cx="701784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持续发展</a:t>
            </a:r>
            <a:endParaRPr lang="en-US" sz="1000" dirty="0"/>
          </a:p>
        </p:txBody>
      </p:sp>
      <p:sp>
        <p:nvSpPr>
          <p:cNvPr id="45" name="Text 31"/>
          <p:cNvSpPr/>
          <p:nvPr/>
        </p:nvSpPr>
        <p:spPr>
          <a:xfrm>
            <a:off x="4467113" y="4448150"/>
            <a:ext cx="699499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实现长远目标</a:t>
            </a:r>
            <a:endParaRPr lang="en-US" sz="800" dirty="0"/>
          </a:p>
        </p:txBody>
      </p:sp>
      <p:sp>
        <p:nvSpPr>
          <p:cNvPr id="46" name="Text 32"/>
          <p:cNvSpPr/>
          <p:nvPr/>
        </p:nvSpPr>
        <p:spPr>
          <a:xfrm>
            <a:off x="8000800" y="1924088"/>
            <a:ext cx="3368718" cy="161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明确组织发展方向</a:t>
            </a:r>
            <a:endParaRPr lang="en-US" sz="1000" dirty="0"/>
          </a:p>
        </p:txBody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00800" y="1828840"/>
            <a:ext cx="3352716" cy="352416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8000800" y="2276504"/>
            <a:ext cx="3368718" cy="161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统一全员思想共识</a:t>
            </a:r>
            <a:endParaRPr lang="en-US" sz="1000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000800" y="2181256"/>
            <a:ext cx="3352716" cy="352416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8000800" y="2628920"/>
            <a:ext cx="3368718" cy="161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优化资源配置效率</a:t>
            </a:r>
            <a:endParaRPr lang="en-US" sz="1000" dirty="0"/>
          </a:p>
        </p:txBody>
      </p:sp>
      <p:pic>
        <p:nvPicPr>
          <p:cNvPr id="51" name="Image 14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000800" y="2533672"/>
            <a:ext cx="3352716" cy="352416"/>
          </a:xfrm>
          <a:prstGeom prst="rect">
            <a:avLst/>
          </a:prstGeom>
        </p:spPr>
      </p:pic>
      <p:sp>
        <p:nvSpPr>
          <p:cNvPr id="52" name="Text 35"/>
          <p:cNvSpPr/>
          <p:nvPr/>
        </p:nvSpPr>
        <p:spPr>
          <a:xfrm>
            <a:off x="8000800" y="2981336"/>
            <a:ext cx="3368718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构建可持续竞争优势</a:t>
            </a:r>
            <a:endParaRPr lang="en-US" sz="1000" dirty="0"/>
          </a:p>
        </p:txBody>
      </p:sp>
      <p:sp>
        <p:nvSpPr>
          <p:cNvPr id="53" name="Text 36"/>
          <p:cNvSpPr/>
          <p:nvPr/>
        </p:nvSpPr>
        <p:spPr>
          <a:xfrm>
            <a:off x="7582091" y="4158835"/>
            <a:ext cx="780268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年战略周期</a:t>
            </a:r>
            <a:endParaRPr lang="en-US" sz="2000" dirty="0"/>
          </a:p>
        </p:txBody>
      </p:sp>
      <p:sp>
        <p:nvSpPr>
          <p:cNvPr id="54" name="Text 37"/>
          <p:cNvSpPr/>
          <p:nvPr/>
        </p:nvSpPr>
        <p:spPr>
          <a:xfrm>
            <a:off x="8543711" y="4279234"/>
            <a:ext cx="138032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96"/>
              </a:spcBef>
              <a:spcAft>
                <a:spcPts val="45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规划周期</a:t>
            </a:r>
            <a:endParaRPr lang="en-US" sz="1100" dirty="0"/>
          </a:p>
        </p:txBody>
      </p:sp>
      <p:sp>
        <p:nvSpPr>
          <p:cNvPr id="55" name="Text 38"/>
          <p:cNvSpPr/>
          <p:nvPr/>
        </p:nvSpPr>
        <p:spPr>
          <a:xfrm>
            <a:off x="8543711" y="4593551"/>
            <a:ext cx="1376900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制定中长期发展战略</a:t>
            </a:r>
            <a:br/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明确阶段性目标与里程碑</a:t>
            </a:r>
            <a:endParaRPr lang="en-US" sz="900" dirty="0"/>
          </a:p>
        </p:txBody>
      </p:sp>
      <p:pic>
        <p:nvPicPr>
          <p:cNvPr id="56" name="Image 15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0" y="6095933"/>
            <a:ext cx="12191695" cy="380990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11211463" y="6214993"/>
            <a:ext cx="41909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"/>
            <a:ext cx="12191695" cy="6857828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6"/>
            <a:ext cx="12191695" cy="76198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486" y="190581"/>
            <a:ext cx="380990" cy="380990"/>
          </a:xfrm>
          <a:prstGeom prst="roundRect">
            <a:avLst>
              <a:gd name="adj" fmla="val 60002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923" y="2408958"/>
            <a:ext cx="3533687" cy="176208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050949" y="2675651"/>
            <a:ext cx="571486" cy="571486"/>
          </a:xfrm>
          <a:prstGeom prst="roundRect">
            <a:avLst>
              <a:gd name="adj" fmla="val 42668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4296" y="2785186"/>
            <a:ext cx="304792" cy="352416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9923" y="4169178"/>
            <a:ext cx="3533687" cy="3133647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846141" y="5245476"/>
            <a:ext cx="2981250" cy="178113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25" y="5586507"/>
            <a:ext cx="171446" cy="20002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257269" y="5610319"/>
            <a:ext cx="549388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1396"/>
              </a:spcBef>
              <a:spcAft>
                <a:spcPts val="75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核心内涵</a:t>
            </a:r>
            <a:endParaRPr lang="en-US" sz="10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29079" y="2408958"/>
            <a:ext cx="3533687" cy="1762081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5810105" y="2675651"/>
            <a:ext cx="571486" cy="571486"/>
          </a:xfrm>
          <a:prstGeom prst="roundRect">
            <a:avLst>
              <a:gd name="adj" fmla="val 42668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451" y="2785186"/>
            <a:ext cx="304792" cy="352416"/>
          </a:xfrm>
          <a:prstGeom prst="rect">
            <a:avLst/>
          </a:prstGeom>
        </p:spPr>
      </p:pic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29079" y="4169178"/>
            <a:ext cx="3533687" cy="3133647"/>
          </a:xfrm>
          <a:prstGeom prst="rect">
            <a:avLst/>
          </a:prstGeom>
        </p:spPr>
      </p:pic>
      <p:sp>
        <p:nvSpPr>
          <p:cNvPr id="16" name="Shape 6"/>
          <p:cNvSpPr/>
          <p:nvPr/>
        </p:nvSpPr>
        <p:spPr>
          <a:xfrm>
            <a:off x="4605297" y="5245476"/>
            <a:ext cx="2981250" cy="178113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68780" y="5586507"/>
            <a:ext cx="171446" cy="200020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5016424" y="5610319"/>
            <a:ext cx="549388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1396"/>
              </a:spcBef>
              <a:spcAft>
                <a:spcPts val="75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核心内涵</a:t>
            </a:r>
            <a:endParaRPr lang="en-US" sz="1000" dirty="0"/>
          </a:p>
        </p:txBody>
      </p:sp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88234" y="2408958"/>
            <a:ext cx="3533687" cy="1762081"/>
          </a:xfrm>
          <a:prstGeom prst="rect">
            <a:avLst/>
          </a:prstGeom>
        </p:spPr>
      </p:pic>
      <p:sp>
        <p:nvSpPr>
          <p:cNvPr id="20" name="Shape 8"/>
          <p:cNvSpPr/>
          <p:nvPr/>
        </p:nvSpPr>
        <p:spPr>
          <a:xfrm>
            <a:off x="9569260" y="2675651"/>
            <a:ext cx="571486" cy="571486"/>
          </a:xfrm>
          <a:prstGeom prst="roundRect">
            <a:avLst>
              <a:gd name="adj" fmla="val 42668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02607" y="2785186"/>
            <a:ext cx="304792" cy="352416"/>
          </a:xfrm>
          <a:prstGeom prst="rect">
            <a:avLst/>
          </a:prstGeom>
        </p:spPr>
      </p:pic>
      <p:pic>
        <p:nvPicPr>
          <p:cNvPr id="22" name="Image 11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088234" y="4169178"/>
            <a:ext cx="3533687" cy="3133647"/>
          </a:xfrm>
          <a:prstGeom prst="rect">
            <a:avLst/>
          </a:prstGeom>
        </p:spPr>
      </p:pic>
      <p:sp>
        <p:nvSpPr>
          <p:cNvPr id="23" name="Shape 9"/>
          <p:cNvSpPr/>
          <p:nvPr/>
        </p:nvSpPr>
        <p:spPr>
          <a:xfrm>
            <a:off x="8367578" y="5237812"/>
            <a:ext cx="1438239" cy="380990"/>
          </a:xfrm>
          <a:prstGeom prst="roundRect">
            <a:avLst>
              <a:gd name="adj" fmla="val 48001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24" name="Image 12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08886" y="5342584"/>
            <a:ext cx="152396" cy="171446"/>
          </a:xfrm>
          <a:prstGeom prst="rect">
            <a:avLst/>
          </a:prstGeom>
        </p:spPr>
      </p:pic>
      <p:sp>
        <p:nvSpPr>
          <p:cNvPr id="25" name="Shape 10"/>
          <p:cNvSpPr/>
          <p:nvPr/>
        </p:nvSpPr>
        <p:spPr>
          <a:xfrm>
            <a:off x="9904264" y="5237812"/>
            <a:ext cx="1438239" cy="380990"/>
          </a:xfrm>
          <a:prstGeom prst="roundRect">
            <a:avLst>
              <a:gd name="adj" fmla="val 48001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26" name="Image 13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45498" y="5342584"/>
            <a:ext cx="152396" cy="171446"/>
          </a:xfrm>
          <a:prstGeom prst="rect">
            <a:avLst/>
          </a:prstGeom>
        </p:spPr>
      </p:pic>
      <p:sp>
        <p:nvSpPr>
          <p:cNvPr id="27" name="Shape 11"/>
          <p:cNvSpPr/>
          <p:nvPr/>
        </p:nvSpPr>
        <p:spPr>
          <a:xfrm>
            <a:off x="8367578" y="5714050"/>
            <a:ext cx="1438239" cy="380990"/>
          </a:xfrm>
          <a:prstGeom prst="roundRect">
            <a:avLst>
              <a:gd name="adj" fmla="val 48001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28" name="Image 14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08886" y="5818822"/>
            <a:ext cx="152396" cy="171446"/>
          </a:xfrm>
          <a:prstGeom prst="rect">
            <a:avLst/>
          </a:prstGeom>
        </p:spPr>
      </p:pic>
      <p:sp>
        <p:nvSpPr>
          <p:cNvPr id="29" name="Shape 12"/>
          <p:cNvSpPr/>
          <p:nvPr/>
        </p:nvSpPr>
        <p:spPr>
          <a:xfrm>
            <a:off x="9904264" y="5714050"/>
            <a:ext cx="1438239" cy="380990"/>
          </a:xfrm>
          <a:prstGeom prst="roundRect">
            <a:avLst>
              <a:gd name="adj" fmla="val 48001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30" name="Image 15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045498" y="5818822"/>
            <a:ext cx="152396" cy="171446"/>
          </a:xfrm>
          <a:prstGeom prst="rect">
            <a:avLst/>
          </a:prstGeom>
        </p:spPr>
      </p:pic>
      <p:sp>
        <p:nvSpPr>
          <p:cNvPr id="31" name="Shape 13"/>
          <p:cNvSpPr/>
          <p:nvPr/>
        </p:nvSpPr>
        <p:spPr>
          <a:xfrm>
            <a:off x="0" y="6095933"/>
            <a:ext cx="12191695" cy="38099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2" name="Shape 14"/>
          <p:cNvSpPr/>
          <p:nvPr/>
        </p:nvSpPr>
        <p:spPr>
          <a:xfrm>
            <a:off x="571486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33" name="Shape 15"/>
          <p:cNvSpPr/>
          <p:nvPr/>
        </p:nvSpPr>
        <p:spPr>
          <a:xfrm>
            <a:off x="723882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34" name="Shape 16"/>
          <p:cNvSpPr/>
          <p:nvPr/>
        </p:nvSpPr>
        <p:spPr>
          <a:xfrm>
            <a:off x="876278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35" name="Shape 17"/>
          <p:cNvSpPr/>
          <p:nvPr/>
        </p:nvSpPr>
        <p:spPr>
          <a:xfrm>
            <a:off x="1028674" y="6253092"/>
            <a:ext cx="228594" cy="76198"/>
          </a:xfrm>
          <a:prstGeom prst="roundRect">
            <a:avLst>
              <a:gd name="adj" fmla="val 600016"/>
            </a:avLst>
          </a:prstGeom>
          <a:solidFill>
            <a:srgbClr val="FF862F"/>
          </a:solidFill>
          <a:ln/>
        </p:spPr>
      </p:sp>
      <p:sp>
        <p:nvSpPr>
          <p:cNvPr id="36" name="Shape 18"/>
          <p:cNvSpPr/>
          <p:nvPr/>
        </p:nvSpPr>
        <p:spPr>
          <a:xfrm>
            <a:off x="1333467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37" name="Shape 19"/>
          <p:cNvSpPr/>
          <p:nvPr/>
        </p:nvSpPr>
        <p:spPr>
          <a:xfrm>
            <a:off x="1485863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38" name="Shape 20"/>
          <p:cNvSpPr/>
          <p:nvPr/>
        </p:nvSpPr>
        <p:spPr>
          <a:xfrm>
            <a:off x="1638259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39" name="Shape 21"/>
          <p:cNvSpPr/>
          <p:nvPr/>
        </p:nvSpPr>
        <p:spPr>
          <a:xfrm>
            <a:off x="1790655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40" name="Shape 22"/>
          <p:cNvSpPr/>
          <p:nvPr/>
        </p:nvSpPr>
        <p:spPr>
          <a:xfrm>
            <a:off x="1943051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41" name="Text 23"/>
          <p:cNvSpPr/>
          <p:nvPr/>
        </p:nvSpPr>
        <p:spPr>
          <a:xfrm>
            <a:off x="566342" y="190581"/>
            <a:ext cx="39127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2" name="Text 24"/>
          <p:cNvSpPr/>
          <p:nvPr/>
        </p:nvSpPr>
        <p:spPr>
          <a:xfrm>
            <a:off x="1104872" y="223918"/>
            <a:ext cx="2317946" cy="314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1407"/>
              </a:spcBef>
              <a:spcAft>
                <a:spcPts val="1407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使命愿景与价值观</a:t>
            </a:r>
            <a:endParaRPr lang="en-US" sz="2000" dirty="0"/>
          </a:p>
        </p:txBody>
      </p:sp>
      <p:sp>
        <p:nvSpPr>
          <p:cNvPr id="43" name="Text 25"/>
          <p:cNvSpPr/>
          <p:nvPr/>
        </p:nvSpPr>
        <p:spPr>
          <a:xfrm>
            <a:off x="9812588" y="304878"/>
            <a:ext cx="181922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VISION VALUES</a:t>
            </a:r>
            <a:endParaRPr lang="en-US" sz="1000" dirty="0"/>
          </a:p>
        </p:txBody>
      </p:sp>
      <p:sp>
        <p:nvSpPr>
          <p:cNvPr id="44" name="Text 26"/>
          <p:cNvSpPr/>
          <p:nvPr/>
        </p:nvSpPr>
        <p:spPr>
          <a:xfrm>
            <a:off x="557770" y="1332659"/>
            <a:ext cx="11076155" cy="276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94"/>
              </a:spcBef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企业发展的方向与准则</a:t>
            </a:r>
            <a:endParaRPr lang="en-US" sz="1700" dirty="0"/>
          </a:p>
        </p:txBody>
      </p:sp>
      <p:sp>
        <p:nvSpPr>
          <p:cNvPr id="45" name="Text 27"/>
          <p:cNvSpPr/>
          <p:nvPr/>
        </p:nvSpPr>
        <p:spPr>
          <a:xfrm>
            <a:off x="563485" y="1742224"/>
            <a:ext cx="11064725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明确"我们是谁"、"我们要成为谁"、"我们如何行为"</a:t>
            </a:r>
            <a:endParaRPr lang="en-US" sz="1000" dirty="0"/>
          </a:p>
        </p:txBody>
      </p:sp>
      <p:sp>
        <p:nvSpPr>
          <p:cNvPr id="46" name="Text 28"/>
          <p:cNvSpPr/>
          <p:nvPr/>
        </p:nvSpPr>
        <p:spPr>
          <a:xfrm>
            <a:off x="831854" y="3399533"/>
            <a:ext cx="3009825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000" dirty="0"/>
          </a:p>
        </p:txBody>
      </p:sp>
      <p:sp>
        <p:nvSpPr>
          <p:cNvPr id="47" name="Text 29"/>
          <p:cNvSpPr/>
          <p:nvPr/>
        </p:nvSpPr>
        <p:spPr>
          <a:xfrm>
            <a:off x="822901" y="3628127"/>
            <a:ext cx="3027731" cy="276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使命</a:t>
            </a:r>
            <a:endParaRPr lang="en-US" sz="1700" dirty="0"/>
          </a:p>
        </p:txBody>
      </p:sp>
      <p:pic>
        <p:nvPicPr>
          <p:cNvPr id="48" name="Image 16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69923" y="4169178"/>
            <a:ext cx="3533687" cy="3133647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837569" y="4580603"/>
            <a:ext cx="2998395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企业存在的根本目的和价值</a:t>
            </a:r>
            <a:br/>
            <a:pPr algn="ctr" indent="0" marL="0">
              <a:lnSpc>
                <a:spcPts val="2025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回答"我们为何而存在"</a:t>
            </a:r>
            <a:endParaRPr lang="en-US" sz="1100" dirty="0"/>
          </a:p>
        </p:txBody>
      </p:sp>
      <p:sp>
        <p:nvSpPr>
          <p:cNvPr id="50" name="Text 31"/>
          <p:cNvSpPr/>
          <p:nvPr/>
        </p:nvSpPr>
        <p:spPr>
          <a:xfrm>
            <a:off x="1008062" y="5938924"/>
            <a:ext cx="2675696" cy="77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为客户创造什么价值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为社会承担什么责任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为员工提供什么平台</a:t>
            </a:r>
            <a:endParaRPr lang="en-US" sz="900" dirty="0"/>
          </a:p>
        </p:txBody>
      </p:sp>
      <p:sp>
        <p:nvSpPr>
          <p:cNvPr id="51" name="Text 32"/>
          <p:cNvSpPr/>
          <p:nvPr/>
        </p:nvSpPr>
        <p:spPr>
          <a:xfrm>
            <a:off x="4591010" y="3399533"/>
            <a:ext cx="3009825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000" dirty="0"/>
          </a:p>
        </p:txBody>
      </p:sp>
      <p:sp>
        <p:nvSpPr>
          <p:cNvPr id="52" name="Text 33"/>
          <p:cNvSpPr/>
          <p:nvPr/>
        </p:nvSpPr>
        <p:spPr>
          <a:xfrm>
            <a:off x="4582056" y="3628127"/>
            <a:ext cx="3027731" cy="276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愿景</a:t>
            </a:r>
            <a:endParaRPr lang="en-US" sz="1700" dirty="0"/>
          </a:p>
        </p:txBody>
      </p:sp>
      <p:pic>
        <p:nvPicPr>
          <p:cNvPr id="53" name="Image 17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329079" y="4169178"/>
            <a:ext cx="3533687" cy="3133647"/>
          </a:xfrm>
          <a:prstGeom prst="rect">
            <a:avLst/>
          </a:prstGeom>
        </p:spPr>
      </p:pic>
      <p:sp>
        <p:nvSpPr>
          <p:cNvPr id="54" name="Text 34"/>
          <p:cNvSpPr/>
          <p:nvPr/>
        </p:nvSpPr>
        <p:spPr>
          <a:xfrm>
            <a:off x="4596724" y="4580603"/>
            <a:ext cx="2998395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5-10年后的理想状态</a:t>
            </a:r>
            <a:br/>
            <a:pPr algn="ctr" indent="0" marL="0">
              <a:lnSpc>
                <a:spcPts val="2025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回答"我们要成为什么样的企业"</a:t>
            </a:r>
            <a:endParaRPr lang="en-US" sz="1100" dirty="0"/>
          </a:p>
        </p:txBody>
      </p:sp>
      <p:sp>
        <p:nvSpPr>
          <p:cNvPr id="55" name="Text 35"/>
          <p:cNvSpPr/>
          <p:nvPr/>
        </p:nvSpPr>
        <p:spPr>
          <a:xfrm>
            <a:off x="4767218" y="5938924"/>
            <a:ext cx="2675696" cy="77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清晰的长期发展方向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激励人心的目标描述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可量化的发展里程碑</a:t>
            </a:r>
            <a:endParaRPr lang="en-US" sz="900" dirty="0"/>
          </a:p>
        </p:txBody>
      </p:sp>
      <p:sp>
        <p:nvSpPr>
          <p:cNvPr id="56" name="Text 36"/>
          <p:cNvSpPr/>
          <p:nvPr/>
        </p:nvSpPr>
        <p:spPr>
          <a:xfrm>
            <a:off x="8350165" y="3399533"/>
            <a:ext cx="3009825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1000" dirty="0"/>
          </a:p>
        </p:txBody>
      </p:sp>
      <p:sp>
        <p:nvSpPr>
          <p:cNvPr id="57" name="Text 37"/>
          <p:cNvSpPr/>
          <p:nvPr/>
        </p:nvSpPr>
        <p:spPr>
          <a:xfrm>
            <a:off x="8341212" y="3628127"/>
            <a:ext cx="3027731" cy="276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核心价值观</a:t>
            </a:r>
            <a:endParaRPr lang="en-US" sz="1700" dirty="0"/>
          </a:p>
        </p:txBody>
      </p:sp>
      <p:pic>
        <p:nvPicPr>
          <p:cNvPr id="58" name="Image 18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088234" y="4169178"/>
            <a:ext cx="3533687" cy="3133647"/>
          </a:xfrm>
          <a:prstGeom prst="rect">
            <a:avLst/>
          </a:prstGeom>
        </p:spPr>
      </p:pic>
      <p:sp>
        <p:nvSpPr>
          <p:cNvPr id="59" name="Text 38"/>
          <p:cNvSpPr/>
          <p:nvPr/>
        </p:nvSpPr>
        <p:spPr>
          <a:xfrm>
            <a:off x="8355880" y="4580603"/>
            <a:ext cx="2998395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企业文化的基石</a:t>
            </a:r>
            <a:br/>
            <a:pPr algn="ctr" indent="0" marL="0">
              <a:lnSpc>
                <a:spcPts val="2025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指导决策与行为的准则</a:t>
            </a:r>
            <a:endParaRPr lang="en-US" sz="1100" dirty="0"/>
          </a:p>
        </p:txBody>
      </p:sp>
      <p:sp>
        <p:nvSpPr>
          <p:cNvPr id="60" name="Text 39"/>
          <p:cNvSpPr/>
          <p:nvPr/>
        </p:nvSpPr>
        <p:spPr>
          <a:xfrm>
            <a:off x="8737481" y="5356871"/>
            <a:ext cx="510146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诚信为本</a:t>
            </a:r>
            <a:endParaRPr lang="en-US" sz="900" dirty="0"/>
          </a:p>
        </p:txBody>
      </p:sp>
      <p:sp>
        <p:nvSpPr>
          <p:cNvPr id="61" name="Text 40"/>
          <p:cNvSpPr/>
          <p:nvPr/>
        </p:nvSpPr>
        <p:spPr>
          <a:xfrm>
            <a:off x="10274093" y="5356871"/>
            <a:ext cx="510146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创新驱动</a:t>
            </a:r>
            <a:endParaRPr lang="en-US" sz="900" dirty="0"/>
          </a:p>
        </p:txBody>
      </p:sp>
      <p:sp>
        <p:nvSpPr>
          <p:cNvPr id="62" name="Text 41"/>
          <p:cNvSpPr/>
          <p:nvPr/>
        </p:nvSpPr>
        <p:spPr>
          <a:xfrm>
            <a:off x="8737481" y="5833109"/>
            <a:ext cx="510146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协作共赢</a:t>
            </a:r>
            <a:endParaRPr lang="en-US" sz="900" dirty="0"/>
          </a:p>
        </p:txBody>
      </p:sp>
      <p:sp>
        <p:nvSpPr>
          <p:cNvPr id="63" name="Text 42"/>
          <p:cNvSpPr/>
          <p:nvPr/>
        </p:nvSpPr>
        <p:spPr>
          <a:xfrm>
            <a:off x="10274093" y="5833109"/>
            <a:ext cx="510146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追求卓越</a:t>
            </a:r>
            <a:endParaRPr lang="en-US" sz="900" dirty="0"/>
          </a:p>
        </p:txBody>
      </p:sp>
      <p:pic>
        <p:nvPicPr>
          <p:cNvPr id="64" name="Image 19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0" y="6095933"/>
            <a:ext cx="12191695" cy="380990"/>
          </a:xfrm>
          <a:prstGeom prst="rect">
            <a:avLst/>
          </a:prstGeom>
        </p:spPr>
      </p:pic>
      <p:sp>
        <p:nvSpPr>
          <p:cNvPr id="65" name="Text 43"/>
          <p:cNvSpPr/>
          <p:nvPr/>
        </p:nvSpPr>
        <p:spPr>
          <a:xfrm>
            <a:off x="11211463" y="6214993"/>
            <a:ext cx="41909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"/>
            <a:ext cx="12191695" cy="6857828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6"/>
            <a:ext cx="12191695" cy="76198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486" y="190581"/>
            <a:ext cx="380990" cy="380990"/>
          </a:xfrm>
          <a:prstGeom prst="roundRect">
            <a:avLst>
              <a:gd name="adj" fmla="val 60002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80990" y="1047810"/>
            <a:ext cx="6486363" cy="3752756"/>
          </a:xfrm>
          <a:prstGeom prst="roundRect">
            <a:avLst>
              <a:gd name="adj" fmla="val 989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010" y="1247830"/>
            <a:ext cx="342891" cy="342891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09" y="1309741"/>
            <a:ext cx="190495" cy="21907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81010" y="1743117"/>
            <a:ext cx="1409665" cy="1609685"/>
          </a:xfrm>
          <a:prstGeom prst="roundRect">
            <a:avLst>
              <a:gd name="adj" fmla="val 5259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2104972" y="1743117"/>
            <a:ext cx="1514437" cy="1609685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3733707" y="1743117"/>
            <a:ext cx="1409665" cy="1609685"/>
          </a:xfrm>
          <a:prstGeom prst="roundRect">
            <a:avLst>
              <a:gd name="adj" fmla="val 5259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257668" y="1743117"/>
            <a:ext cx="1409665" cy="1609685"/>
          </a:xfrm>
          <a:prstGeom prst="roundRect">
            <a:avLst>
              <a:gd name="adj" fmla="val 5259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057848" y="1047810"/>
            <a:ext cx="4752856" cy="3752756"/>
          </a:xfrm>
          <a:prstGeom prst="roundRect">
            <a:avLst>
              <a:gd name="adj" fmla="val 989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57868" y="1247830"/>
            <a:ext cx="342891" cy="342891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067" y="1309741"/>
            <a:ext cx="190495" cy="21907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55487" y="1743117"/>
            <a:ext cx="2124022" cy="1381090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1215" y="1876464"/>
            <a:ext cx="171446" cy="200020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89044" y="1743117"/>
            <a:ext cx="2124022" cy="1381090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24772" y="1876464"/>
            <a:ext cx="171446" cy="200020"/>
          </a:xfrm>
          <a:prstGeom prst="rect">
            <a:avLst/>
          </a:prstGeom>
        </p:spPr>
      </p:pic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55487" y="3238505"/>
            <a:ext cx="2124022" cy="1381090"/>
          </a:xfrm>
          <a:prstGeom prst="rect">
            <a:avLst/>
          </a:prstGeom>
        </p:spPr>
      </p:pic>
      <p:pic>
        <p:nvPicPr>
          <p:cNvPr id="20" name="Image 10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91215" y="3371851"/>
            <a:ext cx="171446" cy="200020"/>
          </a:xfrm>
          <a:prstGeom prst="rect">
            <a:avLst/>
          </a:prstGeom>
        </p:spPr>
      </p:pic>
      <p:pic>
        <p:nvPicPr>
          <p:cNvPr id="21" name="Image 11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489044" y="3238505"/>
            <a:ext cx="2124022" cy="1381090"/>
          </a:xfrm>
          <a:prstGeom prst="rect">
            <a:avLst/>
          </a:prstGeom>
        </p:spPr>
      </p:pic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24772" y="3371851"/>
            <a:ext cx="171446" cy="200020"/>
          </a:xfrm>
          <a:prstGeom prst="rect">
            <a:avLst/>
          </a:prstGeom>
        </p:spPr>
      </p:pic>
      <p:pic>
        <p:nvPicPr>
          <p:cNvPr id="23" name="Image 13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0990" y="4991061"/>
            <a:ext cx="342891" cy="342891"/>
          </a:xfrm>
          <a:prstGeom prst="rect">
            <a:avLst/>
          </a:prstGeom>
        </p:spPr>
      </p:pic>
      <p:pic>
        <p:nvPicPr>
          <p:cNvPr id="24" name="Image 14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189" y="5052972"/>
            <a:ext cx="190495" cy="219070"/>
          </a:xfrm>
          <a:prstGeom prst="rect">
            <a:avLst/>
          </a:prstGeom>
        </p:spPr>
      </p:pic>
      <p:sp>
        <p:nvSpPr>
          <p:cNvPr id="25" name="Shape 8"/>
          <p:cNvSpPr/>
          <p:nvPr/>
        </p:nvSpPr>
        <p:spPr>
          <a:xfrm>
            <a:off x="380990" y="5486349"/>
            <a:ext cx="2209745" cy="1085823"/>
          </a:xfrm>
          <a:prstGeom prst="roundRect">
            <a:avLst>
              <a:gd name="adj" fmla="val 7387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26" name="Shape 9"/>
          <p:cNvSpPr/>
          <p:nvPr/>
        </p:nvSpPr>
        <p:spPr>
          <a:xfrm>
            <a:off x="1333467" y="5610170"/>
            <a:ext cx="304792" cy="304792"/>
          </a:xfrm>
          <a:prstGeom prst="roundRect">
            <a:avLst>
              <a:gd name="adj" fmla="val 75002"/>
            </a:avLst>
          </a:prstGeom>
          <a:solidFill>
            <a:srgbClr val="F8FAFB"/>
          </a:solidFill>
          <a:ln/>
        </p:spPr>
      </p:sp>
      <p:pic>
        <p:nvPicPr>
          <p:cNvPr id="27" name="Image 15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00140" y="5662557"/>
            <a:ext cx="171446" cy="200020"/>
          </a:xfrm>
          <a:prstGeom prst="rect">
            <a:avLst/>
          </a:prstGeom>
        </p:spPr>
      </p:pic>
      <p:sp>
        <p:nvSpPr>
          <p:cNvPr id="28" name="Shape 10"/>
          <p:cNvSpPr/>
          <p:nvPr/>
        </p:nvSpPr>
        <p:spPr>
          <a:xfrm>
            <a:off x="1290605" y="6181656"/>
            <a:ext cx="76198" cy="76198"/>
          </a:xfrm>
          <a:prstGeom prst="ellipse">
            <a:avLst/>
          </a:prstGeom>
          <a:solidFill>
            <a:srgbClr val="E8EDF2"/>
          </a:solidFill>
          <a:ln/>
        </p:spPr>
      </p:sp>
      <p:sp>
        <p:nvSpPr>
          <p:cNvPr id="29" name="Shape 11"/>
          <p:cNvSpPr/>
          <p:nvPr/>
        </p:nvSpPr>
        <p:spPr>
          <a:xfrm>
            <a:off x="1395378" y="6181656"/>
            <a:ext cx="76198" cy="7619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Shape 12"/>
          <p:cNvSpPr/>
          <p:nvPr/>
        </p:nvSpPr>
        <p:spPr>
          <a:xfrm>
            <a:off x="1500150" y="6181656"/>
            <a:ext cx="76198" cy="7619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Shape 13"/>
          <p:cNvSpPr/>
          <p:nvPr/>
        </p:nvSpPr>
        <p:spPr>
          <a:xfrm>
            <a:off x="1604922" y="6181656"/>
            <a:ext cx="76198" cy="7619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Shape 14"/>
          <p:cNvSpPr/>
          <p:nvPr/>
        </p:nvSpPr>
        <p:spPr>
          <a:xfrm>
            <a:off x="2685983" y="5486349"/>
            <a:ext cx="2209745" cy="1085823"/>
          </a:xfrm>
          <a:prstGeom prst="roundRect">
            <a:avLst>
              <a:gd name="adj" fmla="val 7387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33" name="Shape 15"/>
          <p:cNvSpPr/>
          <p:nvPr/>
        </p:nvSpPr>
        <p:spPr>
          <a:xfrm>
            <a:off x="3638459" y="5610170"/>
            <a:ext cx="304792" cy="304792"/>
          </a:xfrm>
          <a:prstGeom prst="roundRect">
            <a:avLst>
              <a:gd name="adj" fmla="val 75002"/>
            </a:avLst>
          </a:prstGeom>
          <a:solidFill>
            <a:srgbClr val="F8FAFB"/>
          </a:solidFill>
          <a:ln/>
        </p:spPr>
      </p:sp>
      <p:pic>
        <p:nvPicPr>
          <p:cNvPr id="34" name="Image 16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705132" y="5662557"/>
            <a:ext cx="171446" cy="200020"/>
          </a:xfrm>
          <a:prstGeom prst="rect">
            <a:avLst/>
          </a:prstGeom>
        </p:spPr>
      </p:pic>
      <p:sp>
        <p:nvSpPr>
          <p:cNvPr id="35" name="Shape 16"/>
          <p:cNvSpPr/>
          <p:nvPr/>
        </p:nvSpPr>
        <p:spPr>
          <a:xfrm>
            <a:off x="3595598" y="6181656"/>
            <a:ext cx="76198" cy="7619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6" name="Shape 17"/>
          <p:cNvSpPr/>
          <p:nvPr/>
        </p:nvSpPr>
        <p:spPr>
          <a:xfrm>
            <a:off x="3700370" y="6181656"/>
            <a:ext cx="76198" cy="7619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7" name="Shape 18"/>
          <p:cNvSpPr/>
          <p:nvPr/>
        </p:nvSpPr>
        <p:spPr>
          <a:xfrm>
            <a:off x="3805142" y="6181656"/>
            <a:ext cx="76198" cy="76198"/>
          </a:xfrm>
          <a:prstGeom prst="ellipse">
            <a:avLst/>
          </a:prstGeom>
          <a:solidFill>
            <a:srgbClr val="E8EDF2"/>
          </a:solidFill>
          <a:ln/>
        </p:spPr>
      </p:sp>
      <p:sp>
        <p:nvSpPr>
          <p:cNvPr id="38" name="Shape 19"/>
          <p:cNvSpPr/>
          <p:nvPr/>
        </p:nvSpPr>
        <p:spPr>
          <a:xfrm>
            <a:off x="3909915" y="6181656"/>
            <a:ext cx="76198" cy="76198"/>
          </a:xfrm>
          <a:prstGeom prst="ellipse">
            <a:avLst/>
          </a:prstGeom>
          <a:solidFill>
            <a:srgbClr val="E8EDF2"/>
          </a:solidFill>
          <a:ln/>
        </p:spPr>
      </p:sp>
      <p:sp>
        <p:nvSpPr>
          <p:cNvPr id="39" name="Shape 20"/>
          <p:cNvSpPr/>
          <p:nvPr/>
        </p:nvSpPr>
        <p:spPr>
          <a:xfrm>
            <a:off x="4990975" y="5486349"/>
            <a:ext cx="2209745" cy="1085823"/>
          </a:xfrm>
          <a:prstGeom prst="roundRect">
            <a:avLst>
              <a:gd name="adj" fmla="val 7387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40" name="Shape 21"/>
          <p:cNvSpPr/>
          <p:nvPr/>
        </p:nvSpPr>
        <p:spPr>
          <a:xfrm>
            <a:off x="5943451" y="5610170"/>
            <a:ext cx="304792" cy="304792"/>
          </a:xfrm>
          <a:prstGeom prst="roundRect">
            <a:avLst>
              <a:gd name="adj" fmla="val 75002"/>
            </a:avLst>
          </a:prstGeom>
          <a:solidFill>
            <a:srgbClr val="F8FAFB"/>
          </a:solidFill>
          <a:ln/>
        </p:spPr>
      </p:sp>
      <p:pic>
        <p:nvPicPr>
          <p:cNvPr id="41" name="Image 17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10125" y="5662557"/>
            <a:ext cx="171446" cy="200020"/>
          </a:xfrm>
          <a:prstGeom prst="rect">
            <a:avLst/>
          </a:prstGeom>
        </p:spPr>
      </p:pic>
      <p:sp>
        <p:nvSpPr>
          <p:cNvPr id="42" name="Shape 22"/>
          <p:cNvSpPr/>
          <p:nvPr/>
        </p:nvSpPr>
        <p:spPr>
          <a:xfrm>
            <a:off x="5900590" y="6181656"/>
            <a:ext cx="76198" cy="7619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3" name="Shape 23"/>
          <p:cNvSpPr/>
          <p:nvPr/>
        </p:nvSpPr>
        <p:spPr>
          <a:xfrm>
            <a:off x="6005362" y="6181656"/>
            <a:ext cx="76198" cy="7619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4" name="Shape 24"/>
          <p:cNvSpPr/>
          <p:nvPr/>
        </p:nvSpPr>
        <p:spPr>
          <a:xfrm>
            <a:off x="6110135" y="6181656"/>
            <a:ext cx="76198" cy="7619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5" name="Shape 25"/>
          <p:cNvSpPr/>
          <p:nvPr/>
        </p:nvSpPr>
        <p:spPr>
          <a:xfrm>
            <a:off x="6214907" y="6181656"/>
            <a:ext cx="76198" cy="76198"/>
          </a:xfrm>
          <a:prstGeom prst="ellipse">
            <a:avLst/>
          </a:prstGeom>
          <a:solidFill>
            <a:srgbClr val="E8EDF2"/>
          </a:solidFill>
          <a:ln/>
        </p:spPr>
      </p:sp>
      <p:sp>
        <p:nvSpPr>
          <p:cNvPr id="46" name="Shape 26"/>
          <p:cNvSpPr/>
          <p:nvPr/>
        </p:nvSpPr>
        <p:spPr>
          <a:xfrm>
            <a:off x="7295967" y="5486349"/>
            <a:ext cx="2209745" cy="1085823"/>
          </a:xfrm>
          <a:prstGeom prst="roundRect">
            <a:avLst>
              <a:gd name="adj" fmla="val 7387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47" name="Shape 27"/>
          <p:cNvSpPr/>
          <p:nvPr/>
        </p:nvSpPr>
        <p:spPr>
          <a:xfrm>
            <a:off x="8248444" y="5610170"/>
            <a:ext cx="304792" cy="304792"/>
          </a:xfrm>
          <a:prstGeom prst="roundRect">
            <a:avLst>
              <a:gd name="adj" fmla="val 75002"/>
            </a:avLst>
          </a:prstGeom>
          <a:solidFill>
            <a:srgbClr val="F8FAFB"/>
          </a:solidFill>
          <a:ln/>
        </p:spPr>
      </p:sp>
      <p:pic>
        <p:nvPicPr>
          <p:cNvPr id="48" name="Image 18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15117" y="5662557"/>
            <a:ext cx="171446" cy="200020"/>
          </a:xfrm>
          <a:prstGeom prst="rect">
            <a:avLst/>
          </a:prstGeom>
        </p:spPr>
      </p:pic>
      <p:sp>
        <p:nvSpPr>
          <p:cNvPr id="49" name="Shape 28"/>
          <p:cNvSpPr/>
          <p:nvPr/>
        </p:nvSpPr>
        <p:spPr>
          <a:xfrm>
            <a:off x="8205582" y="6181656"/>
            <a:ext cx="76198" cy="7619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0" name="Shape 29"/>
          <p:cNvSpPr/>
          <p:nvPr/>
        </p:nvSpPr>
        <p:spPr>
          <a:xfrm>
            <a:off x="8310355" y="6181656"/>
            <a:ext cx="76198" cy="76198"/>
          </a:xfrm>
          <a:prstGeom prst="ellipse">
            <a:avLst/>
          </a:prstGeom>
          <a:solidFill>
            <a:srgbClr val="E8EDF2"/>
          </a:solidFill>
          <a:ln/>
        </p:spPr>
      </p:sp>
      <p:sp>
        <p:nvSpPr>
          <p:cNvPr id="51" name="Shape 30"/>
          <p:cNvSpPr/>
          <p:nvPr/>
        </p:nvSpPr>
        <p:spPr>
          <a:xfrm>
            <a:off x="8415127" y="6181656"/>
            <a:ext cx="76198" cy="76198"/>
          </a:xfrm>
          <a:prstGeom prst="ellipse">
            <a:avLst/>
          </a:prstGeom>
          <a:solidFill>
            <a:srgbClr val="E8EDF2"/>
          </a:solidFill>
          <a:ln/>
        </p:spPr>
      </p:sp>
      <p:sp>
        <p:nvSpPr>
          <p:cNvPr id="52" name="Shape 31"/>
          <p:cNvSpPr/>
          <p:nvPr/>
        </p:nvSpPr>
        <p:spPr>
          <a:xfrm>
            <a:off x="8519899" y="6181656"/>
            <a:ext cx="76198" cy="76198"/>
          </a:xfrm>
          <a:prstGeom prst="ellipse">
            <a:avLst/>
          </a:prstGeom>
          <a:solidFill>
            <a:srgbClr val="E8EDF2"/>
          </a:solidFill>
          <a:ln/>
        </p:spPr>
      </p:sp>
      <p:sp>
        <p:nvSpPr>
          <p:cNvPr id="53" name="Shape 32"/>
          <p:cNvSpPr/>
          <p:nvPr/>
        </p:nvSpPr>
        <p:spPr>
          <a:xfrm>
            <a:off x="9600960" y="5486349"/>
            <a:ext cx="2209745" cy="1085823"/>
          </a:xfrm>
          <a:prstGeom prst="roundRect">
            <a:avLst>
              <a:gd name="adj" fmla="val 7387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54" name="Shape 33"/>
          <p:cNvSpPr/>
          <p:nvPr/>
        </p:nvSpPr>
        <p:spPr>
          <a:xfrm>
            <a:off x="10553436" y="5610170"/>
            <a:ext cx="304792" cy="304792"/>
          </a:xfrm>
          <a:prstGeom prst="roundRect">
            <a:avLst>
              <a:gd name="adj" fmla="val 75002"/>
            </a:avLst>
          </a:prstGeom>
          <a:solidFill>
            <a:srgbClr val="F8FAFB"/>
          </a:solidFill>
          <a:ln/>
        </p:spPr>
      </p:sp>
      <p:sp>
        <p:nvSpPr>
          <p:cNvPr id="55" name="Shape 34"/>
          <p:cNvSpPr/>
          <p:nvPr/>
        </p:nvSpPr>
        <p:spPr>
          <a:xfrm>
            <a:off x="10510575" y="6181656"/>
            <a:ext cx="76198" cy="7619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6" name="Shape 35"/>
          <p:cNvSpPr/>
          <p:nvPr/>
        </p:nvSpPr>
        <p:spPr>
          <a:xfrm>
            <a:off x="10615347" y="6181656"/>
            <a:ext cx="76198" cy="7619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7" name="Shape 36"/>
          <p:cNvSpPr/>
          <p:nvPr/>
        </p:nvSpPr>
        <p:spPr>
          <a:xfrm>
            <a:off x="10720119" y="6181656"/>
            <a:ext cx="76198" cy="7619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8" name="Shape 37"/>
          <p:cNvSpPr/>
          <p:nvPr/>
        </p:nvSpPr>
        <p:spPr>
          <a:xfrm>
            <a:off x="10824892" y="6181656"/>
            <a:ext cx="76198" cy="7619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9" name="Shape 38"/>
          <p:cNvSpPr/>
          <p:nvPr/>
        </p:nvSpPr>
        <p:spPr>
          <a:xfrm>
            <a:off x="0" y="6095933"/>
            <a:ext cx="12191695" cy="38099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60" name="Shape 39"/>
          <p:cNvSpPr/>
          <p:nvPr/>
        </p:nvSpPr>
        <p:spPr>
          <a:xfrm>
            <a:off x="571486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61" name="Shape 40"/>
          <p:cNvSpPr/>
          <p:nvPr/>
        </p:nvSpPr>
        <p:spPr>
          <a:xfrm>
            <a:off x="723882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62" name="Shape 41"/>
          <p:cNvSpPr/>
          <p:nvPr/>
        </p:nvSpPr>
        <p:spPr>
          <a:xfrm>
            <a:off x="876278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63" name="Shape 42"/>
          <p:cNvSpPr/>
          <p:nvPr/>
        </p:nvSpPr>
        <p:spPr>
          <a:xfrm>
            <a:off x="1028674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64" name="Shape 43"/>
          <p:cNvSpPr/>
          <p:nvPr/>
        </p:nvSpPr>
        <p:spPr>
          <a:xfrm>
            <a:off x="1181070" y="6253092"/>
            <a:ext cx="228594" cy="76198"/>
          </a:xfrm>
          <a:prstGeom prst="roundRect">
            <a:avLst>
              <a:gd name="adj" fmla="val 600016"/>
            </a:avLst>
          </a:prstGeom>
          <a:solidFill>
            <a:srgbClr val="FF862F"/>
          </a:solidFill>
          <a:ln/>
        </p:spPr>
      </p:sp>
      <p:sp>
        <p:nvSpPr>
          <p:cNvPr id="65" name="Shape 44"/>
          <p:cNvSpPr/>
          <p:nvPr/>
        </p:nvSpPr>
        <p:spPr>
          <a:xfrm>
            <a:off x="1485863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66" name="Shape 45"/>
          <p:cNvSpPr/>
          <p:nvPr/>
        </p:nvSpPr>
        <p:spPr>
          <a:xfrm>
            <a:off x="1638259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67" name="Shape 46"/>
          <p:cNvSpPr/>
          <p:nvPr/>
        </p:nvSpPr>
        <p:spPr>
          <a:xfrm>
            <a:off x="1790655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68" name="Shape 47"/>
          <p:cNvSpPr/>
          <p:nvPr/>
        </p:nvSpPr>
        <p:spPr>
          <a:xfrm>
            <a:off x="1943051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69" name="Text 48"/>
          <p:cNvSpPr/>
          <p:nvPr/>
        </p:nvSpPr>
        <p:spPr>
          <a:xfrm>
            <a:off x="566342" y="190581"/>
            <a:ext cx="39127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70" name="Text 49"/>
          <p:cNvSpPr/>
          <p:nvPr/>
        </p:nvSpPr>
        <p:spPr>
          <a:xfrm>
            <a:off x="1104872" y="223918"/>
            <a:ext cx="1460717" cy="314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1407"/>
              </a:spcBef>
              <a:spcAft>
                <a:spcPts val="1407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内外部分析</a:t>
            </a:r>
            <a:endParaRPr lang="en-US" sz="2000" dirty="0"/>
          </a:p>
        </p:txBody>
      </p:sp>
      <p:sp>
        <p:nvSpPr>
          <p:cNvPr id="71" name="Text 50"/>
          <p:cNvSpPr/>
          <p:nvPr/>
        </p:nvSpPr>
        <p:spPr>
          <a:xfrm>
            <a:off x="9307776" y="304878"/>
            <a:ext cx="2324042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EXTERNAL ANALYSIS</a:t>
            </a:r>
            <a:endParaRPr lang="en-US" sz="1000" dirty="0"/>
          </a:p>
        </p:txBody>
      </p:sp>
      <p:sp>
        <p:nvSpPr>
          <p:cNvPr id="72" name="Text 51"/>
          <p:cNvSpPr/>
          <p:nvPr/>
        </p:nvSpPr>
        <p:spPr>
          <a:xfrm>
            <a:off x="1019224" y="1324028"/>
            <a:ext cx="177084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外部环境分析 - PEST模型</a:t>
            </a:r>
            <a:endParaRPr lang="en-US" sz="1100" dirty="0"/>
          </a:p>
        </p:txBody>
      </p:sp>
      <p:sp>
        <p:nvSpPr>
          <p:cNvPr id="73" name="Text 52"/>
          <p:cNvSpPr/>
          <p:nvPr/>
        </p:nvSpPr>
        <p:spPr>
          <a:xfrm>
            <a:off x="717024" y="1885989"/>
            <a:ext cx="1137638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700" dirty="0"/>
          </a:p>
        </p:txBody>
      </p:sp>
      <p:sp>
        <p:nvSpPr>
          <p:cNvPr id="74" name="Text 53"/>
          <p:cNvSpPr/>
          <p:nvPr/>
        </p:nvSpPr>
        <p:spPr>
          <a:xfrm>
            <a:off x="717024" y="2228880"/>
            <a:ext cx="113763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政策/法律</a:t>
            </a:r>
            <a:endParaRPr lang="en-US" sz="800" dirty="0"/>
          </a:p>
        </p:txBody>
      </p:sp>
      <p:sp>
        <p:nvSpPr>
          <p:cNvPr id="75" name="Text 54"/>
          <p:cNvSpPr/>
          <p:nvPr/>
        </p:nvSpPr>
        <p:spPr>
          <a:xfrm>
            <a:off x="723882" y="2514623"/>
            <a:ext cx="1142209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行业政策导向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监管合规要求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政府支持力度</a:t>
            </a:r>
            <a:endParaRPr lang="en-US" sz="800" dirty="0"/>
          </a:p>
        </p:txBody>
      </p:sp>
      <p:sp>
        <p:nvSpPr>
          <p:cNvPr id="76" name="Text 55"/>
          <p:cNvSpPr/>
          <p:nvPr/>
        </p:nvSpPr>
        <p:spPr>
          <a:xfrm>
            <a:off x="2240986" y="1885989"/>
            <a:ext cx="1242410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700" dirty="0"/>
          </a:p>
        </p:txBody>
      </p:sp>
      <p:sp>
        <p:nvSpPr>
          <p:cNvPr id="77" name="Text 56"/>
          <p:cNvSpPr/>
          <p:nvPr/>
        </p:nvSpPr>
        <p:spPr>
          <a:xfrm>
            <a:off x="2240986" y="2228880"/>
            <a:ext cx="124241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经济环境</a:t>
            </a:r>
            <a:endParaRPr lang="en-US" sz="800" dirty="0"/>
          </a:p>
        </p:txBody>
      </p:sp>
      <p:sp>
        <p:nvSpPr>
          <p:cNvPr id="78" name="Text 57"/>
          <p:cNvSpPr/>
          <p:nvPr/>
        </p:nvSpPr>
        <p:spPr>
          <a:xfrm>
            <a:off x="2247844" y="2514623"/>
            <a:ext cx="1246982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GDP增长趋势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市场规模与潜力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消费者购买力</a:t>
            </a:r>
            <a:endParaRPr lang="en-US" sz="800" dirty="0"/>
          </a:p>
        </p:txBody>
      </p:sp>
      <p:sp>
        <p:nvSpPr>
          <p:cNvPr id="79" name="Text 58"/>
          <p:cNvSpPr/>
          <p:nvPr/>
        </p:nvSpPr>
        <p:spPr>
          <a:xfrm>
            <a:off x="3869720" y="1885989"/>
            <a:ext cx="1137638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700" dirty="0"/>
          </a:p>
        </p:txBody>
      </p:sp>
      <p:sp>
        <p:nvSpPr>
          <p:cNvPr id="80" name="Text 59"/>
          <p:cNvSpPr/>
          <p:nvPr/>
        </p:nvSpPr>
        <p:spPr>
          <a:xfrm>
            <a:off x="3869720" y="2228880"/>
            <a:ext cx="113763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社会环境</a:t>
            </a:r>
            <a:endParaRPr lang="en-US" sz="800" dirty="0"/>
          </a:p>
        </p:txBody>
      </p:sp>
      <p:sp>
        <p:nvSpPr>
          <p:cNvPr id="81" name="Text 60"/>
          <p:cNvSpPr/>
          <p:nvPr/>
        </p:nvSpPr>
        <p:spPr>
          <a:xfrm>
            <a:off x="3876578" y="2514623"/>
            <a:ext cx="1142209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人口结构变化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消费习惯演变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社会价值观念</a:t>
            </a:r>
            <a:endParaRPr lang="en-US" sz="800" dirty="0"/>
          </a:p>
        </p:txBody>
      </p:sp>
      <p:sp>
        <p:nvSpPr>
          <p:cNvPr id="82" name="Text 61"/>
          <p:cNvSpPr/>
          <p:nvPr/>
        </p:nvSpPr>
        <p:spPr>
          <a:xfrm>
            <a:off x="5393682" y="1885989"/>
            <a:ext cx="1137638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83" name="Text 62"/>
          <p:cNvSpPr/>
          <p:nvPr/>
        </p:nvSpPr>
        <p:spPr>
          <a:xfrm>
            <a:off x="5393682" y="2228880"/>
            <a:ext cx="113763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技术环境</a:t>
            </a:r>
            <a:endParaRPr lang="en-US" sz="800" dirty="0"/>
          </a:p>
        </p:txBody>
      </p:sp>
      <p:sp>
        <p:nvSpPr>
          <p:cNvPr id="84" name="Text 63"/>
          <p:cNvSpPr/>
          <p:nvPr/>
        </p:nvSpPr>
        <p:spPr>
          <a:xfrm>
            <a:off x="5400540" y="2514623"/>
            <a:ext cx="1142209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技术变革趋势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数字化转型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创新发展机遇</a:t>
            </a:r>
            <a:endParaRPr lang="en-US" sz="800" dirty="0"/>
          </a:p>
        </p:txBody>
      </p:sp>
      <p:sp>
        <p:nvSpPr>
          <p:cNvPr id="85" name="Text 64"/>
          <p:cNvSpPr/>
          <p:nvPr/>
        </p:nvSpPr>
        <p:spPr>
          <a:xfrm>
            <a:off x="7696007" y="1324028"/>
            <a:ext cx="108506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SWOT战略分析</a:t>
            </a:r>
            <a:endParaRPr lang="en-US" sz="1100" dirty="0"/>
          </a:p>
        </p:txBody>
      </p:sp>
      <p:sp>
        <p:nvSpPr>
          <p:cNvPr id="86" name="Text 65"/>
          <p:cNvSpPr/>
          <p:nvPr/>
        </p:nvSpPr>
        <p:spPr>
          <a:xfrm>
            <a:off x="7639975" y="1900276"/>
            <a:ext cx="406517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 S</a:t>
            </a:r>
            <a:endParaRPr lang="en-US" sz="1000" dirty="0"/>
          </a:p>
        </p:txBody>
      </p:sp>
      <p:sp>
        <p:nvSpPr>
          <p:cNvPr id="87" name="Text 66"/>
          <p:cNvSpPr/>
          <p:nvPr/>
        </p:nvSpPr>
        <p:spPr>
          <a:xfrm>
            <a:off x="7388834" y="2228880"/>
            <a:ext cx="1875616" cy="60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核心技术和研发能力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品牌影响力和市场份额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优质的客户资源</a:t>
            </a:r>
            <a:endParaRPr lang="en-US" sz="800" dirty="0"/>
          </a:p>
        </p:txBody>
      </p:sp>
      <p:sp>
        <p:nvSpPr>
          <p:cNvPr id="88" name="Text 67"/>
          <p:cNvSpPr/>
          <p:nvPr/>
        </p:nvSpPr>
        <p:spPr>
          <a:xfrm>
            <a:off x="9872936" y="1900276"/>
            <a:ext cx="44461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劣势 W</a:t>
            </a:r>
            <a:endParaRPr lang="en-US" sz="1000" dirty="0"/>
          </a:p>
        </p:txBody>
      </p:sp>
      <p:sp>
        <p:nvSpPr>
          <p:cNvPr id="89" name="Text 68"/>
          <p:cNvSpPr/>
          <p:nvPr/>
        </p:nvSpPr>
        <p:spPr>
          <a:xfrm>
            <a:off x="9622391" y="2228880"/>
            <a:ext cx="1875616" cy="60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运营成本较高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人才储备不足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数字化程度待提升</a:t>
            </a:r>
            <a:endParaRPr lang="en-US" sz="800" dirty="0"/>
          </a:p>
        </p:txBody>
      </p:sp>
      <p:sp>
        <p:nvSpPr>
          <p:cNvPr id="90" name="Text 69"/>
          <p:cNvSpPr/>
          <p:nvPr/>
        </p:nvSpPr>
        <p:spPr>
          <a:xfrm>
            <a:off x="7637817" y="3395663"/>
            <a:ext cx="42556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机会 O</a:t>
            </a:r>
            <a:endParaRPr lang="en-US" sz="1000" dirty="0"/>
          </a:p>
        </p:txBody>
      </p:sp>
      <p:sp>
        <p:nvSpPr>
          <p:cNvPr id="91" name="Text 70"/>
          <p:cNvSpPr/>
          <p:nvPr/>
        </p:nvSpPr>
        <p:spPr>
          <a:xfrm>
            <a:off x="7388834" y="3724268"/>
            <a:ext cx="1875616" cy="60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新兴市场需求增长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行业整合机遇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政策支持创新</a:t>
            </a:r>
            <a:endParaRPr lang="en-US" sz="800" dirty="0"/>
          </a:p>
        </p:txBody>
      </p:sp>
      <p:sp>
        <p:nvSpPr>
          <p:cNvPr id="92" name="Text 71"/>
          <p:cNvSpPr/>
          <p:nvPr/>
        </p:nvSpPr>
        <p:spPr>
          <a:xfrm>
            <a:off x="9874573" y="3395663"/>
            <a:ext cx="396992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威胁 T</a:t>
            </a:r>
            <a:endParaRPr lang="en-US" sz="1000" dirty="0"/>
          </a:p>
        </p:txBody>
      </p:sp>
      <p:sp>
        <p:nvSpPr>
          <p:cNvPr id="93" name="Text 72"/>
          <p:cNvSpPr/>
          <p:nvPr/>
        </p:nvSpPr>
        <p:spPr>
          <a:xfrm>
            <a:off x="9622391" y="3724268"/>
            <a:ext cx="1875616" cy="60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竞争加剧压力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技术替代风险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经济环境不确定性</a:t>
            </a:r>
            <a:endParaRPr lang="en-US" sz="800" dirty="0"/>
          </a:p>
        </p:txBody>
      </p:sp>
      <p:sp>
        <p:nvSpPr>
          <p:cNvPr id="94" name="Text 73"/>
          <p:cNvSpPr/>
          <p:nvPr/>
        </p:nvSpPr>
        <p:spPr>
          <a:xfrm>
            <a:off x="820171" y="5067259"/>
            <a:ext cx="198038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竞争格局分析 - 波特五力模型</a:t>
            </a:r>
            <a:endParaRPr lang="en-US" sz="1100" dirty="0"/>
          </a:p>
        </p:txBody>
      </p:sp>
      <p:sp>
        <p:nvSpPr>
          <p:cNvPr id="95" name="Text 74"/>
          <p:cNvSpPr/>
          <p:nvPr/>
        </p:nvSpPr>
        <p:spPr>
          <a:xfrm>
            <a:off x="478905" y="5991161"/>
            <a:ext cx="201391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供应商议价</a:t>
            </a:r>
            <a:endParaRPr lang="en-US" sz="800" dirty="0"/>
          </a:p>
        </p:txBody>
      </p:sp>
      <p:sp>
        <p:nvSpPr>
          <p:cNvPr id="96" name="Text 75"/>
          <p:cNvSpPr/>
          <p:nvPr/>
        </p:nvSpPr>
        <p:spPr>
          <a:xfrm>
            <a:off x="480048" y="6315003"/>
            <a:ext cx="201163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中等偏高</a:t>
            </a:r>
            <a:endParaRPr lang="en-US" sz="700" dirty="0"/>
          </a:p>
        </p:txBody>
      </p:sp>
      <p:sp>
        <p:nvSpPr>
          <p:cNvPr id="97" name="Text 76"/>
          <p:cNvSpPr/>
          <p:nvPr/>
        </p:nvSpPr>
        <p:spPr>
          <a:xfrm>
            <a:off x="2783897" y="5991161"/>
            <a:ext cx="201391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买方议价</a:t>
            </a:r>
            <a:endParaRPr lang="en-US" sz="800" dirty="0"/>
          </a:p>
        </p:txBody>
      </p:sp>
      <p:sp>
        <p:nvSpPr>
          <p:cNvPr id="98" name="Text 77"/>
          <p:cNvSpPr/>
          <p:nvPr/>
        </p:nvSpPr>
        <p:spPr>
          <a:xfrm>
            <a:off x="2785040" y="6315003"/>
            <a:ext cx="201163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中等偏低</a:t>
            </a:r>
            <a:endParaRPr lang="en-US" sz="700" dirty="0"/>
          </a:p>
        </p:txBody>
      </p:sp>
      <p:sp>
        <p:nvSpPr>
          <p:cNvPr id="99" name="Text 78"/>
          <p:cNvSpPr/>
          <p:nvPr/>
        </p:nvSpPr>
        <p:spPr>
          <a:xfrm>
            <a:off x="5088890" y="5991161"/>
            <a:ext cx="201391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新进入者</a:t>
            </a:r>
            <a:endParaRPr lang="en-US" sz="800" dirty="0"/>
          </a:p>
        </p:txBody>
      </p:sp>
      <p:sp>
        <p:nvSpPr>
          <p:cNvPr id="100" name="Text 79"/>
          <p:cNvSpPr/>
          <p:nvPr/>
        </p:nvSpPr>
        <p:spPr>
          <a:xfrm>
            <a:off x="5090033" y="6315003"/>
            <a:ext cx="201163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中等偏高</a:t>
            </a:r>
            <a:endParaRPr lang="en-US" sz="700" dirty="0"/>
          </a:p>
        </p:txBody>
      </p:sp>
      <p:sp>
        <p:nvSpPr>
          <p:cNvPr id="101" name="Text 80"/>
          <p:cNvSpPr/>
          <p:nvPr/>
        </p:nvSpPr>
        <p:spPr>
          <a:xfrm>
            <a:off x="7393882" y="5991161"/>
            <a:ext cx="201391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替代品威胁</a:t>
            </a:r>
            <a:endParaRPr lang="en-US" sz="800" dirty="0"/>
          </a:p>
        </p:txBody>
      </p:sp>
      <p:sp>
        <p:nvSpPr>
          <p:cNvPr id="102" name="Text 81"/>
          <p:cNvSpPr/>
          <p:nvPr/>
        </p:nvSpPr>
        <p:spPr>
          <a:xfrm>
            <a:off x="7395025" y="6315003"/>
            <a:ext cx="201163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较低</a:t>
            </a:r>
            <a:endParaRPr lang="en-US" sz="700" dirty="0"/>
          </a:p>
        </p:txBody>
      </p:sp>
      <p:sp>
        <p:nvSpPr>
          <p:cNvPr id="103" name="Text 82"/>
          <p:cNvSpPr/>
          <p:nvPr/>
        </p:nvSpPr>
        <p:spPr>
          <a:xfrm>
            <a:off x="9698874" y="5991161"/>
            <a:ext cx="201391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现有竞争</a:t>
            </a:r>
            <a:endParaRPr lang="en-US" sz="800" dirty="0"/>
          </a:p>
        </p:txBody>
      </p:sp>
      <p:sp>
        <p:nvSpPr>
          <p:cNvPr id="104" name="Text 83"/>
          <p:cNvSpPr/>
          <p:nvPr/>
        </p:nvSpPr>
        <p:spPr>
          <a:xfrm>
            <a:off x="9700017" y="6315003"/>
            <a:ext cx="201163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非常高</a:t>
            </a:r>
            <a:endParaRPr lang="en-US" sz="700" dirty="0"/>
          </a:p>
        </p:txBody>
      </p:sp>
      <p:pic>
        <p:nvPicPr>
          <p:cNvPr id="105" name="Image 19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0" y="6095933"/>
            <a:ext cx="12191695" cy="380990"/>
          </a:xfrm>
          <a:prstGeom prst="rect">
            <a:avLst/>
          </a:prstGeom>
        </p:spPr>
      </p:pic>
      <p:sp>
        <p:nvSpPr>
          <p:cNvPr id="106" name="Text 84"/>
          <p:cNvSpPr/>
          <p:nvPr/>
        </p:nvSpPr>
        <p:spPr>
          <a:xfrm>
            <a:off x="11211463" y="6214993"/>
            <a:ext cx="41909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"/>
            <a:ext cx="12191695" cy="6857828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6"/>
            <a:ext cx="12191695" cy="76198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486" y="190581"/>
            <a:ext cx="380990" cy="380990"/>
          </a:xfrm>
          <a:prstGeom prst="roundRect">
            <a:avLst>
              <a:gd name="adj" fmla="val 60002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0990" y="1047810"/>
            <a:ext cx="5600560" cy="201924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7684" y="1314503"/>
            <a:ext cx="457189" cy="457189"/>
          </a:xfrm>
          <a:prstGeom prst="roundRect">
            <a:avLst>
              <a:gd name="adj" fmla="val 50001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646047" y="1962187"/>
            <a:ext cx="1590635" cy="838179"/>
          </a:xfrm>
          <a:prstGeom prst="roundRect">
            <a:avLst>
              <a:gd name="adj" fmla="val 1487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2385878" y="1962187"/>
            <a:ext cx="1590635" cy="838179"/>
          </a:xfrm>
          <a:prstGeom prst="roundRect">
            <a:avLst>
              <a:gd name="adj" fmla="val 1487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4125784" y="1962187"/>
            <a:ext cx="1590635" cy="838179"/>
          </a:xfrm>
          <a:prstGeom prst="roundRect">
            <a:avLst>
              <a:gd name="adj" fmla="val 1487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380990" y="3257554"/>
            <a:ext cx="5600560" cy="3619409"/>
          </a:xfrm>
          <a:prstGeom prst="roundRect">
            <a:avLst>
              <a:gd name="adj" fmla="val 1330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110" y="3495673"/>
            <a:ext cx="380990" cy="38099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32" y="3562347"/>
            <a:ext cx="209545" cy="24764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19110" y="4067159"/>
            <a:ext cx="2505012" cy="1228694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61534" y="4210030"/>
            <a:ext cx="742931" cy="228594"/>
          </a:xfrm>
          <a:prstGeom prst="roundRect">
            <a:avLst>
              <a:gd name="adj" fmla="val 100003"/>
            </a:avLst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29" y="4248130"/>
            <a:ext cx="133347" cy="1523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47724" y="4271941"/>
            <a:ext cx="373621" cy="11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50"/>
              </a:spcAft>
              <a:buNone/>
            </a:pPr>
            <a:r>
              <a:rPr lang="en-US" sz="800" b="1" dirty="0">
                <a:solidFill>
                  <a:srgbClr val="10B981"/>
                </a:solidFill>
                <a:highlight>
                  <a:srgbClr val="10B981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SO战略</a:t>
            </a:r>
            <a:endParaRPr lang="en-US" sz="800" dirty="0"/>
          </a:p>
        </p:txBody>
      </p:sp>
      <p:sp>
        <p:nvSpPr>
          <p:cNvPr id="17" name="Shape 10"/>
          <p:cNvSpPr/>
          <p:nvPr/>
        </p:nvSpPr>
        <p:spPr>
          <a:xfrm>
            <a:off x="3238419" y="4067159"/>
            <a:ext cx="2505012" cy="1228694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3381067" y="4210030"/>
            <a:ext cx="771506" cy="228594"/>
          </a:xfrm>
          <a:prstGeom prst="roundRect">
            <a:avLst>
              <a:gd name="adj" fmla="val 100003"/>
            </a:avLst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6538" y="4248130"/>
            <a:ext cx="133347" cy="15239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667033" y="4271941"/>
            <a:ext cx="402641" cy="11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5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highlight>
                  <a:srgbClr val="F59E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WO战略</a:t>
            </a:r>
            <a:endParaRPr lang="en-US" sz="800" dirty="0"/>
          </a:p>
        </p:txBody>
      </p:sp>
      <p:sp>
        <p:nvSpPr>
          <p:cNvPr id="21" name="Shape 13"/>
          <p:cNvSpPr/>
          <p:nvPr/>
        </p:nvSpPr>
        <p:spPr>
          <a:xfrm>
            <a:off x="619110" y="5410150"/>
            <a:ext cx="2505012" cy="1228694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762279" y="5553022"/>
            <a:ext cx="723882" cy="228594"/>
          </a:xfrm>
          <a:prstGeom prst="roundRect">
            <a:avLst>
              <a:gd name="adj" fmla="val 100003"/>
            </a:avLst>
          </a:prstGeom>
          <a:solidFill>
            <a:srgbClr val="1284BA">
              <a:alpha val="10000"/>
            </a:srgbClr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29" y="5591121"/>
            <a:ext cx="133347" cy="15239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47724" y="5614933"/>
            <a:ext cx="356059" cy="11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50"/>
              </a:spcAft>
              <a:buNone/>
            </a:pPr>
            <a:r>
              <a:rPr lang="en-US" sz="800" b="1" dirty="0">
                <a:solidFill>
                  <a:srgbClr val="1284BA"/>
                </a:solidFill>
                <a:highlight>
                  <a:srgbClr val="1284B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ST战略</a:t>
            </a:r>
            <a:endParaRPr lang="en-US" sz="800" dirty="0"/>
          </a:p>
        </p:txBody>
      </p:sp>
      <p:sp>
        <p:nvSpPr>
          <p:cNvPr id="25" name="Shape 16"/>
          <p:cNvSpPr/>
          <p:nvPr/>
        </p:nvSpPr>
        <p:spPr>
          <a:xfrm>
            <a:off x="3238419" y="5410150"/>
            <a:ext cx="2505012" cy="1228694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3381811" y="5553022"/>
            <a:ext cx="752456" cy="228594"/>
          </a:xfrm>
          <a:prstGeom prst="roundRect">
            <a:avLst>
              <a:gd name="adj" fmla="val 100003"/>
            </a:avLst>
          </a:prstGeom>
          <a:solidFill>
            <a:srgbClr val="EF4444">
              <a:alpha val="10000"/>
            </a:srgbClr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6538" y="5591121"/>
            <a:ext cx="133347" cy="15239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667033" y="5614933"/>
            <a:ext cx="385080" cy="11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5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highlight>
                  <a:srgbClr val="EF444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WT战略</a:t>
            </a:r>
            <a:endParaRPr lang="en-US" sz="800" dirty="0"/>
          </a:p>
        </p:txBody>
      </p:sp>
      <p:sp>
        <p:nvSpPr>
          <p:cNvPr id="29" name="Shape 19"/>
          <p:cNvSpPr/>
          <p:nvPr/>
        </p:nvSpPr>
        <p:spPr>
          <a:xfrm>
            <a:off x="6210145" y="1047810"/>
            <a:ext cx="5600560" cy="5010025"/>
          </a:xfrm>
          <a:prstGeom prst="roundRect">
            <a:avLst>
              <a:gd name="adj" fmla="val 694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48264" y="1285929"/>
            <a:ext cx="380990" cy="380990"/>
          </a:xfrm>
          <a:prstGeom prst="rect">
            <a:avLst/>
          </a:prstGeom>
        </p:spPr>
      </p:pic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3987" y="1352602"/>
            <a:ext cx="209545" cy="247644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6448264" y="1857414"/>
            <a:ext cx="2485963" cy="1904952"/>
          </a:xfrm>
          <a:prstGeom prst="roundRect">
            <a:avLst>
              <a:gd name="adj" fmla="val 3360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33" name="Shape 21"/>
          <p:cNvSpPr/>
          <p:nvPr/>
        </p:nvSpPr>
        <p:spPr>
          <a:xfrm>
            <a:off x="6629234" y="2038385"/>
            <a:ext cx="304792" cy="304792"/>
          </a:xfrm>
          <a:prstGeom prst="roundRect">
            <a:avLst>
              <a:gd name="adj" fmla="val 75002"/>
            </a:avLst>
          </a:prstGeom>
          <a:solidFill>
            <a:srgbClr val="1284BA">
              <a:alpha val="10000"/>
            </a:srgbClr>
          </a:solidFill>
          <a:ln/>
        </p:spPr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95907" y="2090771"/>
            <a:ext cx="171446" cy="200020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9086623" y="1857414"/>
            <a:ext cx="2485963" cy="1904952"/>
          </a:xfrm>
          <a:prstGeom prst="roundRect">
            <a:avLst>
              <a:gd name="adj" fmla="val 3360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36" name="Shape 23"/>
          <p:cNvSpPr/>
          <p:nvPr/>
        </p:nvSpPr>
        <p:spPr>
          <a:xfrm>
            <a:off x="9267593" y="2038385"/>
            <a:ext cx="304792" cy="304792"/>
          </a:xfrm>
          <a:prstGeom prst="roundRect">
            <a:avLst>
              <a:gd name="adj" fmla="val 75002"/>
            </a:avLst>
          </a:prstGeom>
          <a:solidFill>
            <a:srgbClr val="FF862F">
              <a:alpha val="10000"/>
            </a:srgbClr>
          </a:solidFill>
          <a:ln/>
        </p:spPr>
      </p:sp>
      <p:sp>
        <p:nvSpPr>
          <p:cNvPr id="37" name="Shape 24"/>
          <p:cNvSpPr/>
          <p:nvPr/>
        </p:nvSpPr>
        <p:spPr>
          <a:xfrm>
            <a:off x="6448264" y="3914763"/>
            <a:ext cx="2485963" cy="1904952"/>
          </a:xfrm>
          <a:prstGeom prst="roundRect">
            <a:avLst>
              <a:gd name="adj" fmla="val 3360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38" name="Shape 25"/>
          <p:cNvSpPr/>
          <p:nvPr/>
        </p:nvSpPr>
        <p:spPr>
          <a:xfrm>
            <a:off x="6629234" y="4095733"/>
            <a:ext cx="304792" cy="304792"/>
          </a:xfrm>
          <a:prstGeom prst="roundRect">
            <a:avLst>
              <a:gd name="adj" fmla="val 75002"/>
            </a:avLst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95907" y="4148120"/>
            <a:ext cx="171446" cy="200020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9086623" y="3914763"/>
            <a:ext cx="2485963" cy="1904952"/>
          </a:xfrm>
          <a:prstGeom prst="roundRect">
            <a:avLst>
              <a:gd name="adj" fmla="val 3360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41" name="Shape 27"/>
          <p:cNvSpPr/>
          <p:nvPr/>
        </p:nvSpPr>
        <p:spPr>
          <a:xfrm>
            <a:off x="9267593" y="4095733"/>
            <a:ext cx="304792" cy="304792"/>
          </a:xfrm>
          <a:prstGeom prst="roundRect">
            <a:avLst>
              <a:gd name="adj" fmla="val 75002"/>
            </a:avLst>
          </a:prstGeom>
          <a:solidFill>
            <a:srgbClr val="8B5CF6">
              <a:alpha val="10000"/>
            </a:srgbClr>
          </a:solidFill>
          <a:ln/>
        </p:spPr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4266" y="4148120"/>
            <a:ext cx="171446" cy="200020"/>
          </a:xfrm>
          <a:prstGeom prst="rect">
            <a:avLst/>
          </a:prstGeom>
        </p:spPr>
      </p:pic>
      <p:sp>
        <p:nvSpPr>
          <p:cNvPr id="43" name="Shape 28"/>
          <p:cNvSpPr/>
          <p:nvPr/>
        </p:nvSpPr>
        <p:spPr>
          <a:xfrm>
            <a:off x="0" y="6095933"/>
            <a:ext cx="12191695" cy="38099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44" name="Shape 29"/>
          <p:cNvSpPr/>
          <p:nvPr/>
        </p:nvSpPr>
        <p:spPr>
          <a:xfrm>
            <a:off x="571486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45" name="Shape 30"/>
          <p:cNvSpPr/>
          <p:nvPr/>
        </p:nvSpPr>
        <p:spPr>
          <a:xfrm>
            <a:off x="723882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46" name="Shape 31"/>
          <p:cNvSpPr/>
          <p:nvPr/>
        </p:nvSpPr>
        <p:spPr>
          <a:xfrm>
            <a:off x="876278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47" name="Shape 32"/>
          <p:cNvSpPr/>
          <p:nvPr/>
        </p:nvSpPr>
        <p:spPr>
          <a:xfrm>
            <a:off x="1028674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48" name="Shape 33"/>
          <p:cNvSpPr/>
          <p:nvPr/>
        </p:nvSpPr>
        <p:spPr>
          <a:xfrm>
            <a:off x="1181070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49" name="Shape 34"/>
          <p:cNvSpPr/>
          <p:nvPr/>
        </p:nvSpPr>
        <p:spPr>
          <a:xfrm>
            <a:off x="1333467" y="6253092"/>
            <a:ext cx="228594" cy="76198"/>
          </a:xfrm>
          <a:prstGeom prst="roundRect">
            <a:avLst>
              <a:gd name="adj" fmla="val 600016"/>
            </a:avLst>
          </a:prstGeom>
          <a:solidFill>
            <a:srgbClr val="FF862F"/>
          </a:solidFill>
          <a:ln/>
        </p:spPr>
      </p:sp>
      <p:sp>
        <p:nvSpPr>
          <p:cNvPr id="50" name="Shape 35"/>
          <p:cNvSpPr/>
          <p:nvPr/>
        </p:nvSpPr>
        <p:spPr>
          <a:xfrm>
            <a:off x="1638259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51" name="Shape 36"/>
          <p:cNvSpPr/>
          <p:nvPr/>
        </p:nvSpPr>
        <p:spPr>
          <a:xfrm>
            <a:off x="1790655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52" name="Shape 37"/>
          <p:cNvSpPr/>
          <p:nvPr/>
        </p:nvSpPr>
        <p:spPr>
          <a:xfrm>
            <a:off x="1943051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53" name="Text 38"/>
          <p:cNvSpPr/>
          <p:nvPr/>
        </p:nvSpPr>
        <p:spPr>
          <a:xfrm>
            <a:off x="566342" y="190581"/>
            <a:ext cx="39127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54" name="Text 39"/>
          <p:cNvSpPr/>
          <p:nvPr/>
        </p:nvSpPr>
        <p:spPr>
          <a:xfrm>
            <a:off x="1104872" y="223918"/>
            <a:ext cx="2032203" cy="314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1407"/>
              </a:spcBef>
              <a:spcAft>
                <a:spcPts val="1407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战略定位与目标</a:t>
            </a:r>
            <a:endParaRPr lang="en-US" sz="2000" dirty="0"/>
          </a:p>
        </p:txBody>
      </p:sp>
      <p:sp>
        <p:nvSpPr>
          <p:cNvPr id="55" name="Text 40"/>
          <p:cNvSpPr/>
          <p:nvPr/>
        </p:nvSpPr>
        <p:spPr>
          <a:xfrm>
            <a:off x="8782872" y="304878"/>
            <a:ext cx="2847904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 OBJECTIVES</a:t>
            </a:r>
            <a:endParaRPr lang="en-US" sz="1000" dirty="0"/>
          </a:p>
        </p:txBody>
      </p:sp>
      <p:sp>
        <p:nvSpPr>
          <p:cNvPr id="56" name="Text 41"/>
          <p:cNvSpPr/>
          <p:nvPr/>
        </p:nvSpPr>
        <p:spPr>
          <a:xfrm>
            <a:off x="1219170" y="1424038"/>
            <a:ext cx="784840" cy="238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战略定位</a:t>
            </a:r>
            <a:endParaRPr lang="en-US" sz="1400" dirty="0"/>
          </a:p>
        </p:txBody>
      </p:sp>
      <p:sp>
        <p:nvSpPr>
          <p:cNvPr id="57" name="Text 42"/>
          <p:cNvSpPr/>
          <p:nvPr/>
        </p:nvSpPr>
        <p:spPr>
          <a:xfrm>
            <a:off x="793681" y="2114583"/>
            <a:ext cx="129536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</a:t>
            </a:r>
            <a:endParaRPr lang="en-US" sz="800" dirty="0"/>
          </a:p>
        </p:txBody>
      </p:sp>
      <p:sp>
        <p:nvSpPr>
          <p:cNvPr id="58" name="Text 43"/>
          <p:cNvSpPr/>
          <p:nvPr/>
        </p:nvSpPr>
        <p:spPr>
          <a:xfrm>
            <a:off x="789299" y="2324128"/>
            <a:ext cx="130413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目标市场选择</a:t>
            </a:r>
            <a:endParaRPr lang="en-US" sz="1100" dirty="0"/>
          </a:p>
        </p:txBody>
      </p:sp>
      <p:sp>
        <p:nvSpPr>
          <p:cNvPr id="59" name="Text 44"/>
          <p:cNvSpPr/>
          <p:nvPr/>
        </p:nvSpPr>
        <p:spPr>
          <a:xfrm>
            <a:off x="2533512" y="2114583"/>
            <a:ext cx="129536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800" dirty="0"/>
          </a:p>
        </p:txBody>
      </p:sp>
      <p:sp>
        <p:nvSpPr>
          <p:cNvPr id="60" name="Text 45"/>
          <p:cNvSpPr/>
          <p:nvPr/>
        </p:nvSpPr>
        <p:spPr>
          <a:xfrm>
            <a:off x="2529131" y="2324128"/>
            <a:ext cx="130413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差异化竞争优势</a:t>
            </a:r>
            <a:endParaRPr lang="en-US" sz="1100" dirty="0"/>
          </a:p>
        </p:txBody>
      </p:sp>
      <p:sp>
        <p:nvSpPr>
          <p:cNvPr id="61" name="Text 46"/>
          <p:cNvSpPr/>
          <p:nvPr/>
        </p:nvSpPr>
        <p:spPr>
          <a:xfrm>
            <a:off x="4273418" y="2114583"/>
            <a:ext cx="1295368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800" dirty="0"/>
          </a:p>
        </p:txBody>
      </p:sp>
      <p:sp>
        <p:nvSpPr>
          <p:cNvPr id="62" name="Text 47"/>
          <p:cNvSpPr/>
          <p:nvPr/>
        </p:nvSpPr>
        <p:spPr>
          <a:xfrm>
            <a:off x="4269037" y="2457474"/>
            <a:ext cx="130413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价值主张定义</a:t>
            </a:r>
            <a:endParaRPr lang="en-US" sz="1100" dirty="0"/>
          </a:p>
        </p:txBody>
      </p:sp>
      <p:sp>
        <p:nvSpPr>
          <p:cNvPr id="63" name="Text 48"/>
          <p:cNvSpPr/>
          <p:nvPr/>
        </p:nvSpPr>
        <p:spPr>
          <a:xfrm>
            <a:off x="1114397" y="3581396"/>
            <a:ext cx="1220693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SWOT战略匹配</a:t>
            </a:r>
            <a:endParaRPr lang="en-US" sz="1300" dirty="0"/>
          </a:p>
        </p:txBody>
      </p:sp>
      <p:sp>
        <p:nvSpPr>
          <p:cNvPr id="64" name="Text 49"/>
          <p:cNvSpPr/>
          <p:nvPr/>
        </p:nvSpPr>
        <p:spPr>
          <a:xfrm>
            <a:off x="761981" y="4657694"/>
            <a:ext cx="2234128" cy="371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2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利用内部优势抓住外部机会，实现快速增长</a:t>
            </a:r>
            <a:endParaRPr lang="en-US" sz="900" dirty="0"/>
          </a:p>
        </p:txBody>
      </p:sp>
      <p:sp>
        <p:nvSpPr>
          <p:cNvPr id="65" name="Text 50"/>
          <p:cNvSpPr/>
          <p:nvPr/>
        </p:nvSpPr>
        <p:spPr>
          <a:xfrm>
            <a:off x="3381290" y="4655313"/>
            <a:ext cx="223412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2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克服内部劣势，把握外部机会实现转型</a:t>
            </a:r>
            <a:endParaRPr lang="en-US" sz="900" dirty="0"/>
          </a:p>
        </p:txBody>
      </p:sp>
      <p:sp>
        <p:nvSpPr>
          <p:cNvPr id="66" name="Text 51"/>
          <p:cNvSpPr/>
          <p:nvPr/>
        </p:nvSpPr>
        <p:spPr>
          <a:xfrm>
            <a:off x="761981" y="6000686"/>
            <a:ext cx="2234128" cy="371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2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利用内部优势应对外部威胁，巩固市场地位</a:t>
            </a:r>
            <a:endParaRPr lang="en-US" sz="900" dirty="0"/>
          </a:p>
        </p:txBody>
      </p:sp>
      <p:sp>
        <p:nvSpPr>
          <p:cNvPr id="67" name="Text 52"/>
          <p:cNvSpPr/>
          <p:nvPr/>
        </p:nvSpPr>
        <p:spPr>
          <a:xfrm>
            <a:off x="3381290" y="5998304"/>
            <a:ext cx="223412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2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减少内部劣势，规避外部威胁求生存</a:t>
            </a:r>
            <a:endParaRPr lang="en-US" sz="900" dirty="0"/>
          </a:p>
        </p:txBody>
      </p:sp>
      <p:sp>
        <p:nvSpPr>
          <p:cNvPr id="68" name="Text 53"/>
          <p:cNvSpPr/>
          <p:nvPr/>
        </p:nvSpPr>
        <p:spPr>
          <a:xfrm>
            <a:off x="6943551" y="1371651"/>
            <a:ext cx="1049248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战略目标体系</a:t>
            </a:r>
            <a:endParaRPr lang="en-US" sz="1300" dirty="0"/>
          </a:p>
        </p:txBody>
      </p:sp>
      <p:sp>
        <p:nvSpPr>
          <p:cNvPr id="69" name="Text 54"/>
          <p:cNvSpPr/>
          <p:nvPr/>
        </p:nvSpPr>
        <p:spPr>
          <a:xfrm>
            <a:off x="7027711" y="2124108"/>
            <a:ext cx="71435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800" dirty="0"/>
          </a:p>
        </p:txBody>
      </p:sp>
      <p:sp>
        <p:nvSpPr>
          <p:cNvPr id="70" name="Text 55"/>
          <p:cNvSpPr/>
          <p:nvPr/>
        </p:nvSpPr>
        <p:spPr>
          <a:xfrm>
            <a:off x="6629234" y="2457474"/>
            <a:ext cx="214230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财务目标</a:t>
            </a:r>
            <a:endParaRPr lang="en-US" sz="1100" dirty="0"/>
          </a:p>
        </p:txBody>
      </p:sp>
      <p:sp>
        <p:nvSpPr>
          <p:cNvPr id="71" name="Text 56"/>
          <p:cNvSpPr/>
          <p:nvPr/>
        </p:nvSpPr>
        <p:spPr>
          <a:xfrm>
            <a:off x="6629234" y="2800366"/>
            <a:ext cx="2142309" cy="628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营收年增长率 15%+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净利润率提升至 12%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股东回报率 20%+</a:t>
            </a:r>
            <a:endParaRPr lang="en-US" sz="800" dirty="0"/>
          </a:p>
        </p:txBody>
      </p:sp>
      <p:sp>
        <p:nvSpPr>
          <p:cNvPr id="72" name="Text 57"/>
          <p:cNvSpPr/>
          <p:nvPr/>
        </p:nvSpPr>
        <p:spPr>
          <a:xfrm>
            <a:off x="9669791" y="2124108"/>
            <a:ext cx="73340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800" dirty="0"/>
          </a:p>
        </p:txBody>
      </p:sp>
      <p:sp>
        <p:nvSpPr>
          <p:cNvPr id="73" name="Text 58"/>
          <p:cNvSpPr/>
          <p:nvPr/>
        </p:nvSpPr>
        <p:spPr>
          <a:xfrm>
            <a:off x="9267593" y="2457474"/>
            <a:ext cx="214230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客户目标</a:t>
            </a:r>
            <a:endParaRPr lang="en-US" sz="1100" dirty="0"/>
          </a:p>
        </p:txBody>
      </p:sp>
      <p:sp>
        <p:nvSpPr>
          <p:cNvPr id="74" name="Text 59"/>
          <p:cNvSpPr/>
          <p:nvPr/>
        </p:nvSpPr>
        <p:spPr>
          <a:xfrm>
            <a:off x="9267593" y="2800366"/>
            <a:ext cx="2142309" cy="628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市场份额提升 5%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客户满意度 90%+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客户留存率 85%+</a:t>
            </a:r>
            <a:endParaRPr lang="en-US" sz="800" dirty="0"/>
          </a:p>
        </p:txBody>
      </p:sp>
      <p:sp>
        <p:nvSpPr>
          <p:cNvPr id="75" name="Text 60"/>
          <p:cNvSpPr/>
          <p:nvPr/>
        </p:nvSpPr>
        <p:spPr>
          <a:xfrm>
            <a:off x="7031432" y="4181456"/>
            <a:ext cx="93342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800" dirty="0"/>
          </a:p>
        </p:txBody>
      </p:sp>
      <p:sp>
        <p:nvSpPr>
          <p:cNvPr id="76" name="Text 61"/>
          <p:cNvSpPr/>
          <p:nvPr/>
        </p:nvSpPr>
        <p:spPr>
          <a:xfrm>
            <a:off x="6629234" y="4514823"/>
            <a:ext cx="214230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运营目标</a:t>
            </a:r>
            <a:endParaRPr lang="en-US" sz="1100" dirty="0"/>
          </a:p>
        </p:txBody>
      </p:sp>
      <p:sp>
        <p:nvSpPr>
          <p:cNvPr id="77" name="Text 62"/>
          <p:cNvSpPr/>
          <p:nvPr/>
        </p:nvSpPr>
        <p:spPr>
          <a:xfrm>
            <a:off x="6629234" y="4857714"/>
            <a:ext cx="2142309" cy="628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运营成本降低 10%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交付效率提升 20%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质量合格率 99%+</a:t>
            </a:r>
            <a:endParaRPr lang="en-US" sz="800" dirty="0"/>
          </a:p>
        </p:txBody>
      </p:sp>
      <p:sp>
        <p:nvSpPr>
          <p:cNvPr id="78" name="Text 63"/>
          <p:cNvSpPr/>
          <p:nvPr/>
        </p:nvSpPr>
        <p:spPr>
          <a:xfrm>
            <a:off x="9665996" y="4181456"/>
            <a:ext cx="59053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800" dirty="0"/>
          </a:p>
        </p:txBody>
      </p:sp>
      <p:sp>
        <p:nvSpPr>
          <p:cNvPr id="79" name="Text 64"/>
          <p:cNvSpPr/>
          <p:nvPr/>
        </p:nvSpPr>
        <p:spPr>
          <a:xfrm>
            <a:off x="9267593" y="4514823"/>
            <a:ext cx="214230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成长目标</a:t>
            </a:r>
            <a:endParaRPr lang="en-US" sz="1100" dirty="0"/>
          </a:p>
        </p:txBody>
      </p:sp>
      <p:sp>
        <p:nvSpPr>
          <p:cNvPr id="80" name="Text 65"/>
          <p:cNvSpPr/>
          <p:nvPr/>
        </p:nvSpPr>
        <p:spPr>
          <a:xfrm>
            <a:off x="9267593" y="4857714"/>
            <a:ext cx="2142309" cy="628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新产品占比 30%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数字化转型完成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核心人才留存 95%</a:t>
            </a:r>
            <a:endParaRPr lang="en-US" sz="800" dirty="0"/>
          </a:p>
        </p:txBody>
      </p:sp>
      <p:pic>
        <p:nvPicPr>
          <p:cNvPr id="81" name="Image 13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0" y="6095933"/>
            <a:ext cx="12191695" cy="380990"/>
          </a:xfrm>
          <a:prstGeom prst="rect">
            <a:avLst/>
          </a:prstGeom>
        </p:spPr>
      </p:pic>
      <p:sp>
        <p:nvSpPr>
          <p:cNvPr id="82" name="Text 66"/>
          <p:cNvSpPr/>
          <p:nvPr/>
        </p:nvSpPr>
        <p:spPr>
          <a:xfrm>
            <a:off x="11211463" y="6214993"/>
            <a:ext cx="41909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"/>
            <a:ext cx="12191695" cy="6857828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6"/>
            <a:ext cx="12191695" cy="76198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486" y="190581"/>
            <a:ext cx="380990" cy="380990"/>
          </a:xfrm>
          <a:prstGeom prst="roundRect">
            <a:avLst>
              <a:gd name="adj" fmla="val 60002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80990" y="1048851"/>
            <a:ext cx="4438539" cy="4314717"/>
          </a:xfrm>
          <a:prstGeom prst="roundRect">
            <a:avLst>
              <a:gd name="adj" fmla="val 936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110" y="1428800"/>
            <a:ext cx="419090" cy="41909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57" y="1504998"/>
            <a:ext cx="228594" cy="266693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19110" y="2141297"/>
            <a:ext cx="1752556" cy="1609685"/>
          </a:xfrm>
          <a:prstGeom prst="roundRect">
            <a:avLst>
              <a:gd name="adj" fmla="val 4034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009625" y="2491853"/>
            <a:ext cx="816082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1396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巩固市场地位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2485963" y="2141297"/>
            <a:ext cx="2095448" cy="1609685"/>
          </a:xfrm>
          <a:prstGeom prst="roundRect">
            <a:avLst>
              <a:gd name="adj" fmla="val 4034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2876478" y="2491853"/>
            <a:ext cx="549388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1396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客户经营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5010025" y="1048851"/>
            <a:ext cx="3305092" cy="4314717"/>
          </a:xfrm>
          <a:prstGeom prst="roundRect">
            <a:avLst>
              <a:gd name="adj" fmla="val 1595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8144" y="1428800"/>
            <a:ext cx="419090" cy="419090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3391" y="1504998"/>
            <a:ext cx="228594" cy="266693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248144" y="2141297"/>
            <a:ext cx="2828854" cy="1400140"/>
          </a:xfrm>
          <a:prstGeom prst="roundRect">
            <a:avLst>
              <a:gd name="adj" fmla="val 5331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10065" y="2482328"/>
            <a:ext cx="152396" cy="17144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638659" y="2491853"/>
            <a:ext cx="682735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1396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新市场拓展</a:t>
            </a:r>
            <a:endParaRPr lang="en-US" sz="1000" dirty="0"/>
          </a:p>
        </p:txBody>
      </p:sp>
      <p:sp>
        <p:nvSpPr>
          <p:cNvPr id="18" name="Shape 10"/>
          <p:cNvSpPr/>
          <p:nvPr/>
        </p:nvSpPr>
        <p:spPr>
          <a:xfrm>
            <a:off x="5248144" y="3728211"/>
            <a:ext cx="2828854" cy="1400140"/>
          </a:xfrm>
          <a:prstGeom prst="roundRect">
            <a:avLst>
              <a:gd name="adj" fmla="val 5331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0065" y="4069243"/>
            <a:ext cx="152396" cy="171446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638659" y="4078767"/>
            <a:ext cx="549388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1396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新增长点</a:t>
            </a:r>
            <a:endParaRPr lang="en-US" sz="1000" dirty="0"/>
          </a:p>
        </p:txBody>
      </p:sp>
      <p:sp>
        <p:nvSpPr>
          <p:cNvPr id="21" name="Shape 12"/>
          <p:cNvSpPr/>
          <p:nvPr/>
        </p:nvSpPr>
        <p:spPr>
          <a:xfrm>
            <a:off x="8505612" y="1048851"/>
            <a:ext cx="3305092" cy="4314717"/>
          </a:xfrm>
          <a:prstGeom prst="roundRect">
            <a:avLst>
              <a:gd name="adj" fmla="val 1595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43731" y="1428800"/>
            <a:ext cx="419090" cy="419090"/>
          </a:xfrm>
          <a:prstGeom prst="rect">
            <a:avLst/>
          </a:prstGeom>
        </p:spPr>
      </p:pic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38979" y="1504998"/>
            <a:ext cx="228594" cy="266693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8743731" y="2141297"/>
            <a:ext cx="2828854" cy="1400140"/>
          </a:xfrm>
          <a:prstGeom prst="roundRect">
            <a:avLst>
              <a:gd name="adj" fmla="val 5331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05652" y="2482328"/>
            <a:ext cx="152396" cy="171446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9134246" y="2491853"/>
            <a:ext cx="549388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1396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未来赛道</a:t>
            </a:r>
            <a:endParaRPr lang="en-US" sz="1000" dirty="0"/>
          </a:p>
        </p:txBody>
      </p:sp>
      <p:sp>
        <p:nvSpPr>
          <p:cNvPr id="27" name="Shape 15"/>
          <p:cNvSpPr/>
          <p:nvPr/>
        </p:nvSpPr>
        <p:spPr>
          <a:xfrm>
            <a:off x="8743731" y="3728211"/>
            <a:ext cx="2828854" cy="1400140"/>
          </a:xfrm>
          <a:prstGeom prst="roundRect">
            <a:avLst>
              <a:gd name="adj" fmla="val 5331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05652" y="4069243"/>
            <a:ext cx="152396" cy="171446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9134246" y="4078767"/>
            <a:ext cx="682735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1396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新动能培育</a:t>
            </a:r>
            <a:endParaRPr lang="en-US" sz="10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80990" y="5593204"/>
            <a:ext cx="5610085" cy="2609785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609585" y="5821799"/>
            <a:ext cx="419090" cy="419090"/>
          </a:xfrm>
          <a:prstGeom prst="roundRect">
            <a:avLst>
              <a:gd name="adj" fmla="val 59506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2" name="Shape 18"/>
          <p:cNvSpPr/>
          <p:nvPr/>
        </p:nvSpPr>
        <p:spPr>
          <a:xfrm>
            <a:off x="608022" y="6431383"/>
            <a:ext cx="1619209" cy="1543011"/>
          </a:xfrm>
          <a:prstGeom prst="roundRect">
            <a:avLst>
              <a:gd name="adj" fmla="val 512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19"/>
          <p:cNvSpPr/>
          <p:nvPr/>
        </p:nvSpPr>
        <p:spPr>
          <a:xfrm>
            <a:off x="1188958" y="6631403"/>
            <a:ext cx="457189" cy="457189"/>
          </a:xfrm>
          <a:prstGeom prst="roundRect">
            <a:avLst>
              <a:gd name="adj" fmla="val 50001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93731" y="6712364"/>
            <a:ext cx="247644" cy="295268"/>
          </a:xfrm>
          <a:prstGeom prst="rect">
            <a:avLst/>
          </a:prstGeom>
        </p:spPr>
      </p:pic>
      <p:sp>
        <p:nvSpPr>
          <p:cNvPr id="35" name="Shape 20"/>
          <p:cNvSpPr/>
          <p:nvPr/>
        </p:nvSpPr>
        <p:spPr>
          <a:xfrm>
            <a:off x="2376502" y="6431383"/>
            <a:ext cx="1619209" cy="1543011"/>
          </a:xfrm>
          <a:prstGeom prst="roundRect">
            <a:avLst>
              <a:gd name="adj" fmla="val 5121"/>
            </a:avLst>
          </a:prstGeom>
          <a:solidFill>
            <a:srgbClr val="FFFFFF"/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Shape 21"/>
          <p:cNvSpPr/>
          <p:nvPr/>
        </p:nvSpPr>
        <p:spPr>
          <a:xfrm>
            <a:off x="2957439" y="6631403"/>
            <a:ext cx="457189" cy="457189"/>
          </a:xfrm>
          <a:prstGeom prst="roundRect">
            <a:avLst>
              <a:gd name="adj" fmla="val 50001"/>
            </a:avLst>
          </a:prstGeom>
          <a:solidFill>
            <a:srgbClr val="1284BA">
              <a:alpha val="10000"/>
            </a:srgbClr>
          </a:solidFill>
          <a:ln/>
        </p:spPr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62211" y="6712364"/>
            <a:ext cx="247644" cy="295268"/>
          </a:xfrm>
          <a:prstGeom prst="rect">
            <a:avLst/>
          </a:prstGeom>
        </p:spPr>
      </p:pic>
      <p:sp>
        <p:nvSpPr>
          <p:cNvPr id="38" name="Shape 22"/>
          <p:cNvSpPr/>
          <p:nvPr/>
        </p:nvSpPr>
        <p:spPr>
          <a:xfrm>
            <a:off x="4144983" y="6431383"/>
            <a:ext cx="1619209" cy="1543011"/>
          </a:xfrm>
          <a:prstGeom prst="roundRect">
            <a:avLst>
              <a:gd name="adj" fmla="val 512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9" name="Shape 23"/>
          <p:cNvSpPr/>
          <p:nvPr/>
        </p:nvSpPr>
        <p:spPr>
          <a:xfrm>
            <a:off x="4725919" y="6631403"/>
            <a:ext cx="457189" cy="457189"/>
          </a:xfrm>
          <a:prstGeom prst="roundRect">
            <a:avLst>
              <a:gd name="adj" fmla="val 50001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30691" y="6712364"/>
            <a:ext cx="247644" cy="295268"/>
          </a:xfrm>
          <a:prstGeom prst="rect">
            <a:avLst/>
          </a:prstGeom>
        </p:spPr>
      </p:pic>
      <p:sp>
        <p:nvSpPr>
          <p:cNvPr id="41" name="Shape 24"/>
          <p:cNvSpPr/>
          <p:nvPr/>
        </p:nvSpPr>
        <p:spPr>
          <a:xfrm>
            <a:off x="6181570" y="5593204"/>
            <a:ext cx="5629134" cy="2609785"/>
          </a:xfrm>
          <a:prstGeom prst="roundRect">
            <a:avLst>
              <a:gd name="adj" fmla="val 2557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419689" y="5831323"/>
            <a:ext cx="419090" cy="419090"/>
          </a:xfrm>
          <a:prstGeom prst="rect">
            <a:avLst/>
          </a:prstGeom>
        </p:spPr>
      </p:pic>
      <p:pic>
        <p:nvPicPr>
          <p:cNvPr id="43" name="Image 16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14937" y="5907522"/>
            <a:ext cx="228594" cy="266693"/>
          </a:xfrm>
          <a:prstGeom prst="rect">
            <a:avLst/>
          </a:prstGeom>
        </p:spPr>
      </p:pic>
      <p:sp>
        <p:nvSpPr>
          <p:cNvPr id="44" name="Shape 25"/>
          <p:cNvSpPr/>
          <p:nvPr/>
        </p:nvSpPr>
        <p:spPr>
          <a:xfrm>
            <a:off x="6421252" y="6401767"/>
            <a:ext cx="1638259" cy="1228694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45" name="Shape 26"/>
          <p:cNvSpPr/>
          <p:nvPr/>
        </p:nvSpPr>
        <p:spPr>
          <a:xfrm>
            <a:off x="7068861" y="6545681"/>
            <a:ext cx="342891" cy="342891"/>
          </a:xfrm>
          <a:prstGeom prst="roundRect">
            <a:avLst>
              <a:gd name="adj" fmla="val 74076"/>
            </a:avLst>
          </a:prstGeom>
          <a:solidFill>
            <a:srgbClr val="FF862F">
              <a:alpha val="10000"/>
            </a:srgbClr>
          </a:solidFill>
          <a:ln/>
        </p:spPr>
      </p:sp>
      <p:pic>
        <p:nvPicPr>
          <p:cNvPr id="46" name="Image 17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45060" y="6607592"/>
            <a:ext cx="190495" cy="219070"/>
          </a:xfrm>
          <a:prstGeom prst="rect">
            <a:avLst/>
          </a:prstGeom>
        </p:spPr>
      </p:pic>
      <p:sp>
        <p:nvSpPr>
          <p:cNvPr id="47" name="Shape 27"/>
          <p:cNvSpPr/>
          <p:nvPr/>
        </p:nvSpPr>
        <p:spPr>
          <a:xfrm>
            <a:off x="8176934" y="6401767"/>
            <a:ext cx="1638259" cy="1228694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48" name="Shape 28"/>
          <p:cNvSpPr/>
          <p:nvPr/>
        </p:nvSpPr>
        <p:spPr>
          <a:xfrm>
            <a:off x="8824543" y="6545681"/>
            <a:ext cx="342891" cy="342891"/>
          </a:xfrm>
          <a:prstGeom prst="roundRect">
            <a:avLst>
              <a:gd name="adj" fmla="val 74076"/>
            </a:avLst>
          </a:prstGeom>
          <a:solidFill>
            <a:srgbClr val="FF862F">
              <a:alpha val="10000"/>
            </a:srgbClr>
          </a:solidFill>
          <a:ln/>
        </p:spPr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00741" y="6607592"/>
            <a:ext cx="190495" cy="219070"/>
          </a:xfrm>
          <a:prstGeom prst="rect">
            <a:avLst/>
          </a:prstGeom>
        </p:spPr>
      </p:pic>
      <p:sp>
        <p:nvSpPr>
          <p:cNvPr id="50" name="Shape 29"/>
          <p:cNvSpPr/>
          <p:nvPr/>
        </p:nvSpPr>
        <p:spPr>
          <a:xfrm>
            <a:off x="9932689" y="6401767"/>
            <a:ext cx="1638259" cy="1228694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51" name="Shape 30"/>
          <p:cNvSpPr/>
          <p:nvPr/>
        </p:nvSpPr>
        <p:spPr>
          <a:xfrm>
            <a:off x="10580373" y="6545681"/>
            <a:ext cx="342891" cy="342891"/>
          </a:xfrm>
          <a:prstGeom prst="roundRect">
            <a:avLst>
              <a:gd name="adj" fmla="val 74076"/>
            </a:avLst>
          </a:prstGeom>
          <a:solidFill>
            <a:srgbClr val="FF862F">
              <a:alpha val="10000"/>
            </a:srgbClr>
          </a:solidFill>
          <a:ln/>
        </p:spPr>
      </p:sp>
      <p:pic>
        <p:nvPicPr>
          <p:cNvPr id="52" name="Image 19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656571" y="6607592"/>
            <a:ext cx="190495" cy="219070"/>
          </a:xfrm>
          <a:prstGeom prst="rect">
            <a:avLst/>
          </a:prstGeom>
        </p:spPr>
      </p:pic>
      <p:sp>
        <p:nvSpPr>
          <p:cNvPr id="53" name="Shape 31"/>
          <p:cNvSpPr/>
          <p:nvPr/>
        </p:nvSpPr>
        <p:spPr>
          <a:xfrm>
            <a:off x="0" y="6095933"/>
            <a:ext cx="12191695" cy="38099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54" name="Shape 32"/>
          <p:cNvSpPr/>
          <p:nvPr/>
        </p:nvSpPr>
        <p:spPr>
          <a:xfrm>
            <a:off x="571486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55" name="Shape 33"/>
          <p:cNvSpPr/>
          <p:nvPr/>
        </p:nvSpPr>
        <p:spPr>
          <a:xfrm>
            <a:off x="723882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56" name="Shape 34"/>
          <p:cNvSpPr/>
          <p:nvPr/>
        </p:nvSpPr>
        <p:spPr>
          <a:xfrm>
            <a:off x="876278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57" name="Shape 35"/>
          <p:cNvSpPr/>
          <p:nvPr/>
        </p:nvSpPr>
        <p:spPr>
          <a:xfrm>
            <a:off x="1028674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58" name="Shape 36"/>
          <p:cNvSpPr/>
          <p:nvPr/>
        </p:nvSpPr>
        <p:spPr>
          <a:xfrm>
            <a:off x="1181070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59" name="Shape 37"/>
          <p:cNvSpPr/>
          <p:nvPr/>
        </p:nvSpPr>
        <p:spPr>
          <a:xfrm>
            <a:off x="1333467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60" name="Shape 38"/>
          <p:cNvSpPr/>
          <p:nvPr/>
        </p:nvSpPr>
        <p:spPr>
          <a:xfrm>
            <a:off x="1485863" y="6253092"/>
            <a:ext cx="228594" cy="76198"/>
          </a:xfrm>
          <a:prstGeom prst="roundRect">
            <a:avLst>
              <a:gd name="adj" fmla="val 600016"/>
            </a:avLst>
          </a:prstGeom>
          <a:solidFill>
            <a:srgbClr val="FF862F"/>
          </a:solidFill>
          <a:ln/>
        </p:spPr>
      </p:sp>
      <p:sp>
        <p:nvSpPr>
          <p:cNvPr id="61" name="Shape 39"/>
          <p:cNvSpPr/>
          <p:nvPr/>
        </p:nvSpPr>
        <p:spPr>
          <a:xfrm>
            <a:off x="1790655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62" name="Shape 40"/>
          <p:cNvSpPr/>
          <p:nvPr/>
        </p:nvSpPr>
        <p:spPr>
          <a:xfrm>
            <a:off x="1943051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63" name="Text 41"/>
          <p:cNvSpPr/>
          <p:nvPr/>
        </p:nvSpPr>
        <p:spPr>
          <a:xfrm>
            <a:off x="566342" y="190581"/>
            <a:ext cx="39127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64" name="Text 42"/>
          <p:cNvSpPr/>
          <p:nvPr/>
        </p:nvSpPr>
        <p:spPr>
          <a:xfrm>
            <a:off x="1104872" y="223918"/>
            <a:ext cx="1746460" cy="314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1407"/>
              </a:spcBef>
              <a:spcAft>
                <a:spcPts val="1407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核心战略举措</a:t>
            </a:r>
            <a:endParaRPr lang="en-US" sz="2000" dirty="0"/>
          </a:p>
        </p:txBody>
      </p:sp>
      <p:sp>
        <p:nvSpPr>
          <p:cNvPr id="65" name="Text 43"/>
          <p:cNvSpPr/>
          <p:nvPr/>
        </p:nvSpPr>
        <p:spPr>
          <a:xfrm>
            <a:off x="9876880" y="304878"/>
            <a:ext cx="175255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INITIATIVES</a:t>
            </a:r>
            <a:endParaRPr lang="en-US" sz="1000" dirty="0"/>
          </a:p>
        </p:txBody>
      </p:sp>
      <p:sp>
        <p:nvSpPr>
          <p:cNvPr id="66" name="Text 44"/>
          <p:cNvSpPr/>
          <p:nvPr/>
        </p:nvSpPr>
        <p:spPr>
          <a:xfrm>
            <a:off x="1153166" y="1285929"/>
            <a:ext cx="1228694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BUSINESS</a:t>
            </a:r>
            <a:endParaRPr lang="en-US" sz="1000" dirty="0"/>
          </a:p>
        </p:txBody>
      </p:sp>
      <p:sp>
        <p:nvSpPr>
          <p:cNvPr id="67" name="Text 45"/>
          <p:cNvSpPr/>
          <p:nvPr/>
        </p:nvSpPr>
        <p:spPr>
          <a:xfrm>
            <a:off x="1153166" y="1609771"/>
            <a:ext cx="1239743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核心业务战略</a:t>
            </a:r>
            <a:endParaRPr lang="en-US" sz="1300" dirty="0"/>
          </a:p>
        </p:txBody>
      </p:sp>
      <p:sp>
        <p:nvSpPr>
          <p:cNvPr id="68" name="Text 46"/>
          <p:cNvSpPr/>
          <p:nvPr/>
        </p:nvSpPr>
        <p:spPr>
          <a:xfrm>
            <a:off x="781030" y="2806170"/>
            <a:ext cx="1447002" cy="628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深耕存量客户价值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提升品牌影响力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优化产品组合</a:t>
            </a:r>
            <a:endParaRPr lang="en-US" sz="800" dirty="0"/>
          </a:p>
        </p:txBody>
      </p:sp>
      <p:sp>
        <p:nvSpPr>
          <p:cNvPr id="69" name="Text 47"/>
          <p:cNvSpPr/>
          <p:nvPr/>
        </p:nvSpPr>
        <p:spPr>
          <a:xfrm>
            <a:off x="2647884" y="2806170"/>
            <a:ext cx="1789893" cy="628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建立客户全生命周期管理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提升客户粘性和复购率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打造极致客户体验</a:t>
            </a:r>
            <a:endParaRPr lang="en-US" sz="800" dirty="0"/>
          </a:p>
        </p:txBody>
      </p:sp>
      <p:sp>
        <p:nvSpPr>
          <p:cNvPr id="70" name="Text 48"/>
          <p:cNvSpPr/>
          <p:nvPr/>
        </p:nvSpPr>
        <p:spPr>
          <a:xfrm>
            <a:off x="5783763" y="1285929"/>
            <a:ext cx="1466813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BUSINESS</a:t>
            </a:r>
            <a:endParaRPr lang="en-US" sz="1000" dirty="0"/>
          </a:p>
        </p:txBody>
      </p:sp>
      <p:sp>
        <p:nvSpPr>
          <p:cNvPr id="71" name="Text 49"/>
          <p:cNvSpPr/>
          <p:nvPr/>
        </p:nvSpPr>
        <p:spPr>
          <a:xfrm>
            <a:off x="5783763" y="1609771"/>
            <a:ext cx="1477862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成长业务战略</a:t>
            </a:r>
            <a:endParaRPr lang="en-US" sz="1300" dirty="0"/>
          </a:p>
        </p:txBody>
      </p:sp>
      <p:sp>
        <p:nvSpPr>
          <p:cNvPr id="72" name="Text 50"/>
          <p:cNvSpPr/>
          <p:nvPr/>
        </p:nvSpPr>
        <p:spPr>
          <a:xfrm>
            <a:off x="5410065" y="2806170"/>
            <a:ext cx="2523300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区域市场扩张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细分市场渗透</a:t>
            </a:r>
            <a:endParaRPr lang="en-US" sz="800" dirty="0"/>
          </a:p>
        </p:txBody>
      </p:sp>
      <p:sp>
        <p:nvSpPr>
          <p:cNvPr id="73" name="Text 51"/>
          <p:cNvSpPr/>
          <p:nvPr/>
        </p:nvSpPr>
        <p:spPr>
          <a:xfrm>
            <a:off x="5410065" y="4393084"/>
            <a:ext cx="2523300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寻找新业务机会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培育新收入来源</a:t>
            </a:r>
            <a:endParaRPr lang="en-US" sz="800" dirty="0"/>
          </a:p>
        </p:txBody>
      </p:sp>
      <p:sp>
        <p:nvSpPr>
          <p:cNvPr id="74" name="Text 52"/>
          <p:cNvSpPr/>
          <p:nvPr/>
        </p:nvSpPr>
        <p:spPr>
          <a:xfrm>
            <a:off x="9277118" y="1285929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INCUBATION</a:t>
            </a:r>
            <a:endParaRPr lang="en-US" sz="1000" dirty="0"/>
          </a:p>
        </p:txBody>
      </p:sp>
      <p:sp>
        <p:nvSpPr>
          <p:cNvPr id="75" name="Text 53"/>
          <p:cNvSpPr/>
          <p:nvPr/>
        </p:nvSpPr>
        <p:spPr>
          <a:xfrm>
            <a:off x="9277118" y="1609771"/>
            <a:ext cx="1049248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孵化业务战略</a:t>
            </a:r>
            <a:endParaRPr lang="en-US" sz="1300" dirty="0"/>
          </a:p>
        </p:txBody>
      </p:sp>
      <p:sp>
        <p:nvSpPr>
          <p:cNvPr id="76" name="Text 54"/>
          <p:cNvSpPr/>
          <p:nvPr/>
        </p:nvSpPr>
        <p:spPr>
          <a:xfrm>
            <a:off x="8905652" y="2806170"/>
            <a:ext cx="2523300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前沿技术研究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创新商业模式探索</a:t>
            </a:r>
            <a:endParaRPr lang="en-US" sz="800" dirty="0"/>
          </a:p>
        </p:txBody>
      </p:sp>
      <p:sp>
        <p:nvSpPr>
          <p:cNvPr id="77" name="Text 55"/>
          <p:cNvSpPr/>
          <p:nvPr/>
        </p:nvSpPr>
        <p:spPr>
          <a:xfrm>
            <a:off x="8905652" y="4393084"/>
            <a:ext cx="2523300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内部创业机制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生态合作布局</a:t>
            </a:r>
            <a:endParaRPr lang="en-US" sz="800" dirty="0"/>
          </a:p>
        </p:txBody>
      </p:sp>
      <p:sp>
        <p:nvSpPr>
          <p:cNvPr id="78" name="Text 56"/>
          <p:cNvSpPr/>
          <p:nvPr/>
        </p:nvSpPr>
        <p:spPr>
          <a:xfrm>
            <a:off x="1142971" y="5926571"/>
            <a:ext cx="1049248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竞争战略选择</a:t>
            </a:r>
            <a:endParaRPr lang="en-US" sz="1300" dirty="0"/>
          </a:p>
        </p:txBody>
      </p:sp>
      <p:sp>
        <p:nvSpPr>
          <p:cNvPr id="79" name="Text 57"/>
          <p:cNvSpPr/>
          <p:nvPr/>
        </p:nvSpPr>
        <p:spPr>
          <a:xfrm>
            <a:off x="800041" y="7202889"/>
            <a:ext cx="1235171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成本领先</a:t>
            </a:r>
            <a:endParaRPr lang="en-US" sz="1000" dirty="0"/>
          </a:p>
        </p:txBody>
      </p:sp>
      <p:sp>
        <p:nvSpPr>
          <p:cNvPr id="80" name="Text 58"/>
          <p:cNvSpPr/>
          <p:nvPr/>
        </p:nvSpPr>
        <p:spPr>
          <a:xfrm>
            <a:off x="801184" y="7431483"/>
            <a:ext cx="1232885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规模效应</a:t>
            </a:r>
            <a:br/>
            <a:pPr algn="ct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流程优化</a:t>
            </a:r>
            <a:endParaRPr lang="en-US" sz="800" dirty="0"/>
          </a:p>
        </p:txBody>
      </p:sp>
      <p:sp>
        <p:nvSpPr>
          <p:cNvPr id="81" name="Text 59"/>
          <p:cNvSpPr/>
          <p:nvPr/>
        </p:nvSpPr>
        <p:spPr>
          <a:xfrm>
            <a:off x="2568522" y="7202889"/>
            <a:ext cx="1235171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</a:t>
            </a:r>
            <a:endParaRPr lang="en-US" sz="1000" dirty="0"/>
          </a:p>
        </p:txBody>
      </p:sp>
      <p:sp>
        <p:nvSpPr>
          <p:cNvPr id="82" name="Text 60"/>
          <p:cNvSpPr/>
          <p:nvPr/>
        </p:nvSpPr>
        <p:spPr>
          <a:xfrm>
            <a:off x="2569665" y="7431483"/>
            <a:ext cx="1232885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产品创新</a:t>
            </a:r>
            <a:br/>
            <a:pPr algn="ct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服务升级</a:t>
            </a:r>
            <a:endParaRPr lang="en-US" sz="800" dirty="0"/>
          </a:p>
        </p:txBody>
      </p:sp>
      <p:sp>
        <p:nvSpPr>
          <p:cNvPr id="83" name="Text 61"/>
          <p:cNvSpPr/>
          <p:nvPr/>
        </p:nvSpPr>
        <p:spPr>
          <a:xfrm>
            <a:off x="4337002" y="7202889"/>
            <a:ext cx="1235171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聚焦战略</a:t>
            </a:r>
            <a:endParaRPr lang="en-US" sz="1000" dirty="0"/>
          </a:p>
        </p:txBody>
      </p:sp>
      <p:sp>
        <p:nvSpPr>
          <p:cNvPr id="84" name="Text 62"/>
          <p:cNvSpPr/>
          <p:nvPr/>
        </p:nvSpPr>
        <p:spPr>
          <a:xfrm>
            <a:off x="4338145" y="7431483"/>
            <a:ext cx="1232885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细分市场</a:t>
            </a:r>
            <a:br/>
            <a:pPr algn="ct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深耕细作</a:t>
            </a:r>
            <a:endParaRPr lang="en-US" sz="800" dirty="0"/>
          </a:p>
        </p:txBody>
      </p:sp>
      <p:sp>
        <p:nvSpPr>
          <p:cNvPr id="85" name="Text 63"/>
          <p:cNvSpPr/>
          <p:nvPr/>
        </p:nvSpPr>
        <p:spPr>
          <a:xfrm>
            <a:off x="6953076" y="5936096"/>
            <a:ext cx="1049248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职能战略支撑</a:t>
            </a:r>
            <a:endParaRPr lang="en-US" sz="1300" dirty="0"/>
          </a:p>
        </p:txBody>
      </p:sp>
      <p:sp>
        <p:nvSpPr>
          <p:cNvPr id="86" name="Text 64"/>
          <p:cNvSpPr/>
          <p:nvPr/>
        </p:nvSpPr>
        <p:spPr>
          <a:xfrm>
            <a:off x="6556123" y="6983820"/>
            <a:ext cx="1368518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营销战略</a:t>
            </a:r>
            <a:endParaRPr lang="en-US" sz="1000" dirty="0"/>
          </a:p>
        </p:txBody>
      </p:sp>
      <p:sp>
        <p:nvSpPr>
          <p:cNvPr id="87" name="Text 65"/>
          <p:cNvSpPr/>
          <p:nvPr/>
        </p:nvSpPr>
        <p:spPr>
          <a:xfrm>
            <a:off x="6557837" y="7192323"/>
            <a:ext cx="1365089" cy="29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品牌建设</a:t>
            </a:r>
            <a:br/>
            <a:pPr algn="ctr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渠道拓展</a:t>
            </a:r>
            <a:endParaRPr lang="en-US" sz="800" dirty="0"/>
          </a:p>
        </p:txBody>
      </p:sp>
      <p:sp>
        <p:nvSpPr>
          <p:cNvPr id="88" name="Text 66"/>
          <p:cNvSpPr/>
          <p:nvPr/>
        </p:nvSpPr>
        <p:spPr>
          <a:xfrm>
            <a:off x="8311804" y="6983820"/>
            <a:ext cx="1368518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研发战略</a:t>
            </a:r>
            <a:endParaRPr lang="en-US" sz="1000" dirty="0"/>
          </a:p>
        </p:txBody>
      </p:sp>
      <p:sp>
        <p:nvSpPr>
          <p:cNvPr id="89" name="Text 67"/>
          <p:cNvSpPr/>
          <p:nvPr/>
        </p:nvSpPr>
        <p:spPr>
          <a:xfrm>
            <a:off x="8313519" y="7192323"/>
            <a:ext cx="1365089" cy="29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技术创新</a:t>
            </a:r>
            <a:br/>
            <a:pPr algn="ctr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产品迭代</a:t>
            </a:r>
            <a:endParaRPr lang="en-US" sz="800" dirty="0"/>
          </a:p>
        </p:txBody>
      </p:sp>
      <p:sp>
        <p:nvSpPr>
          <p:cNvPr id="90" name="Text 68"/>
          <p:cNvSpPr/>
          <p:nvPr/>
        </p:nvSpPr>
        <p:spPr>
          <a:xfrm>
            <a:off x="10067560" y="6983820"/>
            <a:ext cx="1368518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人力战略</a:t>
            </a:r>
            <a:endParaRPr lang="en-US" sz="1000" dirty="0"/>
          </a:p>
        </p:txBody>
      </p:sp>
      <p:sp>
        <p:nvSpPr>
          <p:cNvPr id="91" name="Text 69"/>
          <p:cNvSpPr/>
          <p:nvPr/>
        </p:nvSpPr>
        <p:spPr>
          <a:xfrm>
            <a:off x="10069274" y="7192323"/>
            <a:ext cx="1365089" cy="29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人才引进</a:t>
            </a:r>
            <a:br/>
            <a:pPr algn="ctr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组织升级</a:t>
            </a:r>
            <a:endParaRPr lang="en-US" sz="800" dirty="0"/>
          </a:p>
        </p:txBody>
      </p:sp>
      <p:pic>
        <p:nvPicPr>
          <p:cNvPr id="92" name="Image 20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0" y="6095933"/>
            <a:ext cx="12191695" cy="380990"/>
          </a:xfrm>
          <a:prstGeom prst="rect">
            <a:avLst/>
          </a:prstGeom>
        </p:spPr>
      </p:pic>
      <p:sp>
        <p:nvSpPr>
          <p:cNvPr id="93" name="Text 70"/>
          <p:cNvSpPr/>
          <p:nvPr/>
        </p:nvSpPr>
        <p:spPr>
          <a:xfrm>
            <a:off x="11211463" y="6214993"/>
            <a:ext cx="41909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"/>
            <a:ext cx="12191695" cy="6857828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6"/>
            <a:ext cx="12191695" cy="76198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486" y="190581"/>
            <a:ext cx="380990" cy="380990"/>
          </a:xfrm>
          <a:prstGeom prst="roundRect">
            <a:avLst>
              <a:gd name="adj" fmla="val 60002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79651" y="1047810"/>
            <a:ext cx="3914677" cy="2476438"/>
          </a:xfrm>
          <a:prstGeom prst="roundRect">
            <a:avLst>
              <a:gd name="adj" fmla="val 2840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110" y="1285929"/>
            <a:ext cx="419090" cy="41909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57" y="1362127"/>
            <a:ext cx="228594" cy="266693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20226" y="1857414"/>
            <a:ext cx="1066773" cy="866753"/>
          </a:xfrm>
          <a:prstGeom prst="roundRect">
            <a:avLst>
              <a:gd name="adj" fmla="val 13912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782147" y="2505098"/>
            <a:ext cx="742931" cy="57149"/>
          </a:xfrm>
          <a:prstGeom prst="roundRect">
            <a:avLst>
              <a:gd name="adj" fmla="val 800014"/>
            </a:avLst>
          </a:prstGeom>
          <a:solidFill>
            <a:srgbClr val="E8EDF2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1551" y="2505098"/>
            <a:ext cx="371466" cy="57149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803529" y="1857414"/>
            <a:ext cx="1066773" cy="866753"/>
          </a:xfrm>
          <a:prstGeom prst="roundRect">
            <a:avLst>
              <a:gd name="adj" fmla="val 13912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1965449" y="2505098"/>
            <a:ext cx="742931" cy="57149"/>
          </a:xfrm>
          <a:prstGeom prst="roundRect">
            <a:avLst>
              <a:gd name="adj" fmla="val 800014"/>
            </a:avLst>
          </a:prstGeom>
          <a:solidFill>
            <a:srgbClr val="E8EDF2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66566" y="2505098"/>
            <a:ext cx="219070" cy="57149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2986906" y="1857414"/>
            <a:ext cx="1066773" cy="866753"/>
          </a:xfrm>
          <a:prstGeom prst="roundRect">
            <a:avLst>
              <a:gd name="adj" fmla="val 13912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3148827" y="2505098"/>
            <a:ext cx="742931" cy="57149"/>
          </a:xfrm>
          <a:prstGeom prst="roundRect">
            <a:avLst>
              <a:gd name="adj" fmla="val 800014"/>
            </a:avLst>
          </a:prstGeom>
          <a:solidFill>
            <a:srgbClr val="E8EDF2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45925" y="2505098"/>
            <a:ext cx="152396" cy="57149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4482145" y="1047810"/>
            <a:ext cx="3914677" cy="2476438"/>
          </a:xfrm>
          <a:prstGeom prst="roundRect">
            <a:avLst>
              <a:gd name="adj" fmla="val 2840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21603" y="1285929"/>
            <a:ext cx="419090" cy="419090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16851" y="1362127"/>
            <a:ext cx="228594" cy="266693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4722719" y="1857414"/>
            <a:ext cx="1066773" cy="1142971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21" name="Shape 11"/>
          <p:cNvSpPr/>
          <p:nvPr/>
        </p:nvSpPr>
        <p:spPr>
          <a:xfrm>
            <a:off x="5065536" y="2019335"/>
            <a:ext cx="380990" cy="380990"/>
          </a:xfrm>
          <a:prstGeom prst="roundRect">
            <a:avLst>
              <a:gd name="adj" fmla="val 60002"/>
            </a:avLst>
          </a:prstGeom>
          <a:solidFill>
            <a:srgbClr val="FF862F">
              <a:alpha val="10000"/>
            </a:srgbClr>
          </a:solidFill>
          <a:ln/>
        </p:spPr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51259" y="2086009"/>
            <a:ext cx="209545" cy="247644"/>
          </a:xfrm>
          <a:prstGeom prst="rect">
            <a:avLst/>
          </a:prstGeom>
        </p:spPr>
      </p:pic>
      <p:sp>
        <p:nvSpPr>
          <p:cNvPr id="23" name="Shape 12"/>
          <p:cNvSpPr/>
          <p:nvPr/>
        </p:nvSpPr>
        <p:spPr>
          <a:xfrm>
            <a:off x="5906022" y="1857414"/>
            <a:ext cx="1066773" cy="1142971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24" name="Shape 13"/>
          <p:cNvSpPr/>
          <p:nvPr/>
        </p:nvSpPr>
        <p:spPr>
          <a:xfrm>
            <a:off x="6248839" y="2019335"/>
            <a:ext cx="380990" cy="380990"/>
          </a:xfrm>
          <a:prstGeom prst="roundRect">
            <a:avLst>
              <a:gd name="adj" fmla="val 60002"/>
            </a:avLst>
          </a:prstGeom>
          <a:solidFill>
            <a:srgbClr val="FF862F">
              <a:alpha val="10000"/>
            </a:srgbClr>
          </a:solidFill>
          <a:ln/>
        </p:spPr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34562" y="2086009"/>
            <a:ext cx="209545" cy="247644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7089399" y="1857414"/>
            <a:ext cx="1066773" cy="1142971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27" name="Shape 15"/>
          <p:cNvSpPr/>
          <p:nvPr/>
        </p:nvSpPr>
        <p:spPr>
          <a:xfrm>
            <a:off x="7432291" y="2019335"/>
            <a:ext cx="380990" cy="380990"/>
          </a:xfrm>
          <a:prstGeom prst="roundRect">
            <a:avLst>
              <a:gd name="adj" fmla="val 60002"/>
            </a:avLst>
          </a:prstGeom>
          <a:solidFill>
            <a:srgbClr val="FF862F">
              <a:alpha val="10000"/>
            </a:srgbClr>
          </a:solidFill>
          <a:ln/>
        </p:spPr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18013" y="2086009"/>
            <a:ext cx="209545" cy="247644"/>
          </a:xfrm>
          <a:prstGeom prst="rect">
            <a:avLst/>
          </a:prstGeom>
        </p:spPr>
      </p:pic>
      <p:sp>
        <p:nvSpPr>
          <p:cNvPr id="29" name="Shape 16"/>
          <p:cNvSpPr/>
          <p:nvPr/>
        </p:nvSpPr>
        <p:spPr>
          <a:xfrm>
            <a:off x="8583968" y="1047810"/>
            <a:ext cx="3228894" cy="2476438"/>
          </a:xfrm>
          <a:prstGeom prst="roundRect">
            <a:avLst>
              <a:gd name="adj" fmla="val 2840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24096" y="1285929"/>
            <a:ext cx="419090" cy="419090"/>
          </a:xfrm>
          <a:prstGeom prst="rect">
            <a:avLst/>
          </a:prstGeom>
        </p:spPr>
      </p:pic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19344" y="1362127"/>
            <a:ext cx="228594" cy="266693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8824989" y="1857414"/>
            <a:ext cx="838179" cy="1428714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33" name="Shape 18"/>
          <p:cNvSpPr/>
          <p:nvPr/>
        </p:nvSpPr>
        <p:spPr>
          <a:xfrm>
            <a:off x="9053584" y="2019335"/>
            <a:ext cx="380990" cy="380990"/>
          </a:xfrm>
          <a:prstGeom prst="roundRect">
            <a:avLst>
              <a:gd name="adj" fmla="val 60002"/>
            </a:avLst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39307" y="2086009"/>
            <a:ext cx="209545" cy="247644"/>
          </a:xfrm>
          <a:prstGeom prst="rect">
            <a:avLst/>
          </a:prstGeom>
        </p:spPr>
      </p:pic>
      <p:sp>
        <p:nvSpPr>
          <p:cNvPr id="35" name="Shape 19"/>
          <p:cNvSpPr/>
          <p:nvPr/>
        </p:nvSpPr>
        <p:spPr>
          <a:xfrm>
            <a:off x="9779251" y="1857414"/>
            <a:ext cx="838179" cy="1428714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36" name="Shape 20"/>
          <p:cNvSpPr/>
          <p:nvPr/>
        </p:nvSpPr>
        <p:spPr>
          <a:xfrm>
            <a:off x="10007846" y="2019335"/>
            <a:ext cx="380990" cy="380990"/>
          </a:xfrm>
          <a:prstGeom prst="roundRect">
            <a:avLst>
              <a:gd name="adj" fmla="val 60002"/>
            </a:avLst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93569" y="2086009"/>
            <a:ext cx="209545" cy="247644"/>
          </a:xfrm>
          <a:prstGeom prst="rect">
            <a:avLst/>
          </a:prstGeom>
        </p:spPr>
      </p:pic>
      <p:sp>
        <p:nvSpPr>
          <p:cNvPr id="38" name="Shape 21"/>
          <p:cNvSpPr/>
          <p:nvPr/>
        </p:nvSpPr>
        <p:spPr>
          <a:xfrm>
            <a:off x="10733588" y="1857414"/>
            <a:ext cx="838179" cy="1428714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39" name="Shape 22"/>
          <p:cNvSpPr/>
          <p:nvPr/>
        </p:nvSpPr>
        <p:spPr>
          <a:xfrm>
            <a:off x="10962108" y="2019335"/>
            <a:ext cx="380990" cy="380990"/>
          </a:xfrm>
          <a:prstGeom prst="roundRect">
            <a:avLst>
              <a:gd name="adj" fmla="val 60002"/>
            </a:avLst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047831" y="2086009"/>
            <a:ext cx="209545" cy="247644"/>
          </a:xfrm>
          <a:prstGeom prst="rect">
            <a:avLst/>
          </a:prstGeom>
        </p:spPr>
      </p:pic>
      <p:pic>
        <p:nvPicPr>
          <p:cNvPr id="41" name="Image 16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80098" y="3714743"/>
            <a:ext cx="5143371" cy="3505112"/>
          </a:xfrm>
          <a:prstGeom prst="rect">
            <a:avLst/>
          </a:prstGeom>
        </p:spPr>
      </p:pic>
      <p:sp>
        <p:nvSpPr>
          <p:cNvPr id="42" name="Shape 23"/>
          <p:cNvSpPr/>
          <p:nvPr/>
        </p:nvSpPr>
        <p:spPr>
          <a:xfrm>
            <a:off x="609585" y="3943337"/>
            <a:ext cx="419090" cy="419090"/>
          </a:xfrm>
          <a:prstGeom prst="roundRect">
            <a:avLst>
              <a:gd name="adj" fmla="val 59506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43" name="Image 17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4832" y="4019535"/>
            <a:ext cx="228594" cy="266693"/>
          </a:xfrm>
          <a:prstGeom prst="rect">
            <a:avLst/>
          </a:prstGeom>
        </p:spPr>
      </p:pic>
      <p:sp>
        <p:nvSpPr>
          <p:cNvPr id="44" name="Shape 24"/>
          <p:cNvSpPr/>
          <p:nvPr/>
        </p:nvSpPr>
        <p:spPr>
          <a:xfrm>
            <a:off x="609138" y="4552922"/>
            <a:ext cx="2285943" cy="1162021"/>
          </a:xfrm>
          <a:prstGeom prst="roundRect">
            <a:avLst>
              <a:gd name="adj" fmla="val 774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5" name="Shape 25"/>
          <p:cNvSpPr/>
          <p:nvPr/>
        </p:nvSpPr>
        <p:spPr>
          <a:xfrm>
            <a:off x="771506" y="4714843"/>
            <a:ext cx="266693" cy="266693"/>
          </a:xfrm>
          <a:prstGeom prst="roundRect">
            <a:avLst>
              <a:gd name="adj" fmla="val 73471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46" name="Image 18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8654" y="4762467"/>
            <a:ext cx="152396" cy="171446"/>
          </a:xfrm>
          <a:prstGeom prst="rect">
            <a:avLst/>
          </a:prstGeom>
        </p:spPr>
      </p:pic>
      <p:sp>
        <p:nvSpPr>
          <p:cNvPr id="47" name="Shape 26"/>
          <p:cNvSpPr/>
          <p:nvPr/>
        </p:nvSpPr>
        <p:spPr>
          <a:xfrm>
            <a:off x="3008485" y="4552922"/>
            <a:ext cx="2285943" cy="1162021"/>
          </a:xfrm>
          <a:prstGeom prst="roundRect">
            <a:avLst>
              <a:gd name="adj" fmla="val 774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8" name="Shape 27"/>
          <p:cNvSpPr/>
          <p:nvPr/>
        </p:nvSpPr>
        <p:spPr>
          <a:xfrm>
            <a:off x="3170853" y="4714843"/>
            <a:ext cx="266693" cy="266693"/>
          </a:xfrm>
          <a:prstGeom prst="roundRect">
            <a:avLst>
              <a:gd name="adj" fmla="val 73471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49" name="Image 19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228001" y="4762467"/>
            <a:ext cx="152396" cy="171446"/>
          </a:xfrm>
          <a:prstGeom prst="rect">
            <a:avLst/>
          </a:prstGeom>
        </p:spPr>
      </p:pic>
      <p:sp>
        <p:nvSpPr>
          <p:cNvPr id="50" name="Shape 28"/>
          <p:cNvSpPr/>
          <p:nvPr/>
        </p:nvSpPr>
        <p:spPr>
          <a:xfrm>
            <a:off x="609138" y="5829240"/>
            <a:ext cx="2285943" cy="1162021"/>
          </a:xfrm>
          <a:prstGeom prst="roundRect">
            <a:avLst>
              <a:gd name="adj" fmla="val 774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1" name="Shape 29"/>
          <p:cNvSpPr/>
          <p:nvPr/>
        </p:nvSpPr>
        <p:spPr>
          <a:xfrm>
            <a:off x="771506" y="5991161"/>
            <a:ext cx="266693" cy="266693"/>
          </a:xfrm>
          <a:prstGeom prst="roundRect">
            <a:avLst>
              <a:gd name="adj" fmla="val 73471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52" name="Image 20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28654" y="6038785"/>
            <a:ext cx="152396" cy="171446"/>
          </a:xfrm>
          <a:prstGeom prst="rect">
            <a:avLst/>
          </a:prstGeom>
        </p:spPr>
      </p:pic>
      <p:sp>
        <p:nvSpPr>
          <p:cNvPr id="53" name="Shape 30"/>
          <p:cNvSpPr/>
          <p:nvPr/>
        </p:nvSpPr>
        <p:spPr>
          <a:xfrm>
            <a:off x="3008485" y="5829240"/>
            <a:ext cx="2285943" cy="1162021"/>
          </a:xfrm>
          <a:prstGeom prst="roundRect">
            <a:avLst>
              <a:gd name="adj" fmla="val 774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4" name="Shape 31"/>
          <p:cNvSpPr/>
          <p:nvPr/>
        </p:nvSpPr>
        <p:spPr>
          <a:xfrm>
            <a:off x="3170853" y="5991161"/>
            <a:ext cx="266693" cy="266693"/>
          </a:xfrm>
          <a:prstGeom prst="roundRect">
            <a:avLst>
              <a:gd name="adj" fmla="val 73471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228001" y="6038785"/>
            <a:ext cx="152396" cy="171446"/>
          </a:xfrm>
          <a:prstGeom prst="rect">
            <a:avLst/>
          </a:prstGeom>
        </p:spPr>
      </p:pic>
      <p:sp>
        <p:nvSpPr>
          <p:cNvPr id="56" name="Shape 32"/>
          <p:cNvSpPr/>
          <p:nvPr/>
        </p:nvSpPr>
        <p:spPr>
          <a:xfrm>
            <a:off x="5713964" y="3714743"/>
            <a:ext cx="6095848" cy="3505112"/>
          </a:xfrm>
          <a:prstGeom prst="roundRect">
            <a:avLst>
              <a:gd name="adj" fmla="val 1418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951190" y="3952862"/>
            <a:ext cx="419090" cy="419090"/>
          </a:xfrm>
          <a:prstGeom prst="rect">
            <a:avLst/>
          </a:prstGeom>
        </p:spPr>
      </p:pic>
      <p:pic>
        <p:nvPicPr>
          <p:cNvPr id="58" name="Image 23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046438" y="4029060"/>
            <a:ext cx="228594" cy="266693"/>
          </a:xfrm>
          <a:prstGeom prst="rect">
            <a:avLst/>
          </a:prstGeom>
        </p:spPr>
      </p:pic>
      <p:sp>
        <p:nvSpPr>
          <p:cNvPr id="59" name="Shape 33"/>
          <p:cNvSpPr/>
          <p:nvPr/>
        </p:nvSpPr>
        <p:spPr>
          <a:xfrm>
            <a:off x="6325186" y="4524348"/>
            <a:ext cx="457189" cy="45718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84BA"/>
            </a:solidFill>
            <a:prstDash val="solid"/>
          </a:ln>
        </p:spPr>
      </p:sp>
      <p:pic>
        <p:nvPicPr>
          <p:cNvPr id="60" name="Image 24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439483" y="4619595"/>
            <a:ext cx="228594" cy="266693"/>
          </a:xfrm>
          <a:prstGeom prst="rect">
            <a:avLst/>
          </a:prstGeom>
        </p:spPr>
      </p:pic>
      <p:sp>
        <p:nvSpPr>
          <p:cNvPr id="61" name="Shape 34"/>
          <p:cNvSpPr/>
          <p:nvPr/>
        </p:nvSpPr>
        <p:spPr>
          <a:xfrm>
            <a:off x="7797208" y="4524348"/>
            <a:ext cx="457189" cy="45718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84BA"/>
            </a:solidFill>
            <a:prstDash val="solid"/>
          </a:ln>
        </p:spPr>
      </p:sp>
      <p:pic>
        <p:nvPicPr>
          <p:cNvPr id="62" name="Image 25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911505" y="4619595"/>
            <a:ext cx="228594" cy="266693"/>
          </a:xfrm>
          <a:prstGeom prst="rect">
            <a:avLst/>
          </a:prstGeom>
        </p:spPr>
      </p:pic>
      <p:sp>
        <p:nvSpPr>
          <p:cNvPr id="63" name="Shape 35"/>
          <p:cNvSpPr/>
          <p:nvPr/>
        </p:nvSpPr>
        <p:spPr>
          <a:xfrm>
            <a:off x="9269230" y="4524348"/>
            <a:ext cx="457189" cy="45718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84BA"/>
            </a:solidFill>
            <a:prstDash val="solid"/>
          </a:ln>
        </p:spPr>
      </p:sp>
      <p:sp>
        <p:nvSpPr>
          <p:cNvPr id="64" name="Shape 36"/>
          <p:cNvSpPr/>
          <p:nvPr/>
        </p:nvSpPr>
        <p:spPr>
          <a:xfrm>
            <a:off x="10741252" y="4524348"/>
            <a:ext cx="457189" cy="45718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84BA"/>
            </a:solidFill>
            <a:prstDash val="solid"/>
          </a:ln>
        </p:spPr>
      </p:sp>
      <p:pic>
        <p:nvPicPr>
          <p:cNvPr id="65" name="Image 26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855550" y="4619595"/>
            <a:ext cx="228594" cy="266693"/>
          </a:xfrm>
          <a:prstGeom prst="rect">
            <a:avLst/>
          </a:prstGeom>
        </p:spPr>
      </p:pic>
      <p:sp>
        <p:nvSpPr>
          <p:cNvPr id="66" name="Shape 37"/>
          <p:cNvSpPr/>
          <p:nvPr/>
        </p:nvSpPr>
        <p:spPr>
          <a:xfrm>
            <a:off x="5952083" y="5476824"/>
            <a:ext cx="5619609" cy="1228694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</p:spPr>
      </p:sp>
      <p:sp>
        <p:nvSpPr>
          <p:cNvPr id="67" name="Shape 38"/>
          <p:cNvSpPr/>
          <p:nvPr/>
        </p:nvSpPr>
        <p:spPr>
          <a:xfrm>
            <a:off x="6151210" y="5676844"/>
            <a:ext cx="304792" cy="304792"/>
          </a:xfrm>
          <a:prstGeom prst="roundRect">
            <a:avLst>
              <a:gd name="adj" fmla="val 75002"/>
            </a:avLst>
          </a:prstGeom>
          <a:solidFill>
            <a:srgbClr val="8B5CF6">
              <a:alpha val="10000"/>
            </a:srgbClr>
          </a:solidFill>
          <a:ln/>
        </p:spPr>
      </p:sp>
      <p:pic>
        <p:nvPicPr>
          <p:cNvPr id="68" name="Image 27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217884" y="5729230"/>
            <a:ext cx="171446" cy="200020"/>
          </a:xfrm>
          <a:prstGeom prst="rect">
            <a:avLst/>
          </a:prstGeom>
        </p:spPr>
      </p:pic>
      <p:sp>
        <p:nvSpPr>
          <p:cNvPr id="69" name="Shape 39"/>
          <p:cNvSpPr/>
          <p:nvPr/>
        </p:nvSpPr>
        <p:spPr>
          <a:xfrm>
            <a:off x="6151508" y="6114983"/>
            <a:ext cx="1638259" cy="390515"/>
          </a:xfrm>
          <a:prstGeom prst="roundRect">
            <a:avLst>
              <a:gd name="adj" fmla="val 45688"/>
            </a:avLst>
          </a:prstGeom>
          <a:solidFill>
            <a:srgbClr val="F8FAFB"/>
          </a:solidFill>
          <a:ln/>
        </p:spPr>
      </p:sp>
      <p:pic>
        <p:nvPicPr>
          <p:cNvPr id="70" name="Image 28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265507" y="6210230"/>
            <a:ext cx="171446" cy="200020"/>
          </a:xfrm>
          <a:prstGeom prst="rect">
            <a:avLst/>
          </a:prstGeom>
        </p:spPr>
      </p:pic>
      <p:sp>
        <p:nvSpPr>
          <p:cNvPr id="71" name="Shape 40"/>
          <p:cNvSpPr/>
          <p:nvPr/>
        </p:nvSpPr>
        <p:spPr>
          <a:xfrm>
            <a:off x="7942758" y="6114983"/>
            <a:ext cx="1638259" cy="390515"/>
          </a:xfrm>
          <a:prstGeom prst="roundRect">
            <a:avLst>
              <a:gd name="adj" fmla="val 45688"/>
            </a:avLst>
          </a:prstGeom>
          <a:solidFill>
            <a:srgbClr val="F8FAFB"/>
          </a:solidFill>
          <a:ln/>
        </p:spPr>
      </p:sp>
      <p:pic>
        <p:nvPicPr>
          <p:cNvPr id="72" name="Image 29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056758" y="6210230"/>
            <a:ext cx="171446" cy="200020"/>
          </a:xfrm>
          <a:prstGeom prst="rect">
            <a:avLst/>
          </a:prstGeom>
        </p:spPr>
      </p:pic>
      <p:sp>
        <p:nvSpPr>
          <p:cNvPr id="73" name="Shape 41"/>
          <p:cNvSpPr/>
          <p:nvPr/>
        </p:nvSpPr>
        <p:spPr>
          <a:xfrm>
            <a:off x="9734009" y="6114983"/>
            <a:ext cx="1638259" cy="390515"/>
          </a:xfrm>
          <a:prstGeom prst="roundRect">
            <a:avLst>
              <a:gd name="adj" fmla="val 45688"/>
            </a:avLst>
          </a:prstGeom>
          <a:solidFill>
            <a:srgbClr val="F8FAFB"/>
          </a:solidFill>
          <a:ln/>
        </p:spPr>
      </p:sp>
      <p:pic>
        <p:nvPicPr>
          <p:cNvPr id="74" name="Image 30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848008" y="6210230"/>
            <a:ext cx="171446" cy="200020"/>
          </a:xfrm>
          <a:prstGeom prst="rect">
            <a:avLst/>
          </a:prstGeom>
        </p:spPr>
      </p:pic>
      <p:sp>
        <p:nvSpPr>
          <p:cNvPr id="75" name="Shape 42"/>
          <p:cNvSpPr/>
          <p:nvPr/>
        </p:nvSpPr>
        <p:spPr>
          <a:xfrm>
            <a:off x="0" y="6095933"/>
            <a:ext cx="12191695" cy="38099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76" name="Shape 43"/>
          <p:cNvSpPr/>
          <p:nvPr/>
        </p:nvSpPr>
        <p:spPr>
          <a:xfrm>
            <a:off x="571486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77" name="Shape 44"/>
          <p:cNvSpPr/>
          <p:nvPr/>
        </p:nvSpPr>
        <p:spPr>
          <a:xfrm>
            <a:off x="723882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78" name="Shape 45"/>
          <p:cNvSpPr/>
          <p:nvPr/>
        </p:nvSpPr>
        <p:spPr>
          <a:xfrm>
            <a:off x="876278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79" name="Shape 46"/>
          <p:cNvSpPr/>
          <p:nvPr/>
        </p:nvSpPr>
        <p:spPr>
          <a:xfrm>
            <a:off x="1028674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80" name="Shape 47"/>
          <p:cNvSpPr/>
          <p:nvPr/>
        </p:nvSpPr>
        <p:spPr>
          <a:xfrm>
            <a:off x="1181070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81" name="Shape 48"/>
          <p:cNvSpPr/>
          <p:nvPr/>
        </p:nvSpPr>
        <p:spPr>
          <a:xfrm>
            <a:off x="1333467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82" name="Shape 49"/>
          <p:cNvSpPr/>
          <p:nvPr/>
        </p:nvSpPr>
        <p:spPr>
          <a:xfrm>
            <a:off x="1485863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83" name="Shape 50"/>
          <p:cNvSpPr/>
          <p:nvPr/>
        </p:nvSpPr>
        <p:spPr>
          <a:xfrm>
            <a:off x="1638259" y="6253092"/>
            <a:ext cx="228594" cy="76198"/>
          </a:xfrm>
          <a:prstGeom prst="roundRect">
            <a:avLst>
              <a:gd name="adj" fmla="val 600016"/>
            </a:avLst>
          </a:prstGeom>
          <a:solidFill>
            <a:srgbClr val="FF862F"/>
          </a:solidFill>
          <a:ln/>
        </p:spPr>
      </p:sp>
      <p:sp>
        <p:nvSpPr>
          <p:cNvPr id="84" name="Shape 51"/>
          <p:cNvSpPr/>
          <p:nvPr/>
        </p:nvSpPr>
        <p:spPr>
          <a:xfrm>
            <a:off x="1943051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85" name="Text 52"/>
          <p:cNvSpPr/>
          <p:nvPr/>
        </p:nvSpPr>
        <p:spPr>
          <a:xfrm>
            <a:off x="566342" y="190581"/>
            <a:ext cx="39127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86" name="Text 53"/>
          <p:cNvSpPr/>
          <p:nvPr/>
        </p:nvSpPr>
        <p:spPr>
          <a:xfrm>
            <a:off x="1104872" y="223918"/>
            <a:ext cx="2603689" cy="314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1407"/>
              </a:spcBef>
              <a:spcAft>
                <a:spcPts val="1407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资源配置与执行保障</a:t>
            </a:r>
            <a:endParaRPr lang="en-US" sz="2000" dirty="0"/>
          </a:p>
        </p:txBody>
      </p:sp>
      <p:sp>
        <p:nvSpPr>
          <p:cNvPr id="87" name="Text 54"/>
          <p:cNvSpPr/>
          <p:nvPr/>
        </p:nvSpPr>
        <p:spPr>
          <a:xfrm>
            <a:off x="8907140" y="304878"/>
            <a:ext cx="2724082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ALLOCATION EXECUTION</a:t>
            </a:r>
            <a:endParaRPr lang="en-US" sz="1000" dirty="0"/>
          </a:p>
        </p:txBody>
      </p:sp>
      <p:sp>
        <p:nvSpPr>
          <p:cNvPr id="88" name="Text 55"/>
          <p:cNvSpPr/>
          <p:nvPr/>
        </p:nvSpPr>
        <p:spPr>
          <a:xfrm>
            <a:off x="1152496" y="1390701"/>
            <a:ext cx="1049248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资金资源配置</a:t>
            </a:r>
            <a:endParaRPr lang="en-US" sz="1300" dirty="0"/>
          </a:p>
        </p:txBody>
      </p:sp>
      <p:sp>
        <p:nvSpPr>
          <p:cNvPr id="89" name="Text 56"/>
          <p:cNvSpPr/>
          <p:nvPr/>
        </p:nvSpPr>
        <p:spPr>
          <a:xfrm>
            <a:off x="775289" y="2019335"/>
            <a:ext cx="75664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核心业务投资</a:t>
            </a:r>
            <a:endParaRPr lang="en-US" sz="800" dirty="0"/>
          </a:p>
        </p:txBody>
      </p:sp>
      <p:sp>
        <p:nvSpPr>
          <p:cNvPr id="90" name="Text 57"/>
          <p:cNvSpPr/>
          <p:nvPr/>
        </p:nvSpPr>
        <p:spPr>
          <a:xfrm>
            <a:off x="777003" y="2228880"/>
            <a:ext cx="753218" cy="20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300" dirty="0"/>
          </a:p>
        </p:txBody>
      </p:sp>
      <p:sp>
        <p:nvSpPr>
          <p:cNvPr id="91" name="Text 58"/>
          <p:cNvSpPr/>
          <p:nvPr/>
        </p:nvSpPr>
        <p:spPr>
          <a:xfrm>
            <a:off x="1958592" y="2019335"/>
            <a:ext cx="75664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成长业务投资</a:t>
            </a:r>
            <a:endParaRPr lang="en-US" sz="800" dirty="0"/>
          </a:p>
        </p:txBody>
      </p:sp>
      <p:sp>
        <p:nvSpPr>
          <p:cNvPr id="92" name="Text 59"/>
          <p:cNvSpPr/>
          <p:nvPr/>
        </p:nvSpPr>
        <p:spPr>
          <a:xfrm>
            <a:off x="1960306" y="2228880"/>
            <a:ext cx="753218" cy="20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300" dirty="0"/>
          </a:p>
        </p:txBody>
      </p:sp>
      <p:sp>
        <p:nvSpPr>
          <p:cNvPr id="93" name="Text 60"/>
          <p:cNvSpPr/>
          <p:nvPr/>
        </p:nvSpPr>
        <p:spPr>
          <a:xfrm>
            <a:off x="3141969" y="2019335"/>
            <a:ext cx="75664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创新孵化投资</a:t>
            </a:r>
            <a:endParaRPr lang="en-US" sz="800" dirty="0"/>
          </a:p>
        </p:txBody>
      </p:sp>
      <p:sp>
        <p:nvSpPr>
          <p:cNvPr id="94" name="Text 61"/>
          <p:cNvSpPr/>
          <p:nvPr/>
        </p:nvSpPr>
        <p:spPr>
          <a:xfrm>
            <a:off x="3143683" y="2228880"/>
            <a:ext cx="753218" cy="20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300" dirty="0"/>
          </a:p>
        </p:txBody>
      </p:sp>
      <p:sp>
        <p:nvSpPr>
          <p:cNvPr id="95" name="Text 62"/>
          <p:cNvSpPr/>
          <p:nvPr/>
        </p:nvSpPr>
        <p:spPr>
          <a:xfrm>
            <a:off x="5254990" y="1390701"/>
            <a:ext cx="1049248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人力资源配置</a:t>
            </a:r>
            <a:endParaRPr lang="en-US" sz="1300" dirty="0"/>
          </a:p>
        </p:txBody>
      </p:sp>
      <p:sp>
        <p:nvSpPr>
          <p:cNvPr id="96" name="Text 63"/>
          <p:cNvSpPr/>
          <p:nvPr/>
        </p:nvSpPr>
        <p:spPr>
          <a:xfrm>
            <a:off x="4876639" y="2495573"/>
            <a:ext cx="758933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关键岗位</a:t>
            </a:r>
            <a:endParaRPr lang="en-US" sz="1000" dirty="0"/>
          </a:p>
        </p:txBody>
      </p:sp>
      <p:sp>
        <p:nvSpPr>
          <p:cNvPr id="97" name="Text 64"/>
          <p:cNvSpPr/>
          <p:nvPr/>
        </p:nvSpPr>
        <p:spPr>
          <a:xfrm>
            <a:off x="4877782" y="2705118"/>
            <a:ext cx="75664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核心人才引进</a:t>
            </a:r>
            <a:endParaRPr lang="en-US" sz="800" dirty="0"/>
          </a:p>
        </p:txBody>
      </p:sp>
      <p:sp>
        <p:nvSpPr>
          <p:cNvPr id="98" name="Text 65"/>
          <p:cNvSpPr/>
          <p:nvPr/>
        </p:nvSpPr>
        <p:spPr>
          <a:xfrm>
            <a:off x="6059942" y="2495573"/>
            <a:ext cx="758933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人才梯队</a:t>
            </a:r>
            <a:endParaRPr lang="en-US" sz="1000" dirty="0"/>
          </a:p>
        </p:txBody>
      </p:sp>
      <p:sp>
        <p:nvSpPr>
          <p:cNvPr id="99" name="Text 66"/>
          <p:cNvSpPr/>
          <p:nvPr/>
        </p:nvSpPr>
        <p:spPr>
          <a:xfrm>
            <a:off x="6061085" y="2705118"/>
            <a:ext cx="75664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内部人才培养</a:t>
            </a:r>
            <a:endParaRPr lang="en-US" sz="800" dirty="0"/>
          </a:p>
        </p:txBody>
      </p:sp>
      <p:sp>
        <p:nvSpPr>
          <p:cNvPr id="100" name="Text 67"/>
          <p:cNvSpPr/>
          <p:nvPr/>
        </p:nvSpPr>
        <p:spPr>
          <a:xfrm>
            <a:off x="7243319" y="2495573"/>
            <a:ext cx="758933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能力建设</a:t>
            </a:r>
            <a:endParaRPr lang="en-US" sz="1000" dirty="0"/>
          </a:p>
        </p:txBody>
      </p:sp>
      <p:sp>
        <p:nvSpPr>
          <p:cNvPr id="101" name="Text 68"/>
          <p:cNvSpPr/>
          <p:nvPr/>
        </p:nvSpPr>
        <p:spPr>
          <a:xfrm>
            <a:off x="7244462" y="2705118"/>
            <a:ext cx="75664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培训发展体系</a:t>
            </a:r>
            <a:endParaRPr lang="en-US" sz="800" dirty="0"/>
          </a:p>
        </p:txBody>
      </p:sp>
      <p:sp>
        <p:nvSpPr>
          <p:cNvPr id="102" name="Text 69"/>
          <p:cNvSpPr/>
          <p:nvPr/>
        </p:nvSpPr>
        <p:spPr>
          <a:xfrm>
            <a:off x="9357483" y="1390701"/>
            <a:ext cx="1049248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技术资源配置</a:t>
            </a:r>
            <a:endParaRPr lang="en-US" sz="1300" dirty="0"/>
          </a:p>
        </p:txBody>
      </p:sp>
      <p:sp>
        <p:nvSpPr>
          <p:cNvPr id="103" name="Text 70"/>
          <p:cNvSpPr/>
          <p:nvPr/>
        </p:nvSpPr>
        <p:spPr>
          <a:xfrm>
            <a:off x="8978910" y="2495573"/>
            <a:ext cx="530339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系统建设</a:t>
            </a:r>
            <a:endParaRPr lang="en-US" sz="1000" dirty="0"/>
          </a:p>
        </p:txBody>
      </p:sp>
      <p:sp>
        <p:nvSpPr>
          <p:cNvPr id="104" name="Text 71"/>
          <p:cNvSpPr/>
          <p:nvPr/>
        </p:nvSpPr>
        <p:spPr>
          <a:xfrm>
            <a:off x="8980053" y="2857514"/>
            <a:ext cx="528053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核心平台搭建</a:t>
            </a:r>
            <a:endParaRPr lang="en-US" sz="800" dirty="0"/>
          </a:p>
        </p:txBody>
      </p:sp>
      <p:sp>
        <p:nvSpPr>
          <p:cNvPr id="105" name="Text 72"/>
          <p:cNvSpPr/>
          <p:nvPr/>
        </p:nvSpPr>
        <p:spPr>
          <a:xfrm>
            <a:off x="9933172" y="2495573"/>
            <a:ext cx="53033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云平台</a:t>
            </a:r>
            <a:endParaRPr lang="en-US" sz="1000" dirty="0"/>
          </a:p>
        </p:txBody>
      </p:sp>
      <p:sp>
        <p:nvSpPr>
          <p:cNvPr id="106" name="Text 73"/>
          <p:cNvSpPr/>
          <p:nvPr/>
        </p:nvSpPr>
        <p:spPr>
          <a:xfrm>
            <a:off x="9934315" y="2705118"/>
            <a:ext cx="528053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基础设施升级</a:t>
            </a:r>
            <a:endParaRPr lang="en-US" sz="800" dirty="0"/>
          </a:p>
        </p:txBody>
      </p:sp>
      <p:sp>
        <p:nvSpPr>
          <p:cNvPr id="107" name="Text 74"/>
          <p:cNvSpPr/>
          <p:nvPr/>
        </p:nvSpPr>
        <p:spPr>
          <a:xfrm>
            <a:off x="10887508" y="2495573"/>
            <a:ext cx="530339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</a:t>
            </a:r>
            <a:endParaRPr lang="en-US" sz="1000" dirty="0"/>
          </a:p>
        </p:txBody>
      </p:sp>
      <p:sp>
        <p:nvSpPr>
          <p:cNvPr id="108" name="Text 75"/>
          <p:cNvSpPr/>
          <p:nvPr/>
        </p:nvSpPr>
        <p:spPr>
          <a:xfrm>
            <a:off x="10888651" y="2857514"/>
            <a:ext cx="528053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防护体系构建</a:t>
            </a:r>
            <a:endParaRPr lang="en-US" sz="800" dirty="0"/>
          </a:p>
        </p:txBody>
      </p:sp>
      <p:sp>
        <p:nvSpPr>
          <p:cNvPr id="109" name="Text 76"/>
          <p:cNvSpPr/>
          <p:nvPr/>
        </p:nvSpPr>
        <p:spPr>
          <a:xfrm>
            <a:off x="1142971" y="4048110"/>
            <a:ext cx="1049248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组织保障体系</a:t>
            </a:r>
            <a:endParaRPr lang="en-US" sz="1300" dirty="0"/>
          </a:p>
        </p:txBody>
      </p:sp>
      <p:sp>
        <p:nvSpPr>
          <p:cNvPr id="110" name="Text 77"/>
          <p:cNvSpPr/>
          <p:nvPr/>
        </p:nvSpPr>
        <p:spPr>
          <a:xfrm>
            <a:off x="1133447" y="4771991"/>
            <a:ext cx="816082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组织架构优化</a:t>
            </a:r>
            <a:endParaRPr lang="en-US" sz="1000" dirty="0"/>
          </a:p>
        </p:txBody>
      </p:sp>
      <p:sp>
        <p:nvSpPr>
          <p:cNvPr id="111" name="Text 78"/>
          <p:cNvSpPr/>
          <p:nvPr/>
        </p:nvSpPr>
        <p:spPr>
          <a:xfrm>
            <a:off x="771059" y="5095833"/>
            <a:ext cx="1975817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扁平化管理</a:t>
            </a:r>
            <a:br/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提升决策效率</a:t>
            </a:r>
            <a:endParaRPr lang="en-US" sz="800" dirty="0"/>
          </a:p>
        </p:txBody>
      </p:sp>
      <p:sp>
        <p:nvSpPr>
          <p:cNvPr id="112" name="Text 79"/>
          <p:cNvSpPr/>
          <p:nvPr/>
        </p:nvSpPr>
        <p:spPr>
          <a:xfrm>
            <a:off x="3532794" y="4771991"/>
            <a:ext cx="816082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决策机制设计</a:t>
            </a:r>
            <a:endParaRPr lang="en-US" sz="1000" dirty="0"/>
          </a:p>
        </p:txBody>
      </p:sp>
      <p:sp>
        <p:nvSpPr>
          <p:cNvPr id="113" name="Text 80"/>
          <p:cNvSpPr/>
          <p:nvPr/>
        </p:nvSpPr>
        <p:spPr>
          <a:xfrm>
            <a:off x="3170406" y="5095833"/>
            <a:ext cx="1975817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授权体系</a:t>
            </a:r>
            <a:br/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责任明确</a:t>
            </a:r>
            <a:endParaRPr lang="en-US" sz="800" dirty="0"/>
          </a:p>
        </p:txBody>
      </p:sp>
      <p:sp>
        <p:nvSpPr>
          <p:cNvPr id="114" name="Text 81"/>
          <p:cNvSpPr/>
          <p:nvPr/>
        </p:nvSpPr>
        <p:spPr>
          <a:xfrm>
            <a:off x="1133447" y="6048309"/>
            <a:ext cx="682735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跨部门协同</a:t>
            </a:r>
            <a:endParaRPr lang="en-US" sz="1000" dirty="0"/>
          </a:p>
        </p:txBody>
      </p:sp>
      <p:sp>
        <p:nvSpPr>
          <p:cNvPr id="115" name="Text 82"/>
          <p:cNvSpPr/>
          <p:nvPr/>
        </p:nvSpPr>
        <p:spPr>
          <a:xfrm>
            <a:off x="771059" y="6372151"/>
            <a:ext cx="1975817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打破部门墙</a:t>
            </a:r>
            <a:br/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协同作战</a:t>
            </a:r>
            <a:endParaRPr lang="en-US" sz="800" dirty="0"/>
          </a:p>
        </p:txBody>
      </p:sp>
      <p:sp>
        <p:nvSpPr>
          <p:cNvPr id="116" name="Text 83"/>
          <p:cNvSpPr/>
          <p:nvPr/>
        </p:nvSpPr>
        <p:spPr>
          <a:xfrm>
            <a:off x="3532794" y="6048309"/>
            <a:ext cx="549388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流程优化</a:t>
            </a:r>
            <a:endParaRPr lang="en-US" sz="1000" dirty="0"/>
          </a:p>
        </p:txBody>
      </p:sp>
      <p:sp>
        <p:nvSpPr>
          <p:cNvPr id="117" name="Text 84"/>
          <p:cNvSpPr/>
          <p:nvPr/>
        </p:nvSpPr>
        <p:spPr>
          <a:xfrm>
            <a:off x="3170406" y="6372151"/>
            <a:ext cx="1975817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标准化流程</a:t>
            </a:r>
            <a:br/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持续改进</a:t>
            </a:r>
            <a:endParaRPr lang="en-US" sz="800" dirty="0"/>
          </a:p>
        </p:txBody>
      </p:sp>
      <p:sp>
        <p:nvSpPr>
          <p:cNvPr id="118" name="Text 85"/>
          <p:cNvSpPr/>
          <p:nvPr/>
        </p:nvSpPr>
        <p:spPr>
          <a:xfrm>
            <a:off x="6484577" y="4057634"/>
            <a:ext cx="1220693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绩效与激励机制</a:t>
            </a:r>
            <a:endParaRPr lang="en-US" sz="1300" dirty="0"/>
          </a:p>
        </p:txBody>
      </p:sp>
      <p:sp>
        <p:nvSpPr>
          <p:cNvPr id="119" name="Text 86"/>
          <p:cNvSpPr/>
          <p:nvPr/>
        </p:nvSpPr>
        <p:spPr>
          <a:xfrm>
            <a:off x="6318328" y="5057734"/>
            <a:ext cx="470904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目标分解</a:t>
            </a:r>
            <a:br/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责任落实</a:t>
            </a:r>
            <a:endParaRPr lang="en-US" sz="800" dirty="0"/>
          </a:p>
        </p:txBody>
      </p:sp>
      <p:sp>
        <p:nvSpPr>
          <p:cNvPr id="120" name="Text 87"/>
          <p:cNvSpPr/>
          <p:nvPr/>
        </p:nvSpPr>
        <p:spPr>
          <a:xfrm>
            <a:off x="7194618" y="4814853"/>
            <a:ext cx="201925" cy="2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1" name="Text 88"/>
          <p:cNvSpPr/>
          <p:nvPr/>
        </p:nvSpPr>
        <p:spPr>
          <a:xfrm>
            <a:off x="7790350" y="5057734"/>
            <a:ext cx="470904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KPI体系</a:t>
            </a:r>
            <a:br/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量化考核</a:t>
            </a:r>
            <a:endParaRPr lang="en-US" sz="800" dirty="0"/>
          </a:p>
        </p:txBody>
      </p:sp>
      <p:sp>
        <p:nvSpPr>
          <p:cNvPr id="122" name="Text 89"/>
          <p:cNvSpPr/>
          <p:nvPr/>
        </p:nvSpPr>
        <p:spPr>
          <a:xfrm>
            <a:off x="8666640" y="4814853"/>
            <a:ext cx="201925" cy="2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3" name="Text 90"/>
          <p:cNvSpPr/>
          <p:nvPr/>
        </p:nvSpPr>
        <p:spPr>
          <a:xfrm>
            <a:off x="9262372" y="5057734"/>
            <a:ext cx="470904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激励约束</a:t>
            </a:r>
            <a:br/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奖优罚劣</a:t>
            </a:r>
            <a:endParaRPr lang="en-US" sz="800" dirty="0"/>
          </a:p>
        </p:txBody>
      </p:sp>
      <p:sp>
        <p:nvSpPr>
          <p:cNvPr id="124" name="Text 91"/>
          <p:cNvSpPr/>
          <p:nvPr/>
        </p:nvSpPr>
        <p:spPr>
          <a:xfrm>
            <a:off x="10138662" y="4814853"/>
            <a:ext cx="201925" cy="2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28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5" name="Text 92"/>
          <p:cNvSpPr/>
          <p:nvPr/>
        </p:nvSpPr>
        <p:spPr>
          <a:xfrm>
            <a:off x="10734395" y="5057734"/>
            <a:ext cx="470904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动态调整</a:t>
            </a:r>
            <a:br/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持续优化</a:t>
            </a:r>
            <a:endParaRPr lang="en-US" sz="800" dirty="0"/>
          </a:p>
        </p:txBody>
      </p:sp>
      <p:sp>
        <p:nvSpPr>
          <p:cNvPr id="126" name="Text 93"/>
          <p:cNvSpPr/>
          <p:nvPr/>
        </p:nvSpPr>
        <p:spPr>
          <a:xfrm>
            <a:off x="6551250" y="5753042"/>
            <a:ext cx="816082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战略监控体系</a:t>
            </a:r>
            <a:endParaRPr lang="en-US" sz="1000" dirty="0"/>
          </a:p>
        </p:txBody>
      </p:sp>
      <p:sp>
        <p:nvSpPr>
          <p:cNvPr id="127" name="Text 94"/>
          <p:cNvSpPr/>
          <p:nvPr/>
        </p:nvSpPr>
        <p:spPr>
          <a:xfrm>
            <a:off x="6513151" y="6243567"/>
            <a:ext cx="699499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定期复盘机制</a:t>
            </a:r>
            <a:endParaRPr lang="en-US" sz="800" dirty="0"/>
          </a:p>
        </p:txBody>
      </p:sp>
      <p:sp>
        <p:nvSpPr>
          <p:cNvPr id="128" name="Text 95"/>
          <p:cNvSpPr/>
          <p:nvPr/>
        </p:nvSpPr>
        <p:spPr>
          <a:xfrm>
            <a:off x="8304402" y="6243567"/>
            <a:ext cx="699499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关键指标跟踪</a:t>
            </a:r>
            <a:endParaRPr lang="en-US" sz="800" dirty="0"/>
          </a:p>
        </p:txBody>
      </p:sp>
      <p:sp>
        <p:nvSpPr>
          <p:cNvPr id="129" name="Text 96"/>
          <p:cNvSpPr/>
          <p:nvPr/>
        </p:nvSpPr>
        <p:spPr>
          <a:xfrm>
            <a:off x="10095652" y="6243567"/>
            <a:ext cx="699499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动态调整机制</a:t>
            </a:r>
            <a:endParaRPr lang="en-US" sz="800" dirty="0"/>
          </a:p>
        </p:txBody>
      </p:sp>
      <p:pic>
        <p:nvPicPr>
          <p:cNvPr id="130" name="Image 31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0" y="6095933"/>
            <a:ext cx="12191695" cy="380990"/>
          </a:xfrm>
          <a:prstGeom prst="rect">
            <a:avLst/>
          </a:prstGeom>
        </p:spPr>
      </p:pic>
      <p:sp>
        <p:nvSpPr>
          <p:cNvPr id="131" name="Text 97"/>
          <p:cNvSpPr/>
          <p:nvPr/>
        </p:nvSpPr>
        <p:spPr>
          <a:xfrm>
            <a:off x="11211463" y="6214993"/>
            <a:ext cx="41909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"/>
            <a:ext cx="12191695" cy="6857828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6"/>
            <a:ext cx="12191695" cy="76198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486" y="190581"/>
            <a:ext cx="380990" cy="380990"/>
          </a:xfrm>
          <a:prstGeom prst="roundRect">
            <a:avLst>
              <a:gd name="adj" fmla="val 60002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0990" y="1047810"/>
            <a:ext cx="380990" cy="38099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13" y="1114483"/>
            <a:ext cx="209545" cy="247644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8609" y="1619295"/>
            <a:ext cx="2200220" cy="140014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559580" y="2381276"/>
            <a:ext cx="1838279" cy="361941"/>
          </a:xfrm>
          <a:prstGeom prst="roundRect">
            <a:avLst>
              <a:gd name="adj" fmla="val 53187"/>
            </a:avLst>
          </a:prstGeom>
          <a:solidFill>
            <a:srgbClr val="FFFFFF"/>
          </a:solidFill>
          <a:ln/>
        </p:spPr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09" y="2476524"/>
            <a:ext cx="152396" cy="171446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88364" y="1619295"/>
            <a:ext cx="2200220" cy="1400140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2869334" y="2381276"/>
            <a:ext cx="1838279" cy="457189"/>
          </a:xfrm>
          <a:prstGeom prst="roundRect">
            <a:avLst>
              <a:gd name="adj" fmla="val 33334"/>
            </a:avLst>
          </a:prstGeom>
          <a:solidFill>
            <a:srgbClr val="FFFFFF"/>
          </a:solidFill>
          <a:ln/>
        </p:spPr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66963" y="2524148"/>
            <a:ext cx="152396" cy="171446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8609" y="3133732"/>
            <a:ext cx="2200220" cy="1400140"/>
          </a:xfrm>
          <a:prstGeom prst="rect">
            <a:avLst/>
          </a:prstGeom>
        </p:spPr>
      </p:pic>
      <p:sp>
        <p:nvSpPr>
          <p:cNvPr id="14" name="Shape 4"/>
          <p:cNvSpPr/>
          <p:nvPr/>
        </p:nvSpPr>
        <p:spPr>
          <a:xfrm>
            <a:off x="559580" y="3895713"/>
            <a:ext cx="1838279" cy="361941"/>
          </a:xfrm>
          <a:prstGeom prst="roundRect">
            <a:avLst>
              <a:gd name="adj" fmla="val 53187"/>
            </a:avLst>
          </a:prstGeom>
          <a:solidFill>
            <a:srgbClr val="FFFFFF"/>
          </a:solidFill>
          <a:ln/>
        </p:spPr>
      </p:sp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09" y="3990961"/>
            <a:ext cx="152396" cy="171446"/>
          </a:xfrm>
          <a:prstGeom prst="rect">
            <a:avLst/>
          </a:prstGeom>
        </p:spPr>
      </p:pic>
      <p:pic>
        <p:nvPicPr>
          <p:cNvPr id="16" name="Image 9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688364" y="3133732"/>
            <a:ext cx="2200220" cy="1400140"/>
          </a:xfrm>
          <a:prstGeom prst="rect">
            <a:avLst/>
          </a:prstGeom>
        </p:spPr>
      </p:pic>
      <p:sp>
        <p:nvSpPr>
          <p:cNvPr id="17" name="Shape 5"/>
          <p:cNvSpPr/>
          <p:nvPr/>
        </p:nvSpPr>
        <p:spPr>
          <a:xfrm>
            <a:off x="2869334" y="3895713"/>
            <a:ext cx="1838279" cy="457189"/>
          </a:xfrm>
          <a:prstGeom prst="roundRect">
            <a:avLst>
              <a:gd name="adj" fmla="val 33334"/>
            </a:avLst>
          </a:prstGeom>
          <a:solidFill>
            <a:srgbClr val="FFFFFF"/>
          </a:solidFill>
          <a:ln/>
        </p:spPr>
      </p:sp>
      <p:pic>
        <p:nvPicPr>
          <p:cNvPr id="18" name="Image 10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66963" y="4038585"/>
            <a:ext cx="152396" cy="171446"/>
          </a:xfrm>
          <a:prstGeom prst="rect">
            <a:avLst/>
          </a:prstGeom>
        </p:spPr>
      </p:pic>
      <p:pic>
        <p:nvPicPr>
          <p:cNvPr id="19" name="Image 11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114797" y="1047810"/>
            <a:ext cx="380990" cy="380990"/>
          </a:xfrm>
          <a:prstGeom prst="rect">
            <a:avLst/>
          </a:prstGeom>
        </p:spPr>
      </p:pic>
      <p:pic>
        <p:nvPicPr>
          <p:cNvPr id="20" name="Image 12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00520" y="1114483"/>
            <a:ext cx="209545" cy="247644"/>
          </a:xfrm>
          <a:prstGeom prst="rect">
            <a:avLst/>
          </a:prstGeom>
        </p:spPr>
      </p:pic>
      <p:sp>
        <p:nvSpPr>
          <p:cNvPr id="21" name="Shape 6"/>
          <p:cNvSpPr/>
          <p:nvPr/>
        </p:nvSpPr>
        <p:spPr>
          <a:xfrm>
            <a:off x="5114797" y="1619891"/>
            <a:ext cx="2171646" cy="3076498"/>
          </a:xfrm>
          <a:prstGeom prst="roundRect">
            <a:avLst>
              <a:gd name="adj" fmla="val 3694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22" name="Image 13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352916" y="1905038"/>
            <a:ext cx="419090" cy="419090"/>
          </a:xfrm>
          <a:prstGeom prst="rect">
            <a:avLst/>
          </a:prstGeom>
        </p:spPr>
      </p:pic>
      <p:sp>
        <p:nvSpPr>
          <p:cNvPr id="23" name="Shape 7"/>
          <p:cNvSpPr/>
          <p:nvPr/>
        </p:nvSpPr>
        <p:spPr>
          <a:xfrm>
            <a:off x="5733907" y="2678330"/>
            <a:ext cx="1314417" cy="542911"/>
          </a:xfrm>
          <a:prstGeom prst="rect">
            <a:avLst/>
          </a:prstGeom>
          <a:ln/>
        </p:spPr>
      </p:sp>
      <p:sp>
        <p:nvSpPr>
          <p:cNvPr id="24" name="Shape 8"/>
          <p:cNvSpPr/>
          <p:nvPr/>
        </p:nvSpPr>
        <p:spPr>
          <a:xfrm>
            <a:off x="5733907" y="2771791"/>
            <a:ext cx="228594" cy="228594"/>
          </a:xfrm>
          <a:prstGeom prst="roundRect">
            <a:avLst>
              <a:gd name="adj" fmla="val 100003"/>
            </a:avLst>
          </a:prstGeom>
          <a:solidFill>
            <a:srgbClr val="FFFFFF"/>
          </a:solidFill>
          <a:ln w="9525">
            <a:solidFill>
              <a:srgbClr val="1284BA"/>
            </a:solidFill>
            <a:prstDash val="solid"/>
          </a:ln>
        </p:spPr>
      </p:sp>
      <p:pic>
        <p:nvPicPr>
          <p:cNvPr id="25" name="Image 14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81530" y="2809890"/>
            <a:ext cx="133347" cy="152396"/>
          </a:xfrm>
          <a:prstGeom prst="rect">
            <a:avLst/>
          </a:prstGeom>
        </p:spPr>
      </p:pic>
      <p:sp>
        <p:nvSpPr>
          <p:cNvPr id="26" name="Shape 9"/>
          <p:cNvSpPr/>
          <p:nvPr/>
        </p:nvSpPr>
        <p:spPr>
          <a:xfrm>
            <a:off x="5733907" y="3224813"/>
            <a:ext cx="1314417" cy="542911"/>
          </a:xfrm>
          <a:prstGeom prst="rect">
            <a:avLst/>
          </a:prstGeom>
          <a:ln/>
        </p:spPr>
      </p:sp>
      <p:sp>
        <p:nvSpPr>
          <p:cNvPr id="27" name="Shape 10"/>
          <p:cNvSpPr/>
          <p:nvPr/>
        </p:nvSpPr>
        <p:spPr>
          <a:xfrm>
            <a:off x="5733907" y="3318275"/>
            <a:ext cx="228594" cy="228594"/>
          </a:xfrm>
          <a:prstGeom prst="roundRect">
            <a:avLst>
              <a:gd name="adj" fmla="val 100003"/>
            </a:avLst>
          </a:prstGeom>
          <a:solidFill>
            <a:srgbClr val="FFFFFF"/>
          </a:solidFill>
          <a:ln w="9525">
            <a:solidFill>
              <a:srgbClr val="1284BA"/>
            </a:solidFill>
            <a:prstDash val="solid"/>
          </a:ln>
        </p:spPr>
      </p:sp>
      <p:pic>
        <p:nvPicPr>
          <p:cNvPr id="28" name="Image 15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81530" y="3356374"/>
            <a:ext cx="133347" cy="152396"/>
          </a:xfrm>
          <a:prstGeom prst="rect">
            <a:avLst/>
          </a:prstGeom>
        </p:spPr>
      </p:pic>
      <p:sp>
        <p:nvSpPr>
          <p:cNvPr id="29" name="Shape 11"/>
          <p:cNvSpPr/>
          <p:nvPr/>
        </p:nvSpPr>
        <p:spPr>
          <a:xfrm>
            <a:off x="5733907" y="3864758"/>
            <a:ext cx="228594" cy="228594"/>
          </a:xfrm>
          <a:prstGeom prst="roundRect">
            <a:avLst>
              <a:gd name="adj" fmla="val 100003"/>
            </a:avLst>
          </a:prstGeom>
          <a:solidFill>
            <a:srgbClr val="FFFFFF"/>
          </a:solidFill>
          <a:ln w="9525">
            <a:solidFill>
              <a:srgbClr val="1284BA"/>
            </a:solidFill>
            <a:prstDash val="solid"/>
          </a:ln>
        </p:spPr>
      </p:sp>
      <p:pic>
        <p:nvPicPr>
          <p:cNvPr id="30" name="Image 16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81530" y="3902857"/>
            <a:ext cx="133347" cy="152396"/>
          </a:xfrm>
          <a:prstGeom prst="rect">
            <a:avLst/>
          </a:prstGeom>
        </p:spPr>
      </p:pic>
      <p:sp>
        <p:nvSpPr>
          <p:cNvPr id="31" name="Shape 12"/>
          <p:cNvSpPr/>
          <p:nvPr/>
        </p:nvSpPr>
        <p:spPr>
          <a:xfrm>
            <a:off x="7438839" y="1619891"/>
            <a:ext cx="2171646" cy="3076498"/>
          </a:xfrm>
          <a:prstGeom prst="roundRect">
            <a:avLst>
              <a:gd name="adj" fmla="val 3694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32" name="Image 17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676958" y="1905038"/>
            <a:ext cx="419090" cy="419090"/>
          </a:xfrm>
          <a:prstGeom prst="rect">
            <a:avLst/>
          </a:prstGeom>
        </p:spPr>
      </p:pic>
      <p:sp>
        <p:nvSpPr>
          <p:cNvPr id="33" name="Shape 13"/>
          <p:cNvSpPr/>
          <p:nvPr/>
        </p:nvSpPr>
        <p:spPr>
          <a:xfrm>
            <a:off x="8057948" y="2678330"/>
            <a:ext cx="1314417" cy="542911"/>
          </a:xfrm>
          <a:prstGeom prst="rect">
            <a:avLst/>
          </a:prstGeom>
          <a:ln/>
        </p:spPr>
      </p:sp>
      <p:sp>
        <p:nvSpPr>
          <p:cNvPr id="34" name="Shape 14"/>
          <p:cNvSpPr/>
          <p:nvPr/>
        </p:nvSpPr>
        <p:spPr>
          <a:xfrm>
            <a:off x="8057948" y="2771791"/>
            <a:ext cx="228594" cy="228594"/>
          </a:xfrm>
          <a:prstGeom prst="roundRect">
            <a:avLst>
              <a:gd name="adj" fmla="val 100003"/>
            </a:avLst>
          </a:prstGeom>
          <a:solidFill>
            <a:srgbClr val="FFFFFF"/>
          </a:solidFill>
          <a:ln w="9525">
            <a:solidFill>
              <a:srgbClr val="FF862F"/>
            </a:solidFill>
            <a:prstDash val="solid"/>
          </a:ln>
        </p:spPr>
      </p:sp>
      <p:pic>
        <p:nvPicPr>
          <p:cNvPr id="35" name="Image 18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05572" y="2809890"/>
            <a:ext cx="133347" cy="152396"/>
          </a:xfrm>
          <a:prstGeom prst="rect">
            <a:avLst/>
          </a:prstGeom>
        </p:spPr>
      </p:pic>
      <p:sp>
        <p:nvSpPr>
          <p:cNvPr id="36" name="Shape 15"/>
          <p:cNvSpPr/>
          <p:nvPr/>
        </p:nvSpPr>
        <p:spPr>
          <a:xfrm>
            <a:off x="8057948" y="3224813"/>
            <a:ext cx="1314417" cy="542911"/>
          </a:xfrm>
          <a:prstGeom prst="rect">
            <a:avLst/>
          </a:prstGeom>
          <a:ln/>
        </p:spPr>
      </p:sp>
      <p:sp>
        <p:nvSpPr>
          <p:cNvPr id="37" name="Shape 16"/>
          <p:cNvSpPr/>
          <p:nvPr/>
        </p:nvSpPr>
        <p:spPr>
          <a:xfrm>
            <a:off x="8057948" y="3318275"/>
            <a:ext cx="228594" cy="228594"/>
          </a:xfrm>
          <a:prstGeom prst="roundRect">
            <a:avLst>
              <a:gd name="adj" fmla="val 100003"/>
            </a:avLst>
          </a:prstGeom>
          <a:solidFill>
            <a:srgbClr val="FFFFFF"/>
          </a:solidFill>
          <a:ln w="9525">
            <a:solidFill>
              <a:srgbClr val="FF862F"/>
            </a:solidFill>
            <a:prstDash val="solid"/>
          </a:ln>
        </p:spPr>
      </p:sp>
      <p:pic>
        <p:nvPicPr>
          <p:cNvPr id="38" name="Image 19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05572" y="3356374"/>
            <a:ext cx="133347" cy="152396"/>
          </a:xfrm>
          <a:prstGeom prst="rect">
            <a:avLst/>
          </a:prstGeom>
        </p:spPr>
      </p:pic>
      <p:sp>
        <p:nvSpPr>
          <p:cNvPr id="39" name="Shape 17"/>
          <p:cNvSpPr/>
          <p:nvPr/>
        </p:nvSpPr>
        <p:spPr>
          <a:xfrm>
            <a:off x="8057948" y="3864758"/>
            <a:ext cx="228594" cy="228594"/>
          </a:xfrm>
          <a:prstGeom prst="roundRect">
            <a:avLst>
              <a:gd name="adj" fmla="val 100003"/>
            </a:avLst>
          </a:prstGeom>
          <a:solidFill>
            <a:srgbClr val="FFFFFF"/>
          </a:solidFill>
          <a:ln w="9525">
            <a:solidFill>
              <a:srgbClr val="FF862F"/>
            </a:solidFill>
            <a:prstDash val="solid"/>
          </a:ln>
        </p:spPr>
      </p:sp>
      <p:pic>
        <p:nvPicPr>
          <p:cNvPr id="40" name="Image 20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05572" y="3902857"/>
            <a:ext cx="133347" cy="152396"/>
          </a:xfrm>
          <a:prstGeom prst="rect">
            <a:avLst/>
          </a:prstGeom>
        </p:spPr>
      </p:pic>
      <p:sp>
        <p:nvSpPr>
          <p:cNvPr id="41" name="Shape 18"/>
          <p:cNvSpPr/>
          <p:nvPr/>
        </p:nvSpPr>
        <p:spPr>
          <a:xfrm>
            <a:off x="9762881" y="1619891"/>
            <a:ext cx="2047824" cy="3076498"/>
          </a:xfrm>
          <a:prstGeom prst="roundRect">
            <a:avLst>
              <a:gd name="adj" fmla="val 4154"/>
            </a:avLst>
          </a:prstGeom>
          <a:solidFill>
            <a:srgbClr val="F8FAFB"/>
          </a:solidFill>
          <a:ln w="9525">
            <a:solidFill>
              <a:srgbClr val="E8EDF2"/>
            </a:solidFill>
            <a:prstDash val="solid"/>
          </a:ln>
        </p:spPr>
      </p:sp>
      <p:pic>
        <p:nvPicPr>
          <p:cNvPr id="42" name="Image 21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001000" y="1905038"/>
            <a:ext cx="419090" cy="419090"/>
          </a:xfrm>
          <a:prstGeom prst="rect">
            <a:avLst/>
          </a:prstGeom>
        </p:spPr>
      </p:pic>
      <p:sp>
        <p:nvSpPr>
          <p:cNvPr id="43" name="Shape 19"/>
          <p:cNvSpPr/>
          <p:nvPr/>
        </p:nvSpPr>
        <p:spPr>
          <a:xfrm>
            <a:off x="10381990" y="2678330"/>
            <a:ext cx="1190595" cy="542911"/>
          </a:xfrm>
          <a:prstGeom prst="rect">
            <a:avLst/>
          </a:prstGeom>
          <a:ln/>
        </p:spPr>
      </p:sp>
      <p:sp>
        <p:nvSpPr>
          <p:cNvPr id="44" name="Shape 20"/>
          <p:cNvSpPr/>
          <p:nvPr/>
        </p:nvSpPr>
        <p:spPr>
          <a:xfrm>
            <a:off x="10381990" y="2771791"/>
            <a:ext cx="228594" cy="228594"/>
          </a:xfrm>
          <a:prstGeom prst="roundRect">
            <a:avLst>
              <a:gd name="adj" fmla="val 100003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</p:spPr>
      </p:sp>
      <p:pic>
        <p:nvPicPr>
          <p:cNvPr id="45" name="Image 2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429614" y="2809890"/>
            <a:ext cx="133347" cy="152396"/>
          </a:xfrm>
          <a:prstGeom prst="rect">
            <a:avLst/>
          </a:prstGeom>
        </p:spPr>
      </p:pic>
      <p:sp>
        <p:nvSpPr>
          <p:cNvPr id="46" name="Shape 21"/>
          <p:cNvSpPr/>
          <p:nvPr/>
        </p:nvSpPr>
        <p:spPr>
          <a:xfrm>
            <a:off x="10381990" y="3224813"/>
            <a:ext cx="1190595" cy="542911"/>
          </a:xfrm>
          <a:prstGeom prst="rect">
            <a:avLst/>
          </a:prstGeom>
          <a:ln/>
        </p:spPr>
      </p:sp>
      <p:sp>
        <p:nvSpPr>
          <p:cNvPr id="47" name="Shape 22"/>
          <p:cNvSpPr/>
          <p:nvPr/>
        </p:nvSpPr>
        <p:spPr>
          <a:xfrm>
            <a:off x="10381990" y="3318275"/>
            <a:ext cx="228594" cy="228594"/>
          </a:xfrm>
          <a:prstGeom prst="roundRect">
            <a:avLst>
              <a:gd name="adj" fmla="val 100003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</p:spPr>
      </p:sp>
      <p:pic>
        <p:nvPicPr>
          <p:cNvPr id="48" name="Image 2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429614" y="3356374"/>
            <a:ext cx="133347" cy="152396"/>
          </a:xfrm>
          <a:prstGeom prst="rect">
            <a:avLst/>
          </a:prstGeom>
        </p:spPr>
      </p:pic>
      <p:sp>
        <p:nvSpPr>
          <p:cNvPr id="49" name="Shape 23"/>
          <p:cNvSpPr/>
          <p:nvPr/>
        </p:nvSpPr>
        <p:spPr>
          <a:xfrm>
            <a:off x="10381990" y="3864758"/>
            <a:ext cx="228594" cy="228594"/>
          </a:xfrm>
          <a:prstGeom prst="roundRect">
            <a:avLst>
              <a:gd name="adj" fmla="val 100003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</p:spPr>
      </p:sp>
      <p:pic>
        <p:nvPicPr>
          <p:cNvPr id="50" name="Image 2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429614" y="3902857"/>
            <a:ext cx="133347" cy="152396"/>
          </a:xfrm>
          <a:prstGeom prst="rect">
            <a:avLst/>
          </a:prstGeom>
        </p:spPr>
      </p:pic>
      <p:pic>
        <p:nvPicPr>
          <p:cNvPr id="51" name="Image 25" descr="preencoded.png">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114797" y="4848338"/>
            <a:ext cx="6695907" cy="1514437"/>
          </a:xfrm>
          <a:prstGeom prst="rect">
            <a:avLst/>
          </a:prstGeom>
        </p:spPr>
      </p:pic>
      <p:pic>
        <p:nvPicPr>
          <p:cNvPr id="52" name="Image 26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305292" y="5211321"/>
            <a:ext cx="228594" cy="266693"/>
          </a:xfrm>
          <a:prstGeom prst="rect">
            <a:avLst/>
          </a:prstGeom>
        </p:spPr>
      </p:pic>
      <p:sp>
        <p:nvSpPr>
          <p:cNvPr id="53" name="Text 24"/>
          <p:cNvSpPr/>
          <p:nvPr/>
        </p:nvSpPr>
        <p:spPr>
          <a:xfrm>
            <a:off x="5629134" y="5249420"/>
            <a:ext cx="87780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135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1300" dirty="0"/>
          </a:p>
        </p:txBody>
      </p:sp>
      <p:sp>
        <p:nvSpPr>
          <p:cNvPr id="54" name="Shape 25"/>
          <p:cNvSpPr/>
          <p:nvPr/>
        </p:nvSpPr>
        <p:spPr>
          <a:xfrm>
            <a:off x="10153322" y="5229329"/>
            <a:ext cx="1466813" cy="752456"/>
          </a:xfrm>
          <a:prstGeom prst="roundRect">
            <a:avLst>
              <a:gd name="adj" fmla="val 1845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5" name="Shape 26"/>
          <p:cNvSpPr/>
          <p:nvPr/>
        </p:nvSpPr>
        <p:spPr>
          <a:xfrm>
            <a:off x="0" y="6095933"/>
            <a:ext cx="12191695" cy="38099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56" name="Shape 27"/>
          <p:cNvSpPr/>
          <p:nvPr/>
        </p:nvSpPr>
        <p:spPr>
          <a:xfrm>
            <a:off x="571486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57" name="Shape 28"/>
          <p:cNvSpPr/>
          <p:nvPr/>
        </p:nvSpPr>
        <p:spPr>
          <a:xfrm>
            <a:off x="723882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58" name="Shape 29"/>
          <p:cNvSpPr/>
          <p:nvPr/>
        </p:nvSpPr>
        <p:spPr>
          <a:xfrm>
            <a:off x="876278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59" name="Shape 30"/>
          <p:cNvSpPr/>
          <p:nvPr/>
        </p:nvSpPr>
        <p:spPr>
          <a:xfrm>
            <a:off x="1028674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60" name="Shape 31"/>
          <p:cNvSpPr/>
          <p:nvPr/>
        </p:nvSpPr>
        <p:spPr>
          <a:xfrm>
            <a:off x="1181070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61" name="Shape 32"/>
          <p:cNvSpPr/>
          <p:nvPr/>
        </p:nvSpPr>
        <p:spPr>
          <a:xfrm>
            <a:off x="1333467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62" name="Shape 33"/>
          <p:cNvSpPr/>
          <p:nvPr/>
        </p:nvSpPr>
        <p:spPr>
          <a:xfrm>
            <a:off x="1485863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63" name="Shape 34"/>
          <p:cNvSpPr/>
          <p:nvPr/>
        </p:nvSpPr>
        <p:spPr>
          <a:xfrm>
            <a:off x="1638259" y="6253092"/>
            <a:ext cx="76198" cy="76198"/>
          </a:xfrm>
          <a:prstGeom prst="ellipse">
            <a:avLst/>
          </a:prstGeom>
          <a:solidFill>
            <a:srgbClr val="1284BA"/>
          </a:solidFill>
          <a:ln/>
        </p:spPr>
      </p:sp>
      <p:sp>
        <p:nvSpPr>
          <p:cNvPr id="64" name="Shape 35"/>
          <p:cNvSpPr/>
          <p:nvPr/>
        </p:nvSpPr>
        <p:spPr>
          <a:xfrm>
            <a:off x="1790655" y="6253092"/>
            <a:ext cx="228594" cy="76198"/>
          </a:xfrm>
          <a:prstGeom prst="roundRect">
            <a:avLst>
              <a:gd name="adj" fmla="val 600016"/>
            </a:avLst>
          </a:prstGeom>
          <a:solidFill>
            <a:srgbClr val="FF862F"/>
          </a:solidFill>
          <a:ln/>
        </p:spPr>
      </p:sp>
      <p:sp>
        <p:nvSpPr>
          <p:cNvPr id="65" name="Text 36"/>
          <p:cNvSpPr/>
          <p:nvPr/>
        </p:nvSpPr>
        <p:spPr>
          <a:xfrm>
            <a:off x="566342" y="190581"/>
            <a:ext cx="39127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66" name="Text 37"/>
          <p:cNvSpPr/>
          <p:nvPr/>
        </p:nvSpPr>
        <p:spPr>
          <a:xfrm>
            <a:off x="1104872" y="223918"/>
            <a:ext cx="2889432" cy="314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1407"/>
              </a:spcBef>
              <a:spcAft>
                <a:spcPts val="1407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风险管理与实施路线图</a:t>
            </a:r>
            <a:endParaRPr lang="en-US" sz="2000" dirty="0"/>
          </a:p>
        </p:txBody>
      </p:sp>
      <p:sp>
        <p:nvSpPr>
          <p:cNvPr id="67" name="Text 38"/>
          <p:cNvSpPr/>
          <p:nvPr/>
        </p:nvSpPr>
        <p:spPr>
          <a:xfrm>
            <a:off x="9389852" y="304878"/>
            <a:ext cx="223831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 ROADMAP</a:t>
            </a:r>
            <a:endParaRPr lang="en-US" sz="1000" dirty="0"/>
          </a:p>
        </p:txBody>
      </p:sp>
      <p:sp>
        <p:nvSpPr>
          <p:cNvPr id="68" name="Text 39"/>
          <p:cNvSpPr/>
          <p:nvPr/>
        </p:nvSpPr>
        <p:spPr>
          <a:xfrm>
            <a:off x="876278" y="1133532"/>
            <a:ext cx="1563585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风险识别与应对策略</a:t>
            </a:r>
            <a:endParaRPr lang="en-US" sz="1300" dirty="0"/>
          </a:p>
        </p:txBody>
      </p:sp>
      <p:sp>
        <p:nvSpPr>
          <p:cNvPr id="69" name="Text 40"/>
          <p:cNvSpPr/>
          <p:nvPr/>
        </p:nvSpPr>
        <p:spPr>
          <a:xfrm>
            <a:off x="559580" y="1800266"/>
            <a:ext cx="1856567" cy="20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highlight>
                  <a:srgbClr val="EF444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高风险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市场风险</a:t>
            </a:r>
            <a:endParaRPr lang="en-US" sz="800" dirty="0"/>
          </a:p>
        </p:txBody>
      </p:sp>
      <p:sp>
        <p:nvSpPr>
          <p:cNvPr id="70" name="Text 41"/>
          <p:cNvSpPr/>
          <p:nvPr/>
        </p:nvSpPr>
        <p:spPr>
          <a:xfrm>
            <a:off x="559580" y="2114583"/>
            <a:ext cx="185199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75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竞争加剧、需求变化、客户流失</a:t>
            </a:r>
            <a:endParaRPr lang="en-US" sz="800" dirty="0"/>
          </a:p>
        </p:txBody>
      </p:sp>
      <p:sp>
        <p:nvSpPr>
          <p:cNvPr id="71" name="Text 42"/>
          <p:cNvSpPr/>
          <p:nvPr/>
        </p:nvSpPr>
        <p:spPr>
          <a:xfrm>
            <a:off x="885803" y="2495573"/>
            <a:ext cx="1385281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差异化竞争、提升客户粘性</a:t>
            </a:r>
            <a:endParaRPr lang="en-US" sz="800" dirty="0"/>
          </a:p>
        </p:txBody>
      </p:sp>
      <p:sp>
        <p:nvSpPr>
          <p:cNvPr id="72" name="Text 43"/>
          <p:cNvSpPr/>
          <p:nvPr/>
        </p:nvSpPr>
        <p:spPr>
          <a:xfrm>
            <a:off x="2869334" y="1800266"/>
            <a:ext cx="1856567" cy="20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highlight>
                  <a:srgbClr val="F59E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中风险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运营风险</a:t>
            </a:r>
            <a:endParaRPr lang="en-US" sz="800" dirty="0"/>
          </a:p>
        </p:txBody>
      </p:sp>
      <p:sp>
        <p:nvSpPr>
          <p:cNvPr id="73" name="Text 44"/>
          <p:cNvSpPr/>
          <p:nvPr/>
        </p:nvSpPr>
        <p:spPr>
          <a:xfrm>
            <a:off x="2869334" y="2114583"/>
            <a:ext cx="185199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75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执行偏差、资源不足、效率低下</a:t>
            </a:r>
            <a:endParaRPr lang="en-US" sz="800" dirty="0"/>
          </a:p>
        </p:txBody>
      </p:sp>
      <p:sp>
        <p:nvSpPr>
          <p:cNvPr id="74" name="Text 45"/>
          <p:cNvSpPr/>
          <p:nvPr/>
        </p:nvSpPr>
        <p:spPr>
          <a:xfrm>
            <a:off x="3193176" y="2476524"/>
            <a:ext cx="1432905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强化项目管理、优化资源配置</a:t>
            </a:r>
            <a:endParaRPr lang="en-US" sz="800" dirty="0"/>
          </a:p>
        </p:txBody>
      </p:sp>
      <p:sp>
        <p:nvSpPr>
          <p:cNvPr id="75" name="Text 46"/>
          <p:cNvSpPr/>
          <p:nvPr/>
        </p:nvSpPr>
        <p:spPr>
          <a:xfrm>
            <a:off x="559580" y="3314703"/>
            <a:ext cx="1856567" cy="20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highlight>
                  <a:srgbClr val="F59E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中风险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财务风险</a:t>
            </a:r>
            <a:endParaRPr lang="en-US" sz="800" dirty="0"/>
          </a:p>
        </p:txBody>
      </p:sp>
      <p:sp>
        <p:nvSpPr>
          <p:cNvPr id="76" name="Text 47"/>
          <p:cNvSpPr/>
          <p:nvPr/>
        </p:nvSpPr>
        <p:spPr>
          <a:xfrm>
            <a:off x="559580" y="3629020"/>
            <a:ext cx="185199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75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成本上升、资金压力、投资回报</a:t>
            </a:r>
            <a:endParaRPr lang="en-US" sz="800" dirty="0"/>
          </a:p>
        </p:txBody>
      </p:sp>
      <p:sp>
        <p:nvSpPr>
          <p:cNvPr id="77" name="Text 48"/>
          <p:cNvSpPr/>
          <p:nvPr/>
        </p:nvSpPr>
        <p:spPr>
          <a:xfrm>
            <a:off x="885803" y="4010010"/>
            <a:ext cx="127098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降本增效、拓宽融资渠道</a:t>
            </a:r>
            <a:endParaRPr lang="en-US" sz="800" dirty="0"/>
          </a:p>
        </p:txBody>
      </p:sp>
      <p:sp>
        <p:nvSpPr>
          <p:cNvPr id="78" name="Text 49"/>
          <p:cNvSpPr/>
          <p:nvPr/>
        </p:nvSpPr>
        <p:spPr>
          <a:xfrm>
            <a:off x="2869334" y="3314703"/>
            <a:ext cx="1856567" cy="20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highlight>
                  <a:srgbClr val="10B981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低风险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政策风险</a:t>
            </a:r>
            <a:endParaRPr lang="en-US" sz="800" dirty="0"/>
          </a:p>
        </p:txBody>
      </p:sp>
      <p:sp>
        <p:nvSpPr>
          <p:cNvPr id="79" name="Text 50"/>
          <p:cNvSpPr/>
          <p:nvPr/>
        </p:nvSpPr>
        <p:spPr>
          <a:xfrm>
            <a:off x="2869334" y="3629020"/>
            <a:ext cx="185199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75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监管变化、合规要求、政策调整</a:t>
            </a:r>
            <a:endParaRPr lang="en-US" sz="800" dirty="0"/>
          </a:p>
        </p:txBody>
      </p:sp>
      <p:sp>
        <p:nvSpPr>
          <p:cNvPr id="80" name="Text 51"/>
          <p:cNvSpPr/>
          <p:nvPr/>
        </p:nvSpPr>
        <p:spPr>
          <a:xfrm>
            <a:off x="3193176" y="3990961"/>
            <a:ext cx="1432905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合规体系建设、密切关注政策</a:t>
            </a:r>
            <a:endParaRPr lang="en-US" sz="800" dirty="0"/>
          </a:p>
        </p:txBody>
      </p:sp>
      <p:sp>
        <p:nvSpPr>
          <p:cNvPr id="81" name="Text 52"/>
          <p:cNvSpPr/>
          <p:nvPr/>
        </p:nvSpPr>
        <p:spPr>
          <a:xfrm>
            <a:off x="5610085" y="1133532"/>
            <a:ext cx="1220693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三年实施路线图</a:t>
            </a:r>
            <a:endParaRPr lang="en-US" sz="1300" dirty="0"/>
          </a:p>
        </p:txBody>
      </p:sp>
      <p:sp>
        <p:nvSpPr>
          <p:cNvPr id="82" name="Text 53"/>
          <p:cNvSpPr/>
          <p:nvPr/>
        </p:nvSpPr>
        <p:spPr>
          <a:xfrm>
            <a:off x="5347773" y="1905038"/>
            <a:ext cx="429376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</a:t>
            </a:r>
            <a:endParaRPr lang="en-US" sz="1300" dirty="0"/>
          </a:p>
        </p:txBody>
      </p:sp>
      <p:sp>
        <p:nvSpPr>
          <p:cNvPr id="83" name="Text 54"/>
          <p:cNvSpPr/>
          <p:nvPr/>
        </p:nvSpPr>
        <p:spPr>
          <a:xfrm>
            <a:off x="5886303" y="1857414"/>
            <a:ext cx="118030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第一年</a:t>
            </a:r>
            <a:endParaRPr lang="en-US" sz="1100" dirty="0"/>
          </a:p>
        </p:txBody>
      </p:sp>
      <p:sp>
        <p:nvSpPr>
          <p:cNvPr id="84" name="Text 55"/>
          <p:cNvSpPr/>
          <p:nvPr/>
        </p:nvSpPr>
        <p:spPr>
          <a:xfrm>
            <a:off x="5886303" y="2086009"/>
            <a:ext cx="117573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夯实基础 · 明确方向</a:t>
            </a:r>
            <a:endParaRPr lang="en-US" sz="800" dirty="0"/>
          </a:p>
        </p:txBody>
      </p:sp>
      <p:pic>
        <p:nvPicPr>
          <p:cNvPr id="85" name="Image 27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733907" y="2678330"/>
            <a:ext cx="1314417" cy="542911"/>
          </a:xfrm>
          <a:prstGeom prst="rect">
            <a:avLst/>
          </a:prstGeom>
        </p:spPr>
      </p:pic>
      <p:sp>
        <p:nvSpPr>
          <p:cNvPr id="86" name="Text 56"/>
          <p:cNvSpPr/>
          <p:nvPr/>
        </p:nvSpPr>
        <p:spPr>
          <a:xfrm>
            <a:off x="6057748" y="2773577"/>
            <a:ext cx="1005434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完成战略规划宣贯</a:t>
            </a:r>
            <a:br/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统一全员思想</a:t>
            </a:r>
            <a:endParaRPr lang="en-US" sz="900" dirty="0"/>
          </a:p>
        </p:txBody>
      </p:sp>
      <p:pic>
        <p:nvPicPr>
          <p:cNvPr id="87" name="Image 28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5733907" y="3224813"/>
            <a:ext cx="1314417" cy="542911"/>
          </a:xfrm>
          <a:prstGeom prst="rect">
            <a:avLst/>
          </a:prstGeom>
        </p:spPr>
      </p:pic>
      <p:sp>
        <p:nvSpPr>
          <p:cNvPr id="88" name="Text 57"/>
          <p:cNvSpPr/>
          <p:nvPr/>
        </p:nvSpPr>
        <p:spPr>
          <a:xfrm>
            <a:off x="6057748" y="3320061"/>
            <a:ext cx="1005434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组织架构优化调整</a:t>
            </a:r>
            <a:br/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明确职责分工</a:t>
            </a:r>
            <a:endParaRPr lang="en-US" sz="900" dirty="0"/>
          </a:p>
        </p:txBody>
      </p:sp>
      <p:sp>
        <p:nvSpPr>
          <p:cNvPr id="89" name="Text 58"/>
          <p:cNvSpPr/>
          <p:nvPr/>
        </p:nvSpPr>
        <p:spPr>
          <a:xfrm>
            <a:off x="6057748" y="3866544"/>
            <a:ext cx="757790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核心业务巩固</a:t>
            </a:r>
            <a:br/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存量客户深耕</a:t>
            </a:r>
            <a:endParaRPr lang="en-US" sz="900" dirty="0"/>
          </a:p>
        </p:txBody>
      </p:sp>
      <p:sp>
        <p:nvSpPr>
          <p:cNvPr id="90" name="Text 59"/>
          <p:cNvSpPr/>
          <p:nvPr/>
        </p:nvSpPr>
        <p:spPr>
          <a:xfrm>
            <a:off x="7671815" y="1905038"/>
            <a:ext cx="429376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</a:t>
            </a:r>
            <a:endParaRPr lang="en-US" sz="1300" dirty="0"/>
          </a:p>
        </p:txBody>
      </p:sp>
      <p:sp>
        <p:nvSpPr>
          <p:cNvPr id="91" name="Text 60"/>
          <p:cNvSpPr/>
          <p:nvPr/>
        </p:nvSpPr>
        <p:spPr>
          <a:xfrm>
            <a:off x="8210345" y="1857414"/>
            <a:ext cx="118030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第二年</a:t>
            </a:r>
            <a:endParaRPr lang="en-US" sz="1100" dirty="0"/>
          </a:p>
        </p:txBody>
      </p:sp>
      <p:sp>
        <p:nvSpPr>
          <p:cNvPr id="92" name="Text 61"/>
          <p:cNvSpPr/>
          <p:nvPr/>
        </p:nvSpPr>
        <p:spPr>
          <a:xfrm>
            <a:off x="8210345" y="2086009"/>
            <a:ext cx="117573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重点突破 · 快速发展</a:t>
            </a:r>
            <a:endParaRPr lang="en-US" sz="800" dirty="0"/>
          </a:p>
        </p:txBody>
      </p:sp>
      <p:pic>
        <p:nvPicPr>
          <p:cNvPr id="93" name="Image 29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057948" y="2678330"/>
            <a:ext cx="1314417" cy="542911"/>
          </a:xfrm>
          <a:prstGeom prst="rect">
            <a:avLst/>
          </a:prstGeom>
        </p:spPr>
      </p:pic>
      <p:sp>
        <p:nvSpPr>
          <p:cNvPr id="94" name="Text 62"/>
          <p:cNvSpPr/>
          <p:nvPr/>
        </p:nvSpPr>
        <p:spPr>
          <a:xfrm>
            <a:off x="8381790" y="2773577"/>
            <a:ext cx="1005434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成长业务加速拓展</a:t>
            </a:r>
            <a:br/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新市场渗透</a:t>
            </a:r>
            <a:endParaRPr lang="en-US" sz="900" dirty="0"/>
          </a:p>
        </p:txBody>
      </p:sp>
      <p:pic>
        <p:nvPicPr>
          <p:cNvPr id="95" name="Image 30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057948" y="3224813"/>
            <a:ext cx="1314417" cy="542911"/>
          </a:xfrm>
          <a:prstGeom prst="rect">
            <a:avLst/>
          </a:prstGeom>
        </p:spPr>
      </p:pic>
      <p:sp>
        <p:nvSpPr>
          <p:cNvPr id="96" name="Text 63"/>
          <p:cNvSpPr/>
          <p:nvPr/>
        </p:nvSpPr>
        <p:spPr>
          <a:xfrm>
            <a:off x="8381790" y="3320061"/>
            <a:ext cx="881612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数字化转型深化</a:t>
            </a:r>
            <a:br/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系统平台升级</a:t>
            </a:r>
            <a:endParaRPr lang="en-US" sz="900" dirty="0"/>
          </a:p>
        </p:txBody>
      </p:sp>
      <p:sp>
        <p:nvSpPr>
          <p:cNvPr id="97" name="Text 64"/>
          <p:cNvSpPr/>
          <p:nvPr/>
        </p:nvSpPr>
        <p:spPr>
          <a:xfrm>
            <a:off x="8381790" y="3866544"/>
            <a:ext cx="757790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人才梯队建设</a:t>
            </a:r>
            <a:br/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关键岗位储备</a:t>
            </a:r>
            <a:endParaRPr lang="en-US" sz="900" dirty="0"/>
          </a:p>
        </p:txBody>
      </p:sp>
      <p:sp>
        <p:nvSpPr>
          <p:cNvPr id="98" name="Text 65"/>
          <p:cNvSpPr/>
          <p:nvPr/>
        </p:nvSpPr>
        <p:spPr>
          <a:xfrm>
            <a:off x="9995856" y="1905038"/>
            <a:ext cx="429376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</a:t>
            </a:r>
            <a:endParaRPr lang="en-US" sz="1300" dirty="0"/>
          </a:p>
        </p:txBody>
      </p:sp>
      <p:sp>
        <p:nvSpPr>
          <p:cNvPr id="99" name="Text 66"/>
          <p:cNvSpPr/>
          <p:nvPr/>
        </p:nvSpPr>
        <p:spPr>
          <a:xfrm>
            <a:off x="10534386" y="1857414"/>
            <a:ext cx="105648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第三年</a:t>
            </a:r>
            <a:endParaRPr lang="en-US" sz="1100" dirty="0"/>
          </a:p>
        </p:txBody>
      </p:sp>
      <p:sp>
        <p:nvSpPr>
          <p:cNvPr id="100" name="Text 67"/>
          <p:cNvSpPr/>
          <p:nvPr/>
        </p:nvSpPr>
        <p:spPr>
          <a:xfrm>
            <a:off x="10534386" y="2086009"/>
            <a:ext cx="105191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规模扩张 · 巩固优势</a:t>
            </a:r>
            <a:endParaRPr lang="en-US" sz="800" dirty="0"/>
          </a:p>
        </p:txBody>
      </p:sp>
      <p:pic>
        <p:nvPicPr>
          <p:cNvPr id="101" name="Image 31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381990" y="2678330"/>
            <a:ext cx="1190595" cy="542911"/>
          </a:xfrm>
          <a:prstGeom prst="rect">
            <a:avLst/>
          </a:prstGeom>
        </p:spPr>
      </p:pic>
      <p:sp>
        <p:nvSpPr>
          <p:cNvPr id="102" name="Text 68"/>
          <p:cNvSpPr/>
          <p:nvPr/>
        </p:nvSpPr>
        <p:spPr>
          <a:xfrm>
            <a:off x="10705832" y="2773577"/>
            <a:ext cx="757790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创新孵化业务</a:t>
            </a:r>
            <a:br/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探索新增长点</a:t>
            </a:r>
            <a:endParaRPr lang="en-US" sz="900" dirty="0"/>
          </a:p>
        </p:txBody>
      </p:sp>
      <p:pic>
        <p:nvPicPr>
          <p:cNvPr id="103" name="Image 32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0381990" y="3224813"/>
            <a:ext cx="1190595" cy="542911"/>
          </a:xfrm>
          <a:prstGeom prst="rect">
            <a:avLst/>
          </a:prstGeom>
        </p:spPr>
      </p:pic>
      <p:sp>
        <p:nvSpPr>
          <p:cNvPr id="104" name="Text 69"/>
          <p:cNvSpPr/>
          <p:nvPr/>
        </p:nvSpPr>
        <p:spPr>
          <a:xfrm>
            <a:off x="10705832" y="3320061"/>
            <a:ext cx="881612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市场份额提升</a:t>
            </a:r>
            <a:br/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品牌影响力扩大</a:t>
            </a:r>
            <a:endParaRPr lang="en-US" sz="900" dirty="0"/>
          </a:p>
        </p:txBody>
      </p:sp>
      <p:sp>
        <p:nvSpPr>
          <p:cNvPr id="105" name="Text 70"/>
          <p:cNvSpPr/>
          <p:nvPr/>
        </p:nvSpPr>
        <p:spPr>
          <a:xfrm>
            <a:off x="10705832" y="3866544"/>
            <a:ext cx="757790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战略目标达成</a:t>
            </a:r>
            <a:br/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复盘总结提升</a:t>
            </a:r>
            <a:endParaRPr lang="en-US" sz="900" dirty="0"/>
          </a:p>
        </p:txBody>
      </p:sp>
      <p:sp>
        <p:nvSpPr>
          <p:cNvPr id="106" name="Text 71"/>
          <p:cNvSpPr/>
          <p:nvPr/>
        </p:nvSpPr>
        <p:spPr>
          <a:xfrm>
            <a:off x="5305218" y="5610319"/>
            <a:ext cx="4864105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战略规划是指引企业发展的蓝图，执行力是战略落地的关键。</a:t>
            </a:r>
            <a:br/>
            <a:pPr algn="l" indent="0" marL="0">
              <a:lnSpc>
                <a:spcPts val="168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让我们携手共进，共创美好未来！</a:t>
            </a:r>
            <a:endParaRPr lang="en-US" sz="1000" dirty="0"/>
          </a:p>
        </p:txBody>
      </p:sp>
      <p:sp>
        <p:nvSpPr>
          <p:cNvPr id="107" name="Text 72"/>
          <p:cNvSpPr/>
          <p:nvPr/>
        </p:nvSpPr>
        <p:spPr>
          <a:xfrm>
            <a:off x="10368200" y="5381725"/>
            <a:ext cx="1037056" cy="276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战略赋能</a:t>
            </a:r>
            <a:endParaRPr lang="en-US" sz="1700" dirty="0"/>
          </a:p>
        </p:txBody>
      </p:sp>
      <p:sp>
        <p:nvSpPr>
          <p:cNvPr id="108" name="Text 73"/>
          <p:cNvSpPr/>
          <p:nvPr/>
        </p:nvSpPr>
        <p:spPr>
          <a:xfrm>
            <a:off x="10375058" y="5696042"/>
            <a:ext cx="102334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驱动增长 · 引领未来</a:t>
            </a:r>
            <a:endParaRPr lang="en-US" sz="800" dirty="0"/>
          </a:p>
        </p:txBody>
      </p:sp>
      <p:pic>
        <p:nvPicPr>
          <p:cNvPr id="109" name="Image 33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0" y="6095933"/>
            <a:ext cx="12191695" cy="380990"/>
          </a:xfrm>
          <a:prstGeom prst="rect">
            <a:avLst/>
          </a:prstGeom>
        </p:spPr>
      </p:pic>
      <p:sp>
        <p:nvSpPr>
          <p:cNvPr id="110" name="Text 74"/>
          <p:cNvSpPr/>
          <p:nvPr/>
        </p:nvSpPr>
        <p:spPr>
          <a:xfrm>
            <a:off x="11211463" y="6214993"/>
            <a:ext cx="41909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2026-02-09T09:04:39Z</dcterms:created>
  <dcterms:modified xsi:type="dcterms:W3CDTF">2026-02-09T09:04:39Z</dcterms:modified>
</cp:coreProperties>
</file>